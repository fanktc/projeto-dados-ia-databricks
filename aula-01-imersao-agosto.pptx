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05" r:id="rId56"/>
    <p:sldId id="306" r:id="rId57"/>
    <p:sldId id="307" r:id="rId58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IMERSÃO · 24 A 27 DE AGOSTO · 19H30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Construa uma área de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Vendas do zero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3401568"/>
            <a:ext cx="2331720" cy="4572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+ 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3401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 · Objetivo e a primeira análise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sai daqui com 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rodando.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é a aula mais estratégica das quatro. Mas eu não vou te deixar sair sem código: nos últimos 40 minutos a gente monta o ambiente e faz a primeira análise juntos.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negócio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2648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uma área comercial realmente vende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4056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34056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os sistemas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34056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CRM e os outros que sempre aparecem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o ambiente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55464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Free Edition, sem cartão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75704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76872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em 4 ambientes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76872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Web, SQL, Genie e Claude Code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noites, 4 camadas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Análise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negócio, os sistemas e a primeira análise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 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Medallion, Delta, pipeline e testes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 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+ Agentes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 e o agente de 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 no ar e defender internamente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noite entrega alguma coisa que roda. E cada noite abre o problema que a seguinte resolve.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ser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dados na Rota do Perfume. Primeiro dia.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SEMANA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diretoria já quer tudo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COMERCIAL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92024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foi nossa receita esse mês?"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633472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334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VENDAS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63347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"Quais são os melhores clientes?"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346704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467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DE PREÇOS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334670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"Onde a gente está perdendo margem?"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59936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142337"/>
          </a:solidFill>
          <a:ln w="19050">
            <a:solidFill>
              <a:srgbClr val="3B9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599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405993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"Preciso disso para ontem."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combinados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tenta fazer junto agora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 primeiro. O vídeo fica gravado e o repositório é seu.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1192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no fim das aulas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41192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único liberado na última noite.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8568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9736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9736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Sorteio de 1:1 comigo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9736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carreira, eu e você planejando.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uma área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vende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abrir qualquer ferramenta.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DA VENDA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da Rota do Perfume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84248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21992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3320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41064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064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22392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0136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41464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79208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perfumaria a recompra é tudo: o cliente volta pelo lançamento e some quando falta o produto da moda.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NESSA HISTÓRIA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atores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uma carteira de clientes. Visita, tira pedido, sofre com meta.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34056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Perfumaria, farmácia, revendedora. Compra por marca e por giro.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comercial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55464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número, distribui carteira, decide onde apertar.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76872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que precisa transformar tudo isso em decisão.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IMPORTA DE VERDADE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área comercial quer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três perguntas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comprar?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sumindo?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vamos vender?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seu dashboard não responde nenhuma dessas, ele não vai ser aberto.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trava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0370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031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Ruptura no perfume da moda: a venda não migra para outro, ela some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2432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5237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que comprava todo mês e sumiu — e ninguém percebeu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4495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9443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que não chegou na carteira certa, no mês certo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649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 desligado e a carteira dele ficou órfã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856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no kit presente, que já é a categoria de menor margem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desses é um problema de dado. E cada um vira uma coluna no nosso projeto.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INSIGHT DO SETOR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distribuidora vende antes da data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11480" y="17190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varejo precisa estar abastecido quando o consumidor chega. Então o pico da Rota do Perfume é sempre o mês anterior à data. As barras abaixo são a receita real dos 12 meses fechados da 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" y="3338683"/>
            <a:ext cx="603504" cy="474365"/>
          </a:xfrm>
          <a:prstGeom prst="roundRect">
            <a:avLst>
              <a:gd name="adj" fmla="val 5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4805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43000" y="3318928"/>
            <a:ext cx="603504" cy="494120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37944" y="3030047"/>
            <a:ext cx="603504" cy="783001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37944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32888" y="2551957"/>
            <a:ext cx="603504" cy="1261091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32888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27832" y="2985499"/>
            <a:ext cx="603504" cy="827549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27832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22776" y="2742550"/>
            <a:ext cx="603504" cy="1070498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2277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3125242"/>
            <a:ext cx="603504" cy="687806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1772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12664" y="3095916"/>
            <a:ext cx="603504" cy="717132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12664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07608" y="2992531"/>
            <a:ext cx="603504" cy="820517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07608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2552" y="2395729"/>
            <a:ext cx="603504" cy="1417319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2552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97496" y="2765210"/>
            <a:ext cx="603504" cy="1047838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9749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92440" y="3272761"/>
            <a:ext cx="603504" cy="540287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9244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DEZ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6304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6304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 · Dia das Mães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0332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0332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· Namorados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· Black Friday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na base: outubro fez R$ 7,0 mi e janeiro R$ 2,5 mi. Quem não entende o negócio lê esse gráfico ao contrário.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gente escopa um</a:t>
            </a:r>
            <a:endParaRPr lang="en-US" sz="29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na consultoria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são os atores e onde o processo trava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1192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o alvo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41192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todos os travamentos, qual atacar primeiro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8568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9736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9736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entregável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9736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existir e como saber que funcionou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é a lógica do Design Sprint, adaptada. Na consultoria é um processo de dias, com o cliente na sala. Hoje eu comprimi para caber numa noite.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de uma operação comercial.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— o que foi vendido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da transação. Ele sabe tudo o que já aconteceu no caixa.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cliente, vendedor, canal, status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do pedido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34056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SKU, quantidade, preço praticado, desconto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55464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Marca, nota olfativa, preço, custo, lançamento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75704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76872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SKU e flag de ruptura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ERP é ótimo no passado e cego no futuro. Ele nunca vai te dizer quem vai comprar amanhã.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— para quem a gente vende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do relacionamento. Ele sabe o contexto que o ERP não vê.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CNPJ, segmento, cidade — 12 capitais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34056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vendedor atende qual cliente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55464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resultado: pedido, sem pedido, não atendeu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75704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76872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foi conversado e prometido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sem pedido é o dado mais subestimado de uma operação comercial.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eles quase nunca conversam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o que foi vendido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6360" y="2103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para quem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487168"/>
            <a:ext cx="914400" cy="603504"/>
          </a:xfrm>
          <a:prstGeom prst="roundRect">
            <a:avLst>
              <a:gd name="adj" fmla="val 5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48716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isso que a empresa não sabe responder as três perguntas. O dado existe — só não está no mesmo lugar. Juntar os dois é o trabalho da quarta-feira.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TEM MAIS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que ninguém coloca no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Carrinho, catálogo, comportamento de navegação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do gerente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34056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 todo mundo usa e ninguém assume que existe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do vendedor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55464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de verdade acontece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legado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76872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Aquele que só uma pessoa sabe mexer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tabelas da Rota do Perfume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2491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259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2259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259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meses · 3.040 clientes · R$ 102 mi de receita · 198 mil itens vendidos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que 449 de vocês escolheram.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449 VOTOS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 ESCOLHERAM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— 48% dos votos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212140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12140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2057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262432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262432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312724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3127248"/>
            <a:ext cx="181356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3063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363016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3630168"/>
            <a:ext cx="106680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5661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moda. Na RedRex, minha consultoria, a gente montou um time dedicado a Databricks por causa da demanda que chega. Em algum momento da carreira você vai esbarrar com ele.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Lakehouse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154680" y="1874520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Organizado e rápido. Mas caro, e não aguenta dado bruto.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2660904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609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154680" y="2660904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tudo. Mas vira pântano sem governança.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3447288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472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154680" y="344728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dois: dado bruto no barato, com transação e governança em cima.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é o formato que faz isso funcionar: versionamento, transação e time travel em cima de arquivo.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CARTÃO, SEM PEGADINHA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roda no Free Edition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proposital: eu quero que você consiga repetir do seu lado, sem depender de empresa nenhuma.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SQL, notebooks, catálogo, dashboards, jobs e agentes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serverless, sem cluster para configurar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cuidado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cota de uso. Ligue o compute só na hora da aula.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estourar a cota, o ambiente desliga pelo resto do dia. Seus dados ficam — só o compute para.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seu dado mora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subir qualquer arquivo, entenda a hierarquia. É ela que você vai criar daqui a pouco.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8321040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2860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METASTORE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topo de tudo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22860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governança é definida, um por região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2852928"/>
            <a:ext cx="7936992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529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78608" y="28529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agrupamento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07408" y="2852928"/>
            <a:ext cx="4096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ambientes: dev, prod, ou por área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79576" y="3419856"/>
            <a:ext cx="7552944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41985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62656" y="3419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91456" y="3419856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tabelas de um mesmo assunto: erp, crm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63624" y="3986784"/>
            <a:ext cx="7168896" cy="530352"/>
          </a:xfrm>
          <a:prstGeom prst="roundRect">
            <a:avLst>
              <a:gd name="adj" fmla="val 8621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3936" y="3986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46704" y="39867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75504" y="3986784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 em si, em formato Delta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rota_perfume.erp.pedidos   →   catálogo . schema . tabela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CONCEITO QUE CONFUNDE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vs External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é simples: quem manda no arquivo.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Databricks gerencia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cria, ele decide onde guardar. Se você apagar a tabela, o arquivo some junto.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por padrão. É mais simples e é o que a gente vai fazer.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aponta o caminho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519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arquivo fica onde você mandou. Apagar a tabela não apaga o dado.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519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quando o dado já existe em outro lugar ou é compartilhado.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POR BAIXO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uma query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142337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28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marca, SUM(receita) FROM rota_perfume.gold.fato_vendas GROUP BY 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tem permissão de ler essa tabela?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2491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2491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estão os arquivos dessa tabela?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só as colunas e partições necessárias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3B9DF5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2259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2259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para você — e fica no log de auditoria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consulta passa por governança antes de tocar no dado. É isso que separa um lakehouse de uma pasta com arquivos.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GENTE VAI CHEGAR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da semana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9659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36192" y="1783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análise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783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e os 4 ambientes de resposta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41448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963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7919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791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36192" y="2496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· Databricks + Delta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4963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medallion, pipeline e testes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09544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39242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924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36192" y="3209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2095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 e score versionado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922776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227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 em produção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39227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 rodando sozinha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montar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ambiente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databricks.com/learn/free-edition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análise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dia de trabalho. Ninguém te deu documentação.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faz no primeiro dia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Olhar o que existe: quantas tabelas, quantas linhas, qual período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volume: quantos clientes, quantos pedidos, qual ticket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 o eixo do negócio: faturamento no tempo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 o extremo: quem compra mais, quem compra menos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Desconfiar: sempre tem sujeira, e é melhor achar agora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 no que eu vou fazer: eu não venho com a query pronta. Venho com a pergunta. A query é consequência.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RESPONDER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 só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8321040" cy="777240"/>
          </a:xfrm>
          <a:prstGeom prst="roundRect">
            <a:avLst>
              <a:gd name="adj" fmla="val 7059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7830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foi nossa receita e quem são os melhores clientes?"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quatro ambientes diferentes para responder ela.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0662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no Databricks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546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0430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sobre qual é o melhor. É sobre saber qual usar em cada situação.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 um CSV, pergunta em português, tem resposta. Sem escrever uma linha de código.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para explorar uma hipótese e entender um dado novo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 pouco dado, não se repete sozinho e não é governado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pontual, nunca para operar a empresa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Ótimo para explorar. Ruim para operar.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no Databricks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pergunta, agora na base inteira. Preciso, reproduzível e auditável.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Escala, precisão e o resultado é sempre o mesmo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precisa saber SQL e conhecer o modelo de dados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que o número for para alguém tomar decisão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isso que SQL não morreu — e não vai morrer tão cedo.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em português, mas sobre o dado governado do Databricks.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pessoa da empresa consulta sem saber 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dado estiver bagunçado, ele erra com confiança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modelo já está limpo, modelado e documentado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é o ponto da semana: Genie só funciona bem em cima de dado bem construído.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não responde pergunta. Ele constrói.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o código, roda no seu ambiente e versiona no Git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de contexto e de alguém que saiba revisar o resultado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trabalho é construir, não consultar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entre pedir uma análise e ter alguém trabalhando pra você.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CONCLUSÃO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separa demo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produção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134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2128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Genie foi o mais confortável de todos — pergunta em português, resposta na hora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340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633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ele só acertou porque o dado estava razoável e eu sabia o que perguntar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0540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dado bagunçado, IA erra com confiança — e ninguém percebe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474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Amanhã a gente arruma esse dado de verdade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9592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895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aí o Genie deixa de ser demo e vira ferramenta que a empresa inteira usa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15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não é o que a IA substitui. É o que faz a IA funcionar.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para o código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e dataset no link da descrição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COMPLETA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dado bruto à decisão comercial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1572768" cy="2331720"/>
          </a:xfrm>
          <a:prstGeom prst="roundRect">
            <a:avLst>
              <a:gd name="adj" fmla="val 348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019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128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688336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8833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3163824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6382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3639312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639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9280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000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5856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5856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pipeline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8444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5020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5020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+ medallion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7608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328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4184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4184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6772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178308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193852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CDE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1938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60920" y="25420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609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ligar hoje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noites, quatro camadas. No fim, o vendedor abre o celular e já sabe para quem ligar.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TABELAS SE LIGAM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da Rota do Perfume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73736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949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 *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949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cnpj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949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949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cidade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06324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63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" y="3392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 *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9496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9496" y="3776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regiao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06040" y="173736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173736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3405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3405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3405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data_inicio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06040" y="297180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297180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9718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oportunidades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34056" y="3300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34056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34056" y="3685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34056" y="38770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motivo_perda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1737360"/>
            <a:ext cx="1783080" cy="1344168"/>
          </a:xfrm>
          <a:prstGeom prst="roundRect">
            <a:avLst>
              <a:gd name="adj" fmla="val 3401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73736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7433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 *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7433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7433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7433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74336" y="2834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324612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24612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246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pagamentos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74336" y="3575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74336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74336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40880" y="173736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40880" y="173736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6889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6889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16889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quantidade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6889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040880" y="324612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40880" y="324612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3246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68896" y="3575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 *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168896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68896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68896" y="41513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94560" y="201168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94560" y="329184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89120" y="2011680"/>
            <a:ext cx="45720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89120" y="3200400"/>
            <a:ext cx="457200" cy="36576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29400" y="201168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29400" y="352044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27848" y="2788920"/>
            <a:ext cx="0" cy="45720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A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CRM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28016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ERP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2860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 da noite 2 é ligar esses dois lados. Hoje eles vivem em sistemas separados.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vaza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7007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5.979 oportunidades em 24 meses. É isso que o CRM guarda e quase ninguém analisa.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10800000">
            <a:off x="2788920" y="2176272"/>
            <a:ext cx="356616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21762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10800000">
            <a:off x="2994660" y="2670048"/>
            <a:ext cx="315468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4660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3222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0800000">
            <a:off x="3200400" y="3163824"/>
            <a:ext cx="274320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1638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enviada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163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1.064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3406140" y="3657600"/>
            <a:ext cx="233172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614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34440" y="44805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1.511 ganhas · R$ 37,2 mi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44805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0D1522"/>
          </a:solidFill>
          <a:ln w="16510">
            <a:solidFill>
              <a:srgbClr val="8A6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 perdidas · R$ 19,1 mi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1330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 perda nº 1: prazo de entrega. Está gravado no CRM desde sempre.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DOS 4 AMBIENTES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usar em cada situação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11480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9748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Reproduz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Constrói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311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9748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Databricks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9748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64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9748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1500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142337"/>
          </a:solidFill>
          <a:ln w="19050">
            <a:solidFill>
              <a:srgbClr val="3B9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69748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0624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1500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substitui o outro. O erro é usar o confortável quando a situação pede o preciso.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TEM AGORA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noite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 mapeado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Rota do Perfume vende e onde ela trava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medallion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rota_perfume com bronze, silver e gold no Unity Catalog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tabelas na bronze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313.551 linhas ingeridas, com a sujeira preservada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rodando e testado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por bundle, 9 verificações passando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AMANHÃ · TERÇA 25/08 · 19H30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dados: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passa a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sozinho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98094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8803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de verdade: CNPJ duplicado, data em dois formatos, cancelado sem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3009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medallion: bronze, silver e gold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2219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721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Lake, governança e linhagem no catálogo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4281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142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agendado, carga incremental e testes de qualidade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ordem importa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passo depende do anterior. Se pular, vai dar erro no seguinte.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7784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Free Edition, sem cartão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09928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19656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0.205 ou superior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18104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136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74136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74136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auth login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82312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82312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bundle init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34456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44184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0488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0488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0488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com uv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42632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52360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98664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98664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98664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98664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versionado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skills do Databricks, MCP e guard rails. Vem no fim da aula.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02 · A CLI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a Databricks CLI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ser a versão 0.205 ou superior. A CLI antiga não tem bundle.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8321040" cy="1005840"/>
          </a:xfrm>
          <a:prstGeom prst="roundRect">
            <a:avLst>
              <a:gd name="adj" fmla="val 4545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408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· Homebrew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tap databricks/tap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trust databricks/tap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databricks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3419856"/>
            <a:ext cx="8321040" cy="566928"/>
          </a:xfrm>
          <a:prstGeom prst="roundRect">
            <a:avLst>
              <a:gd name="adj" fmla="val 8065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74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· WinGet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694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Databricks.DatabricksCLI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8321040" cy="566928"/>
          </a:xfrm>
          <a:prstGeom prst="roundRect">
            <a:avLst>
              <a:gd name="adj" fmla="val 8065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9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e WSL · curl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https://raw.githubusercontent.com/databricks/setup-cli/main/install.sh | 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626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brew trust é novo — a partir do Homebrew 6.0.0 taps de terceiros precisam ser confiados.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03 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 criação do projeto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8321040" cy="914400"/>
          </a:xfrm>
          <a:prstGeom prst="roundRect">
            <a:avLst>
              <a:gd name="adj" fmla="val 5000"/>
            </a:avLst>
          </a:prstGeom>
          <a:solidFill>
            <a:srgbClr val="142337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 auth login --host https://SEU-WORKSPACE.cloud.databricks.com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67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o navegador. Depois confira com:  databricks catalogs list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907792"/>
            <a:ext cx="8321040" cy="512064"/>
          </a:xfrm>
          <a:prstGeom prst="roundRect">
            <a:avLst>
              <a:gd name="adj" fmla="val 8929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0779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 bundle init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778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default-python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0662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imersao_agosto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 exemplo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5546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3B9DF5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430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0430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= yes é obrigatório. O Free Edition só oferece compute serverless.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05 E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Python e 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8321040" cy="1207008"/>
          </a:xfrm>
          <a:prstGeom prst="roundRect">
            <a:avLst>
              <a:gd name="adj" fmla="val 3788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9339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imersao_agosto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venv --python 3.12 --seed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3218688"/>
            <a:ext cx="8321040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2841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"setup inicial"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4261104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142337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26110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3.12, não 3.13. Bibliotecas do Databricks ainda quebram na 3.13.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DER ERRADO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erros que todo mundo comete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84708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47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credentials from older CLI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80560" y="18470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Rode databricks auth login de novo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35000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50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not found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0" y="23500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Reinicie o terminal depois de instalar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529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versão abaixo de 0.205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28529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CLI antiga. Desinstale e reinstale.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35584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558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falha por compute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0" y="33558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respondeu no para serverless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58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biblioteca não instala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38587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está no Python 3.13. Volte pra 3.12.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36168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361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desligado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4361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 do Free Edition estourou. Espere o dia seguinte.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faz parte. Leia a mensagem — quase sempre ela já diz o que fazer.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AMANHÃ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POR HOJE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Terça, 19h30.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lugar.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no grupo do WhatsApp — é lá que eu mando o repositório, a base de dados e respondo dúvida.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QUE A GENTE PROCURAVA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da noite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102,3 milhões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dos 24 meses, 27.772 pedidos faturados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3.683,70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por pedido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Outubro/2025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pico: R$ 7,0 milhões em um mês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Janeiro/2026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vale: R$ 2,5 milhões — o varejo já abasteceu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MOMENTO DA VERDADE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que não roda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3.443 pedidos (12%) têm a data escrita como 15/10/2025 em vez de 2025-10-15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date_trunc('month', data_pedido) tenta converter, não consegue e derruba a query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resposta errada em silêncio: é erro na cara, e isso é melhor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try_to_date devolve NULL em vez de quebrar — aí o coalesce tenta os dois formatos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coalesce é um rascunho da camada silver. Amanhã ele vira pipeline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 na ordem: eu rodo a query errada primeiro, de propósito. O erro é que explica por que a noite 2 existe.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MEDALLION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ficou de pé no catálogo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tabelas, 313.551 linhas. Tudo texto, sujeira preservada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Criada e vazia. É o trabalho de amanhã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Criada e vazia. Fatos e dimensões vêm depois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por bundle, 2 tarefas, 9 verificações passando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Imersão Agosto — Aula 01</dc:title>
  <dc:subject>PptxGenJS Presentation</dc:subject>
  <dc:creator>Jornada de Dados</dc:creator>
  <cp:lastModifiedBy>Jornada de Dados</cp:lastModifiedBy>
  <cp:revision>1</cp:revision>
  <dcterms:created xsi:type="dcterms:W3CDTF">2026-08-24T15:41:29Z</dcterms:created>
  <dcterms:modified xsi:type="dcterms:W3CDTF">2026-08-24T15:41:29Z</dcterms:modified>
</cp:coreProperties>
</file>