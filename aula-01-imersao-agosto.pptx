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08" r:id="rId59"/>
    <p:sldId id="309" r:id="rId60"/>
    <p:sldId id="310" r:id="rId61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305" r:id="rId56"/>
    <p:sldId id="306" r:id="rId57"/>
    <p:sldId id="307" r:id="rId58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IMERSÃO · 24 A 27 DE AGOSTO · 19H30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área de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 Vendas do zero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34015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+ 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26080" y="3401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01 · Objetivo e a primeira análise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CONTRATO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sai daqui com 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rodando.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2286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aula mais estratégica das quatro. Mas eu não vou te deixar sair sem código: nos últimos 40 minutos a gente monta o ambiente e faz a primeira análise juntos.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2648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negócio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2648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 comercial realmente vende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34056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34056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os sistemas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34056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ERP, CRM e os outros que sempre aparecem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54296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5464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55464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ambiente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55464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75704" y="3200400"/>
            <a:ext cx="1956816" cy="1572768"/>
          </a:xfrm>
          <a:prstGeom prst="roundRect">
            <a:avLst>
              <a:gd name="adj" fmla="val 290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6872" y="33649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76872" y="363931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em 4 ambientes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976872" y="416966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Web, SQL, Genie e Claude Code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noites, 4 camadas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 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negócio, os sistemas e a primeira análise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25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Delta, pipeline e testes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 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+ Agentes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o agente de IA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4884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134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27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58775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181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Colocar no ar e defender internamente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noite entrega alguma coisa que roda. E cada noite abre o problema que a seguinte resolve.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acabou de ser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 de dados na Rota do Perfume. Primeiro dia.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SEMANA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diretoria já quer tudo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920240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COMERCIAL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0" y="19202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esse mês?"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2633472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334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DE VENDAS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26080" y="263347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"Quais são os melhores clientes?"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3346704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DIRETORIA DE PREÇOS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0" y="334670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"Onde a gente está perdendo margem?"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4059936"/>
            <a:ext cx="8321040" cy="603504"/>
          </a:xfrm>
          <a:prstGeom prst="roundRect">
            <a:avLst>
              <a:gd name="adj" fmla="val 7576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5993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40599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"Preciso disso para ontem."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combinados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tenta fazer junto agora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 primeiro. O vídeo fica gravado e o repositório é seu.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no fim das aulas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Formulário único liberado na última noite.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103120"/>
            <a:ext cx="2663952" cy="1828800"/>
          </a:xfrm>
          <a:prstGeom prst="roundRect">
            <a:avLst>
              <a:gd name="adj" fmla="val 2500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9736" y="226771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54203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Sorteio de 1:1 comigo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072384"/>
            <a:ext cx="226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carreira, eu e você planejando.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uma área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vende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abrir qualquer ferramenta.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DA VENDA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da Rota do Perfume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84248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21992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21992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3320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941064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0136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41464" y="2011680"/>
            <a:ext cx="237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208" y="2011680"/>
            <a:ext cx="1481328" cy="914400"/>
          </a:xfrm>
          <a:prstGeom prst="roundRect">
            <a:avLst>
              <a:gd name="adj" fmla="val 5000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9208" y="201168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perfumaria a recompra é tudo: o cliente volta pelo lançamento e some quando falta o produto da moda.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NESSA HISTÓRIA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atores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uma carteira de clientes. Visita, tira pedido, sofre com meta.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4056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Perfumaria, farmácia, revendedora. Compra por marca e por giro.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55464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 número, distribui carteira, decide onde apertar.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148840"/>
            <a:ext cx="1956816" cy="1783080"/>
          </a:xfrm>
          <a:prstGeom prst="roundRect">
            <a:avLst>
              <a:gd name="adj" fmla="val 2564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235000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2898648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analista que precisa transformar tudo isso em decisão.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área comercial quer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responder três perguntas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vai comprar?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sumindo?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7472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514600"/>
            <a:ext cx="2697480" cy="1417320"/>
          </a:xfrm>
          <a:prstGeom prst="roundRect">
            <a:avLst>
              <a:gd name="adj" fmla="val 3226"/>
            </a:avLst>
          </a:prstGeom>
          <a:solidFill>
            <a:srgbClr val="0D1522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26700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96265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vamos vender?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34564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seu dashboard não responde nenhuma dessas, ele não vai ser aberto.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trava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2037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1031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Ruptura no perfume da moda: a venda não migra para outro, ela some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6243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5237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que comprava todo mês e sumiu — e ninguém percebeu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94436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 que não chegou na carteira certa, no mês certo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6557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6499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Vendedor desligado e a carteira dele ficou órfã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8561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no kit presente, que já é a categoria de menor margem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desses é um problema de dado. E cada um vira uma coluna no nosso projeto.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INSIGHT DO SETOR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 vende antes da data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11480" y="1719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varejo precisa estar abastecido quando o consumidor chega. Então o pico da Rota do Perfume é sempre o mês anterior à data. As barras abaixo são a receita real dos 12 meses fechados da base.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" y="3338683"/>
            <a:ext cx="603504" cy="474365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4805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3318928"/>
            <a:ext cx="603504" cy="494120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FEV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37944" y="3030047"/>
            <a:ext cx="603504" cy="783001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3794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32888" y="2551957"/>
            <a:ext cx="603504" cy="1261091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3288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27832" y="2985499"/>
            <a:ext cx="603504" cy="827549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2783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922776" y="2742550"/>
            <a:ext cx="603504" cy="107049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2277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3125242"/>
            <a:ext cx="603504" cy="687806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12664" y="3095916"/>
            <a:ext cx="603504" cy="717132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12664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007608" y="2992531"/>
            <a:ext cx="603504" cy="82051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07608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2552" y="2395729"/>
            <a:ext cx="603504" cy="1417319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2552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97496" y="2765210"/>
            <a:ext cx="603504" cy="1047838"/>
          </a:xfrm>
          <a:prstGeom prst="roundRect">
            <a:avLst>
              <a:gd name="adj" fmla="val 454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97496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92440" y="3272761"/>
            <a:ext cx="603504" cy="540287"/>
          </a:xfrm>
          <a:prstGeom prst="roundRect">
            <a:avLst>
              <a:gd name="adj" fmla="val 4545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92440" y="3895344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DEZ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46304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6304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 · Dia das Mães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0332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70332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· Namorados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43600" y="4224528"/>
            <a:ext cx="2103120" cy="402336"/>
          </a:xfrm>
          <a:prstGeom prst="roundRect">
            <a:avLst>
              <a:gd name="adj" fmla="val 11364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0" y="422452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· Black Friday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na base: outubro fez R$ 7,0 mi e janeiro R$ 2,5 mi. Quem não entende o negócio lê esse gráfico ao contrário.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gente escopa um</a:t>
            </a:r>
            <a:endParaRPr lang="en-US" sz="29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na consultoria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são os atores e onde o processo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41192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alvo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41192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todos os travamentos, qual atacar primeiro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68568" y="2468880"/>
            <a:ext cx="2663952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9736" y="2633472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9736" y="2907792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 entregável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9736" y="3438144"/>
            <a:ext cx="226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 e como saber que funcionou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a lógica do Design Sprint, adaptada. Na consultoria é um processo de dias, com o cliente na sala. Hoje eu comprimi para caber numa noite.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de uma operação comercial.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— o que foi vendido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da transação. Ele sabe tudo o que já aconteceu no caixa.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cliente, vendedor, canal, status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do pedido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SKU, quantidade, preço praticado, desconto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Marca, nota olfativa, preço, custo, lançamento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Estoque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por SKU e flag de ruptura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ERP é ótimo no passado e cego no futuro. Ele nunca vai te dizer quem vai comprar amanhã.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— para quem a gente vende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do relacionamento. Ele sabe o contexto que o ERP não vê.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CNPJ, segmento, cidade — 12 capitais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34056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vendedor atende qual cliente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5464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55464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resultado: pedido, sem pedido, não atendeu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75704" y="2468880"/>
            <a:ext cx="1956816" cy="1554480"/>
          </a:xfrm>
          <a:prstGeom prst="roundRect">
            <a:avLst>
              <a:gd name="adj" fmla="val 2941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76872" y="267004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976872" y="32186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foi conversado e prometido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sem pedido é o dado mais subestimado de uma operação comercial.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eles quase nunca conversam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foi vendido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66360" y="210312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2724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para quem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2487168"/>
            <a:ext cx="914400" cy="603504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248716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a empresa não sabe responder as três perguntas. O dado existe — só não está no mesmo lugar. Juntar os dois é o trabalho da quarta-feira.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TEM MAIS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sistemas que ninguém coloca no slide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12648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Carrinho, catálogo, comportamento de navegação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34056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do gerente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734056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 todo mundo usa e ninguém assume que existe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4296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55464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do vendedor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55464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de verdade acontece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75704" y="2286000"/>
            <a:ext cx="1956816" cy="1691640"/>
          </a:xfrm>
          <a:prstGeom prst="roundRect">
            <a:avLst>
              <a:gd name="adj" fmla="val 270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24871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legado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76872" y="303580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Aquele que só uma pessoa sabe mexer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tabelas da Rota do Perfume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2491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2491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0" y="205740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22592" y="215798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22592" y="245973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607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6032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2491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2491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0" y="2926080"/>
            <a:ext cx="2011680" cy="731520"/>
          </a:xfrm>
          <a:prstGeom prst="roundRect">
            <a:avLst>
              <a:gd name="adj" fmla="val 6250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2592" y="3026664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estoque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22592" y="3328416"/>
            <a:ext cx="16824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meses · 3.040 clientes · R$ 102 mi de receita · 198 mil itens vendidos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que 449 de vocês escolheram.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449 VOTOS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VOCÊS ESCOLHERAM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— 48% dos votos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212140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0" y="2057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25603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97480" y="262432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62432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25603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3063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97480" y="312724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3127248"/>
            <a:ext cx="181356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306324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697480" y="3630168"/>
            <a:ext cx="5120640" cy="182880"/>
          </a:xfrm>
          <a:prstGeom prst="roundRect">
            <a:avLst>
              <a:gd name="adj" fmla="val 50000"/>
            </a:avLst>
          </a:prstGeom>
          <a:solidFill>
            <a:srgbClr val="1423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7480" y="3630168"/>
            <a:ext cx="1066800" cy="182880"/>
          </a:xfrm>
          <a:prstGeom prst="roundRect">
            <a:avLst>
              <a:gd name="adj" fmla="val 50000"/>
            </a:avLst>
          </a:prstGeom>
          <a:solidFill>
            <a:srgbClr val="2740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5661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6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moda. Na RedRex, minha consultoria, a gente montou um time dedicado a Databricks por causa da demanda que chega. Em algum momento da carreira você vai esbarrar com ele.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Lakehouse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7452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154680" y="1874520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Organizado e rápido. Mas caro, e não aguenta dado bruto.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2660904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6090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Lake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154680" y="266090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tudo. Mas vira pântano sem governança.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447288"/>
            <a:ext cx="8321040" cy="676656"/>
          </a:xfrm>
          <a:prstGeom prst="roundRect">
            <a:avLst>
              <a:gd name="adj" fmla="val 675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4472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154680" y="3447288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dois: dado bruto no barato, com transação e governança em cima.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 é o formato que faz isso funcionar: versionamento, transação e time travel em cima de arquivo.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CARTÃO, SEM PEGADINHA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roda no Free Edition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proposital: eu quero que você consiga repetir do seu lado, sem depender de empresa nenhuma.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SQL, notebooks, catálogo, dashboards, jobs e agentes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serverless, sem cluster para configurar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cuidado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cota de uso. Ligue o compute só na hora da aula.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estourar a cota, o ambiente desliga pelo resto do dia. Seus dados ficam — só o compute para.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seu dado mora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subir qualquer arquivo, entenda a hierarquia. É ela que você vai criar daqui a pouco.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22860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METASTORE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19456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topo de tudo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023360" y="228600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governança é definida, um por região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95528" y="2852928"/>
            <a:ext cx="7936992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529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78608" y="285292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agrupamento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07408" y="2852928"/>
            <a:ext cx="409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 ambientes: dev, prod, ou por área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9576" y="3419856"/>
            <a:ext cx="7552944" cy="530352"/>
          </a:xfrm>
          <a:prstGeom prst="roundRect">
            <a:avLst>
              <a:gd name="adj" fmla="val 8621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89888" y="341985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962656" y="341985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91456" y="3419856"/>
            <a:ext cx="3712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 tabelas de um mesmo assunto: erp, crm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63624" y="3986784"/>
            <a:ext cx="7168896" cy="530352"/>
          </a:xfrm>
          <a:prstGeom prst="roundRect">
            <a:avLst>
              <a:gd name="adj" fmla="val 8621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398678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46704" y="398678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75504" y="3986784"/>
            <a:ext cx="33284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 em si, em formato Delta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rota_perfume.erp.pedidos   →   catálogo . schema . tabela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CONCEITO QUE CONFUNDE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 External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é simples: quem manda no arquivo.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Databricks gerencia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cria, ele decide onde guardar. Se você apagar a tabela, o arquivo some junto.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751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por padrão. É mais simples e é o que a gente vai fazer.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2377440"/>
            <a:ext cx="4023360" cy="2057400"/>
          </a:xfrm>
          <a:prstGeom prst="roundRect">
            <a:avLst>
              <a:gd name="adj" fmla="val 2667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2560320"/>
            <a:ext cx="3511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65192" y="2871216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aponta o caminho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65192" y="3218688"/>
            <a:ext cx="3511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arquivo fica onde você mandou. Apagar a tabela não apaga o dado.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65192" y="3877056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quando o dado já existe em outro lugar ou é compartilhado.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POR BAIXO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uma query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82880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marca, SUM(receita) FROM rota_perfume.gold.fato_vendas GROUP BY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1148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permissão de ler essa tabela?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2491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2491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Metastore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2491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os arquivos dessa tabela?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7375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7375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só as colunas e partições necessárias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137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0" y="2743200"/>
            <a:ext cx="2011680" cy="1325880"/>
          </a:xfrm>
          <a:prstGeom prst="roundRect">
            <a:avLst>
              <a:gd name="adj" fmla="val 3448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22592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3127248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22592" y="3438144"/>
            <a:ext cx="16824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para você — e fica no log de auditoria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42793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consulta passa por governança antes de tocar no dado. É isso que separa um lakehouse de uma pasta com arquivos.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GENTE VAI CHEGAR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 da semana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6596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659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e análise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7830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 os 4 ambientes de resposta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67919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67919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536192" y="249631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 · Databricks + Delta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496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medallion, pipeline e testes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54680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09544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392424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9242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36192" y="32095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Ciência de dados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0954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 e score versionado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3867912"/>
            <a:ext cx="8321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922776"/>
            <a:ext cx="8321040" cy="658368"/>
          </a:xfrm>
          <a:prstGeom prst="roundRect">
            <a:avLst>
              <a:gd name="adj" fmla="val 6944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92277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IA em produção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3922776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rodando sozinha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148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montar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databricks.com/learn/free-edition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417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análise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dia de trabalho. Ninguém te deu documentação.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faz no primeiro dia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o que existe: quantas tabelas, quantas linhas, qual período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volume: quantos clientes, quantos pedidos, qual ticket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Achar o eixo do negócio: faturamento no tempo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Procurar o extremo: quem compra mais, quem compra menos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Desconfiar: sempre tem sujeira, e é melhor achar agora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no que eu vou fazer: eu não venho com a query pronta. Venho com a pergunta. A query é consequência.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só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78308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42337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78308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foi nossa receita e quem são os melhores clientes?"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1148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quatro ambientes diferentes para responder ela.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778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6032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0662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0662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0D1522"/>
          </a:solidFill>
          <a:ln w="1651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546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5546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3200400"/>
            <a:ext cx="2011680" cy="777240"/>
          </a:xfrm>
          <a:prstGeom prst="roundRect">
            <a:avLst>
              <a:gd name="adj" fmla="val 5882"/>
            </a:avLst>
          </a:prstGeom>
          <a:solidFill>
            <a:srgbClr val="3B9DF5"/>
          </a:solidFill>
          <a:ln w="16510">
            <a:solidFill>
              <a:srgbClr val="3B9D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3291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04304" y="352958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qual é o melhor. É sobre saber qual usar em cada situação.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Sobe um CSV, pergunta em português, tem resposta. Sem escrever uma linha de código.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 para explorar uma hipótese e entender um dado novo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 pouco dado, não se repete sozinho e não é governado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pontual, nunca para operar a empresa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Ótimo para explorar. Ruim para operar.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no Databricks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pergunta, agora na base inteira. Preciso, reproduzível e auditável.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precisão e o resultado é sempre o mesmo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precisa saber SQL e conhecer o modelo de dados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que o número for para alguém tomar decisão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por isso que SQL não morreu — e não vai morrer tão cedo.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português, mas sobre o dado governado do Databricks.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 da empresa consulta sem saber SQL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2032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dado estiver bagunçado, ele erra com confiança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modelo já está limpo, modelado e documentado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ponto da semana: Genie só funciona bem em cima de dado bem construído.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11480" y="1874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não responde pergunta. Ele constrói.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ganha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código, roda no seu ambiente e versiona no Git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0024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1192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perde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41192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contexto e de alguém que saiba revisar o resultado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68568" y="2514600"/>
            <a:ext cx="2663952" cy="1600200"/>
          </a:xfrm>
          <a:prstGeom prst="roundRect">
            <a:avLst>
              <a:gd name="adj" fmla="val 2857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9736" y="2715768"/>
            <a:ext cx="2261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usar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69736" y="3264408"/>
            <a:ext cx="2261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trabalho é construir, não consultar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diferença entre pedir uma análise e ter alguém trabalhando pra você.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DE HOJE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demo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134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2128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Genie foi o mais confortável de todos — pergunta em português, resposta na hora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7340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6334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ele só acertou porque o dado estava razoável e eu sabia o que perguntar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0540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 bagunçado, IA erra com confiança — e ninguém percebe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4747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a gente arruma esse dado de verdade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99592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aí o Genie deixa de ser demo e vira ferramenta que a empresa inteira usa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3159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 não é o que a IA substitui. É o que faz a IA funcionar.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2240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para o código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e dataset no link da descrição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COMPLETA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dado bruto à decisão comercial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1572768" cy="2331720"/>
          </a:xfrm>
          <a:prstGeom prst="roundRect">
            <a:avLst>
              <a:gd name="adj" fmla="val 3488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9019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1284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688336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3163824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639312"/>
            <a:ext cx="1078992" cy="365760"/>
          </a:xfrm>
          <a:prstGeom prst="can">
            <a:avLst/>
          </a:prstGeom>
          <a:solidFill>
            <a:srgbClr val="142337"/>
          </a:solidFill>
          <a:ln w="11430">
            <a:solidFill>
              <a:srgbClr val="3B9D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639312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9280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4884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000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000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25856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5856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pipeline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58444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4164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4164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2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95020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LAKEHOUSE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5020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+ medallion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27608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1783080"/>
            <a:ext cx="1463040" cy="2331720"/>
          </a:xfrm>
          <a:prstGeom prst="roundRect">
            <a:avLst>
              <a:gd name="adj" fmla="val 3750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33288" y="1938528"/>
            <a:ext cx="1060704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33288" y="1938528"/>
            <a:ext cx="1060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641848" y="265176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41848" y="2999232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propensão de compra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67728" y="2761488"/>
            <a:ext cx="237744" cy="256032"/>
          </a:xfrm>
          <a:prstGeom prst="rightArrow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9480" y="1783080"/>
            <a:ext cx="1554480" cy="2331720"/>
          </a:xfrm>
          <a:prstGeom prst="roundRect">
            <a:avLst>
              <a:gd name="adj" fmla="val 3529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98080" y="1938528"/>
            <a:ext cx="1097280" cy="237744"/>
          </a:xfrm>
          <a:prstGeom prst="roundRect">
            <a:avLst>
              <a:gd name="adj" fmla="val 15385"/>
            </a:avLst>
          </a:prstGeom>
          <a:solidFill>
            <a:srgbClr val="CDE8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19385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 4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7360920" y="25420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6092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ligar hoje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431596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noites, quatro camadas. No fim, o vendedor abre o celular e já sabe para quem ligar.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TABELAS SE LIGAM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da Rota do Perfume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394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 *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394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cnpj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94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segmento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394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cidade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11480" y="306324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063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339242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 *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9496" y="35844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9496" y="37764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regiao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606040" y="173736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carteira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73405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73405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3405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data_inicio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297180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6FA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solidFill>
            <a:srgbClr val="6FA8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29718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oportunidades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34056" y="3300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34056" y="34930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34056" y="36850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734056" y="38770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motivo_perda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46320" y="1737360"/>
            <a:ext cx="1783080" cy="1344168"/>
          </a:xfrm>
          <a:prstGeom prst="roundRect">
            <a:avLst>
              <a:gd name="adj" fmla="val 3401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7433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 *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7433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cliente_id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97433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vendedor_id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97433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74336" y="28346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46320" y="3246120"/>
            <a:ext cx="1783080" cy="960120"/>
          </a:xfrm>
          <a:prstGeom prst="roundRect">
            <a:avLst>
              <a:gd name="adj" fmla="val 4762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pagamentos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7433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97433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7433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040880" y="173736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0" y="173736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itens_pedido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168896" y="2066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pedido_id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168896" y="22585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168896" y="245059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quantidade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168896" y="26426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040880" y="3246120"/>
            <a:ext cx="1783080" cy="1152144"/>
          </a:xfrm>
          <a:prstGeom prst="roundRect">
            <a:avLst>
              <a:gd name="adj" fmla="val 3968"/>
            </a:avLst>
          </a:prstGeom>
          <a:solidFill>
            <a:srgbClr val="0D1522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32461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produtos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168896" y="35753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9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*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7168896" y="37673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168896" y="395935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68896" y="4151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19456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194560" y="32918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389120" y="2011680"/>
            <a:ext cx="45720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389120" y="3200400"/>
            <a:ext cx="457200" cy="36576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629400" y="201168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629400" y="3520440"/>
            <a:ext cx="411480" cy="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27848" y="2788920"/>
            <a:ext cx="0" cy="457200"/>
          </a:xfrm>
          <a:prstGeom prst="line">
            <a:avLst/>
          </a:prstGeom>
          <a:noFill/>
          <a:ln w="13970">
            <a:solidFill>
              <a:srgbClr val="3D5A7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14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A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CRM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28016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ERP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286000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da noite 2 é ligar esses dois lados. Hoje eles vivem em sistemas separados.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FUNIL COMERCIAL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venda vaza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7007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5.979 oportunidades em 24 meses. É isso que o CRM guarda e quase ninguém analisa.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10800000">
            <a:off x="2788920" y="2176272"/>
            <a:ext cx="356616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217627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Prospecção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37960" y="21762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 rot="10800000">
            <a:off x="2994660" y="2670048"/>
            <a:ext cx="315468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4660" y="26700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32220" y="2670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10800000">
            <a:off x="3200400" y="3163824"/>
            <a:ext cx="274320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638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enviada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31638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3406140" y="3657600"/>
            <a:ext cx="2331720" cy="457200"/>
          </a:xfrm>
          <a:prstGeom prst="trapezoid">
            <a:avLst/>
          </a:prstGeom>
          <a:solidFill>
            <a:srgbClr val="142337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6140" y="36576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Negociação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20740" y="36576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AA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3444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1.511 ganhas · R$ 37,2 mi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480560"/>
            <a:ext cx="3200400" cy="457200"/>
          </a:xfrm>
          <a:prstGeom prst="roundRect">
            <a:avLst>
              <a:gd name="adj" fmla="val 10000"/>
            </a:avLst>
          </a:prstGeom>
          <a:solidFill>
            <a:srgbClr val="0D1522"/>
          </a:solidFill>
          <a:ln w="16510">
            <a:solidFill>
              <a:srgbClr val="8A6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4480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B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perdidas · R$ 19,1 mi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11480" y="413308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perda nº 1: prazo de entrega. Está gravado no CRM desde sempre.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DOS 4 AMBIENTES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usar em cada situação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470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69748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0624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71500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Governado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223760" y="18470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231136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311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Web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9748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1500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23760" y="2231136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1480" y="279806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980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Databricks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69748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0624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2798064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11480" y="3364992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649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69748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150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2376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11480" y="3931920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9050">
            <a:solidFill>
              <a:srgbClr val="3B9D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69748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20624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1500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9319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11480" y="44805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substitui o outro. O erro é usar o confortável quando a situação pede o preciso.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A GENTE PROCURAVA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da noite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102,3 milhões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dos 24 meses, 27.772 pedidos faturados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3.683,70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médio por pedido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Outubro/2025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pico: R$ 7,0 milhões em um mês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Janeiro/2026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vale: R$ 2,5 milhões — o varejo já abasteceu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MOMENTO DA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que não roda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3.443 pedidos (12%) têm a data escrita como 15/10/2025 em vez de 2025-10-15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date_trunc('month', data_pedido) tenta converter, não consegue e derruba a query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resposta errada em silêncio: é erro na cara, e isso é melhor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try_to_date devolve NULL em vez de quebrar — aí o coalesce tenta os dois formatos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coalesce é um rascunho da camada silver. Amanhã ele vira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Repara na ordem: eu rodo a query errada primeiro, de propósito. O erro é que explica por que a noite 2 existe.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de pé no catálogo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tabelas, 313.551 linhas. Tudo texto, sujeira preservada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É o trabalho de amanhã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Criada e vazia. Fatos e dimensões vêm depois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2 tarefas,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TEM AGORA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da noite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mapeado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Rota do Perfume vende e onde ela trava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medallion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 com bronze, silver e gold no Unity Catalog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tabelas na bronze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313.551 linhas ingeridas, com a sujeira preservada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rodando e testado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por bundle, 9 verificações passando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AMANHÃ · TERÇA 25/08 · 19H30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dados: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passa a</a:t>
            </a:r>
            <a:endParaRPr lang="en-US" sz="32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sozinho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803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Limpeza de verdade: CNPJ duplicado, data em dois formatos, cancelado sem flag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0156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330098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medallion: bronze, silver e gold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2219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721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Lake, governança e linhagem no catálogo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14223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agendado, carga incremental e testes de qualidade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passo depende do anterior. Se pular, vai dar erro no seguinte.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5778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Free Edition, sem cartão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09928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19656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65960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0.205 ou superior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118104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27832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4136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74136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74136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74136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auth login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82312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82312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bundle init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34456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44184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90488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 com uv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42632" y="2468880"/>
            <a:ext cx="10972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2468880"/>
            <a:ext cx="1298448" cy="1417320"/>
          </a:xfrm>
          <a:prstGeom prst="roundRect">
            <a:avLst>
              <a:gd name="adj" fmla="val 3521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98664" y="2615184"/>
            <a:ext cx="402336" cy="237744"/>
          </a:xfrm>
          <a:prstGeom prst="roundRect">
            <a:avLst>
              <a:gd name="adj" fmla="val 15385"/>
            </a:avLst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261518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598664" y="2926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98664" y="321868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versionado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14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skills do Databricks, MCP e guard rails. Vem no fim da aula.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02 · A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a Databricks CLI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1148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 versão 0.205 ou superior. A CLI antiga não tem bundle.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8321040" cy="1005840"/>
          </a:xfrm>
          <a:prstGeom prst="roundRect">
            <a:avLst>
              <a:gd name="adj" fmla="val 454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· Homebrew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7955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tap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trust databricks/tap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databricks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3419856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4747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· WinGet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694176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Databricks.DatabricksCLI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114800"/>
            <a:ext cx="8321040" cy="566928"/>
          </a:xfrm>
          <a:prstGeom prst="roundRect">
            <a:avLst>
              <a:gd name="adj" fmla="val 8065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e WSL · curl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https://raw.githubusercontent.com/databricks/setup-cli/main/install.sh | 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6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brew trust é novo — a partir do Homebrew 6.0.0 taps de terceiros precisam ser confiados.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03 E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e criação do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11480" y="1828800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auth login --host https://SEU-WORKSPACE.cloud.databricks.com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2677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navegador. Depois confira com:  databricks catalogs list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07792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0779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databricks bundle init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5778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default-python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0662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imersao_agosto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0D1522"/>
          </a:solidFill>
          <a:ln w="15240">
            <a:solidFill>
              <a:srgbClr val="1F3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5546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 exemplo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5546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3602736"/>
            <a:ext cx="2011680" cy="694944"/>
          </a:xfrm>
          <a:prstGeom prst="roundRect">
            <a:avLst>
              <a:gd name="adj" fmla="val 6579"/>
            </a:avLst>
          </a:prstGeom>
          <a:solidFill>
            <a:srgbClr val="3B9DF5"/>
          </a:solidFill>
          <a:ln w="15240">
            <a:solidFill>
              <a:srgbClr val="3B9D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04304" y="367588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D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04304" y="3913632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= yes é obrigatório. O Free Edition só oferece compute serverless.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05 E 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Python e 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874520"/>
            <a:ext cx="8321040" cy="1207008"/>
          </a:xfrm>
          <a:prstGeom prst="roundRect">
            <a:avLst>
              <a:gd name="adj" fmla="val 3788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imersao_agosto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venv --python 3.12 --seed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.venv/bin/activate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3218688"/>
            <a:ext cx="8321040" cy="914400"/>
          </a:xfrm>
          <a:prstGeom prst="roundRect">
            <a:avLst>
              <a:gd name="adj" fmla="val 5000"/>
            </a:avLst>
          </a:prstGeom>
          <a:solidFill>
            <a:srgbClr val="0D1522"/>
          </a:solidFill>
          <a:ln w="13970">
            <a:solidFill>
              <a:srgbClr val="1F3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28416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init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"setup inicial"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4261104"/>
            <a:ext cx="8321040" cy="548640"/>
          </a:xfrm>
          <a:prstGeom prst="roundRect">
            <a:avLst>
              <a:gd name="adj" fmla="val 8333"/>
            </a:avLst>
          </a:prstGeom>
          <a:solidFill>
            <a:srgbClr val="142337"/>
          </a:solidFill>
          <a:ln w="17780">
            <a:solidFill>
              <a:srgbClr val="3B9D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426110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3.12, não 3.13. Bibliotecas do Databricks ainda quebram na 3.13.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DER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erros que todo mundo comete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8470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8470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stored credentials from older CLI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80560" y="18470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databricks auth login de novo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35000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50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not found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80560" y="23500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Reinicie o terminal depois de instalar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5292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versão abaixo de 0.205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0560" y="285292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CLI antiga. Desinstale e reinstale.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35584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35584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 falha por compute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respondeu no para serverless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8587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biblioteca não instala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80560" y="38587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Python 3.13. Volte pra 3.12.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361688"/>
            <a:ext cx="8321040" cy="438912"/>
          </a:xfrm>
          <a:prstGeom prst="roundRect">
            <a:avLst>
              <a:gd name="adj" fmla="val 8333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361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desligado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436168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 do Free Edition estourou. Espere o dia seguinte.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faz parte. Leia a mensagem — quase sempre ela já diz o que fazer.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0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635240" y="-658368"/>
            <a:ext cx="1554480" cy="1325880"/>
          </a:xfrm>
          <a:prstGeom prst="triangl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2700000">
            <a:off x="7882128" y="11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POR HOJE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Terça, 19h30.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lugar.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3520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no grupo do WhatsApp — é lá que eu mando o repositório, a base de dados e respondo dúvida.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· NA INTERFACE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catálogo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menu lateral: Catalog → botão Create catalog, no canto superior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name: rota_perfume — minúsculo, sem espaço e sem acento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Standard. É o managed — o Databricks decide onde guardar o arquivo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Create. O catálogo nasce vazio, com um schema default que não vamos usar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tela seguinte, Grant access: deixe em All workspaces por enquanto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tela avisa: 'A catalog is the first layer of Unity Catalog's three-level namespace'. É isso que o nome de três partes significa.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DE TRÊS PARTES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· schema · tabela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2648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12648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catálogo. Um por projeto — é a fronteira de governança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32888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34056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34056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schema. Aqui o dado entra cru, do jeito que veio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54296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55464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55464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tabela. 28.729 linhas, todas as colunas em texto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75704" y="2194560"/>
            <a:ext cx="1956816" cy="1737360"/>
          </a:xfrm>
          <a:prstGeom prst="roundRect">
            <a:avLst>
              <a:gd name="adj" fmla="val 2632"/>
            </a:avLst>
          </a:prstGeom>
          <a:solidFill>
            <a:srgbClr val="0D1522"/>
          </a:solidFill>
          <a:ln w="12700">
            <a:solidFill>
              <a:srgbClr val="1F3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76872" y="2359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76872" y="26334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976872" y="31638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A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rota_perfume.bronze.pedidos — sempre os três níveis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3B9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RESULTADO, SEM CLICAR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cinco linhas de SQL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457200" y="2157984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05740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CATALOG IF NOT EXISTS rota_perfume;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78608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7802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IF NOT EXISTS rota_perfume.bronze;   -- dado cru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9864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IF NOT EXISTS rota_perfume.silver;   -- limpo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419856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31927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SCHEMA IF NOT EXISTS rota_perfume.gold;     -- pronto para consumo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91440" cy="91440"/>
          </a:xfrm>
          <a:prstGeom prst="ellipse">
            <a:avLst/>
          </a:prstGeom>
          <a:solidFill>
            <a:srgbClr val="3B9DF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739896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VOLUME IF NOT EXISTS rota_perfume.bronze.raw;  -- onde o CSV chega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UI é boa para entender. O SQL é o que você versiona no Git e consegue repetir amanhã sem lembrar de onde clicou.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66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JORNADA DE DADOS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Agosto — Aula 01</dc:title>
  <dc:subject>PptxGenJS Presentation</dc:subject>
  <dc:creator>Jornada de Dados</dc:creator>
  <cp:lastModifiedBy>Jornada de Dados</cp:lastModifiedBy>
  <cp:revision>1</cp:revision>
  <dcterms:created xsi:type="dcterms:W3CDTF">2026-08-24T15:41:29Z</dcterms:created>
  <dcterms:modified xsi:type="dcterms:W3CDTF">2026-08-24T15:41:29Z</dcterms:modified>
</cp:coreProperties>
</file>