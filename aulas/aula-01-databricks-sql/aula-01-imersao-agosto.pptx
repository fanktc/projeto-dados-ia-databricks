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2" r:id="rId63"/>
    <p:sldId id="313" r:id="rId64"/>
    <p:sldId id="314" r:id="rId36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08" r:id="rId59"/>
    <p:sldId id="309" r:id="rId60"/>
    <p:sldId id="311" r:id="rId62"/>
    <p:sldId id="310" r:id="rId61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7"/>
    <p:sldId id="292" r:id="rId38"/>
    <p:sldId id="293" r:id="rId39"/>
    <p:sldId id="294" r:id="rId40"/>
    <p:sldId id="295" r:id="rId41"/>
    <p:sldId id="296" r:id="rId42"/>
    <p:sldId id="305" r:id="rId56"/>
    <p:sldId id="306" r:id="rId57"/>
    <p:sldId id="307" r:id="rId58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26.xml"/><Relationship Id="rId16" Type="http://schemas.openxmlformats.org/officeDocument/2006/relationships/slide" Target="slides/slide27.xml"/><Relationship Id="rId17" Type="http://schemas.openxmlformats.org/officeDocument/2006/relationships/slide" Target="slides/slide28.xml"/><Relationship Id="rId18" Type="http://schemas.openxmlformats.org/officeDocument/2006/relationships/slide" Target="slides/slide29.xml"/><Relationship Id="rId19" Type="http://schemas.openxmlformats.org/officeDocument/2006/relationships/slide" Target="slides/slide30.xml"/><Relationship Id="rId20" Type="http://schemas.openxmlformats.org/officeDocument/2006/relationships/slide" Target="slides/slide31.xml"/><Relationship Id="rId21" Type="http://schemas.openxmlformats.org/officeDocument/2006/relationships/slide" Target="slides/slide32.xml"/><Relationship Id="rId22" Type="http://schemas.openxmlformats.org/officeDocument/2006/relationships/slide" Target="slides/slide33.xml"/><Relationship Id="rId23" Type="http://schemas.openxmlformats.org/officeDocument/2006/relationships/slide" Target="slides/slide34.xml"/><Relationship Id="rId24" Type="http://schemas.openxmlformats.org/officeDocument/2006/relationships/slide" Target="slides/slide35.xml"/><Relationship Id="rId25" Type="http://schemas.openxmlformats.org/officeDocument/2006/relationships/slide" Target="slides/slide36.xml"/><Relationship Id="rId26" Type="http://schemas.openxmlformats.org/officeDocument/2006/relationships/slide" Target="slides/slide37.xml"/><Relationship Id="rId27" Type="http://schemas.openxmlformats.org/officeDocument/2006/relationships/slide" Target="slides/slide42.xml"/><Relationship Id="rId28" Type="http://schemas.openxmlformats.org/officeDocument/2006/relationships/slide" Target="slides/slide43.xml"/><Relationship Id="rId29" Type="http://schemas.openxmlformats.org/officeDocument/2006/relationships/slide" Target="slides/slide44.xml"/><Relationship Id="rId30" Type="http://schemas.openxmlformats.org/officeDocument/2006/relationships/slide" Target="slides/slide45.xml"/><Relationship Id="rId31" Type="http://schemas.openxmlformats.org/officeDocument/2006/relationships/slide" Target="slides/slide46.xml"/><Relationship Id="rId32" Type="http://schemas.openxmlformats.org/officeDocument/2006/relationships/slide" Target="slides/slide47.xml"/><Relationship Id="rId33" Type="http://schemas.openxmlformats.org/officeDocument/2006/relationships/slide" Target="slides/slide48.xml"/><Relationship Id="rId34" Type="http://schemas.openxmlformats.org/officeDocument/2006/relationships/slide" Target="slides/slide49.xml"/><Relationship Id="rId35" Type="http://schemas.openxmlformats.org/officeDocument/2006/relationships/slide" Target="slides/slide50.xml"/><Relationship Id="rId36" Type="http://schemas.openxmlformats.org/officeDocument/2006/relationships/slide" Target="slides/slide16.xml"/><Relationship Id="rId37" Type="http://schemas.openxmlformats.org/officeDocument/2006/relationships/slide" Target="slides/slide51.xml"/><Relationship Id="rId38" Type="http://schemas.openxmlformats.org/officeDocument/2006/relationships/slide" Target="slides/slide52.xml"/><Relationship Id="rId39" Type="http://schemas.openxmlformats.org/officeDocument/2006/relationships/slide" Target="slides/slide53.xml"/><Relationship Id="rId40" Type="http://schemas.openxmlformats.org/officeDocument/2006/relationships/slide" Target="slides/slide54.xml"/><Relationship Id="rId41" Type="http://schemas.openxmlformats.org/officeDocument/2006/relationships/slide" Target="slides/slide55.xml"/><Relationship Id="rId42" Type="http://schemas.openxmlformats.org/officeDocument/2006/relationships/slide" Target="slides/slide56.xml"/><Relationship Id="rId43" Type="http://schemas.openxmlformats.org/officeDocument/2006/relationships/slide" Target="slides/slide60.xml"/><Relationship Id="rId44" Type="http://schemas.openxmlformats.org/officeDocument/2006/relationships/slide" Target="slides/slide61.xml"/><Relationship Id="rId45" Type="http://schemas.openxmlformats.org/officeDocument/2006/relationships/slide" Target="slides/slide62.xml"/><Relationship Id="rId46" Type="http://schemas.openxmlformats.org/officeDocument/2006/relationships/slide" Target="slides/slide63.xml"/><Relationship Id="rId47" Type="http://schemas.openxmlformats.org/officeDocument/2006/relationships/slide" Target="slides/slide64.xml"/><Relationship Id="rId48" Type="http://schemas.openxmlformats.org/officeDocument/2006/relationships/slide" Target="slides/slide65.xml"/><Relationship Id="rId49" Type="http://schemas.openxmlformats.org/officeDocument/2006/relationships/slide" Target="slides/slide66.xml"/><Relationship Id="rId50" Type="http://schemas.openxmlformats.org/officeDocument/2006/relationships/slide" Target="slides/slide67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38.xml"/><Relationship Id="rId60" Type="http://schemas.openxmlformats.org/officeDocument/2006/relationships/slide" Target="slides/slide39.xml"/><Relationship Id="rId61" Type="http://schemas.openxmlformats.org/officeDocument/2006/relationships/slide" Target="slides/slide41.xml"/><Relationship Id="rId62" Type="http://schemas.openxmlformats.org/officeDocument/2006/relationships/slide" Target="slides/slide40.xml"/><Relationship Id="rId63" Type="http://schemas.openxmlformats.org/officeDocument/2006/relationships/slide" Target="slides/slide14.xml"/><Relationship Id="rId64" Type="http://schemas.openxmlformats.org/officeDocument/2006/relationships/slide" Target="slides/slide15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IMERSÃO · 24 A 27 DE AGOSTO · 19H30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uma área de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Vendas do zero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+ 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 · Objetivo e a primeira análise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sai daqui com 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rodando.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é a aula mais estratégica das quatro. Mas eu não vou te deixar sair sem código: nos últimos 40 minutos a gente monta o ambiente e faz a primeira análise juntos.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negócio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2648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 comercial realmente vende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34056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4056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os sistemas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34056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CRM e os outros que sempre aparecem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55464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ambiente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55464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Edition, sem cartão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75704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76872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76872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em 3 ambientes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76872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Web, SQL no Databricks e Genie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noites, 4 camadas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negócio, os sistemas e a primeira análise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Delta, pipeline e testes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55464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 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+ Agentes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o agente de 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76872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no ar e defender internamente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noite entrega alguma coisa que roda. E cada noite abre o problema que a seguinte resolve.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ser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dados na Rota do Perfume. Primeiro dia.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diretoria já quer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COMERCIAL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92024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esse mês?"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VENDAS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"Quais são os melhores clientes?"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46704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DE PREÇOS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34670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"Onde a gente está perdendo margem?"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59936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142337"/>
          </a:solidFill>
          <a:ln w="1905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599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405993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"Preciso disso para ontem."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combinados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tenta fazer junto agora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 primeiro. O vídeo fica gravado e o repositório é seu.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no fim das aulas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único liberado na última noite.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69736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Sorteio de 1:1 comigo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carreira, eu e você planejando.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vende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abrir qualquer ferramenta.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DA VENDA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Rota do Perfume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84248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21992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21992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41064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41064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0136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0136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41464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79208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79208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perfumaria a recompra é tudo: o cliente volta pelo lançamento e some quando falta o produto da moda.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NESSA HISTÓRIA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atores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uma carteira de clientes. Visita, tira pedido, sofre com meta.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34056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Perfumaria, farmácia, revendedora. Compra por marca e por giro.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55464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comercial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número, distribui carteira, decide onde apertar.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76872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que precisa transformar tudo isso em decisão.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IMPORTA DE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área comercial quer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três perguntas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comprar?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747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sumindo?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vamos vender?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seu dashboard não responde nenhuma dessas, ele não vai ser aberto.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trava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037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103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Ruptura no perfume da moda: a venda não migra para outro, ela some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243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5237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que comprava todo mês e sumiu — e ninguém percebeu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9443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que não chegou na carteira certa, no mês certo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64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desligado e a carteira dele ficou órfã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856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no kit presente, que já é a categoria de menor margem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desses é um problema de dado. E cada um vira uma coluna no nosso projeto.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INSIGHT DO SETOR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distribuidora vende antes da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11480" y="17190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varejo precisa estar abastecido quando o consumidor chega. Então o pico da Rota do Perfume é sempre o mês anterior à data. As barras abaixo são a receita real dos 12 meses fechados da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" y="3338683"/>
            <a:ext cx="603504" cy="474365"/>
          </a:xfrm>
          <a:prstGeom prst="roundRect">
            <a:avLst>
              <a:gd name="adj" fmla="val 5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4805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43000" y="3318928"/>
            <a:ext cx="603504" cy="494120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37944" y="3030047"/>
            <a:ext cx="603504" cy="783001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3794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32888" y="2551957"/>
            <a:ext cx="603504" cy="1261091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3288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2985499"/>
            <a:ext cx="603504" cy="827549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2783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22776" y="2742550"/>
            <a:ext cx="603504" cy="1070498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2277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3125242"/>
            <a:ext cx="603504" cy="687806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1772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12664" y="3095916"/>
            <a:ext cx="603504" cy="717132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1266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07608" y="2992531"/>
            <a:ext cx="603504" cy="820517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0760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2552" y="2395729"/>
            <a:ext cx="603504" cy="1417319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0255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97496" y="2765210"/>
            <a:ext cx="603504" cy="1047838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9749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92440" y="3272761"/>
            <a:ext cx="603504" cy="540287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9244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DEZ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6304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6304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· Dia das Mães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0332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0332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· Namorados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· Black Friday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na base: outubro fez R$ 7,0 mi e janeiro R$ 2,5 mi. Quem não entende o negócio lê esse gráfico ao contrário.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gente escopa um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na consultoria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são os atores e onde o processo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alvo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todos os travamentos, qual atacar primeiro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69736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entregável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existir e como saber que funcionou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é a lógica do Design Sprint, adaptada. Na consultoria é um processo de dias, com o cliente na sala. Hoje eu comprimi para caber numa noite.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→ escolha → protótipo → teste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· levanta tudo que a área pediu, sem filtrar nem julgar ainda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· uma só. A que vale mais dinheiro e cabe no dado que existe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· a versão mais burra que já responde. Aqui, uma query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· mede contra o que aconteceu de verdade. Sem isso é opinião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· só o que passou no teste vira pipeline agendado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sprint existe para matar ideia ruim barato. Semana perdida é a que descobre no deploy o que a query responderia em 25 segundos.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CICLO, NESTE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comprar?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pedidos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diretoria quer propensão, churn e previsão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escolhido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Propensão: é a que vira ligação amanhã de manhã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query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compra + ritmo do cliente. Zero modelo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72,7%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 contra agosto. Ligar para todos: 42,3%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poderíamos…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problema vira pergunta. Ninguém propõe solução ainda.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01 · O QUE A TURMA RESPONDEU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poderíamos…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…saber quem vai comprar antes de o vendedor sair para a rua?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…perceber que um cliente sumiu enquanto ainda dá para trazer de volta?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…evitar as 4.946 visitas que encontram o cliente ausente?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…saber em julho quanto outubro vai vender, para comprar estoque a tempo?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…descobrir se vender mais está dando lucro, e não só faturamento?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regra: nenhuma frase pode conter a solução. 'Como poderíamos ter um dashboard' está errado — dashboard é resposta.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meta de 2 anos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no passado, como se já tivesse acontecido.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02 · O QUE A TURMA RESPONDEU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agosto de 2028, olhando para trás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vendedor abre a lista do dia já priorizada — e confia nela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churn caiu de 6,5% para 4% da base com histórico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da visita subiu de 46% para 55%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Recuperamos os R$ 648 mil por trimestre que hoje somem sem ninguém 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mais pergunta na reunião de onde veio aquele número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sem número é desejo. Cada linha acima tem um valor medido hoje, então daqui a dois anos dá para dizer se aconteceu ou não.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dar errado?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risco antes de construir. Depois fica caro.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03 · RISCO E COMO MITIGAR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dar errado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sujo derruba a análise → camada silver e 9 testes que quebram o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usa a lista → começar com 1 vendedor, medir, só então expandir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vira caixa-preta → régua explicável de 72,7% como piso obrigatório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estoura → serverless, e medir consumo por execução desde o dia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Pedem análise que o dado não sustenta → dizer não cedo, e mostrar por quê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último é o mais difícil: dizer 'com esse dado, não dá' para um diretor. O estoque cobre 27,4% das semanas — melhor falar isso hoje que no trimestre.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da pergunta até a ação — e o caminho de volta.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04 · O FLUXO DE ATORES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quê, e em que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pergunta 'quem vai comprar?' e cobra a resposta na segunda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transforma a pergunta em query, e a query em tabela que roda sozinha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abre a lista, escolhe 20 nomes e sai para a rua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compra — ou não atende, ou pede justo o que está em ruptura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registra tudo, e o pedido de hoje vira o dado de amanhã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é um círculo, não uma linha. O que o vendedor faz hoje alimenta o modelo que vai orientá-lo na semana que vem.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menor coisa que já responde?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não é o produto final. É o suficiente para saber se presta.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DINÂMICA 05 · O PROTÓTIPO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menor coisa que já responde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protótipo foi UMA query: última compra + ritmo de compra do 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modelo, zero dashboard, zero aplicativo — 40 linhas de 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levou 25 segundos: 72,7% de acerto contra 42,3% de ligar para todos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então o modelo entrou — e teve de bater esse número para se justificar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fizemos: interface, integração e pipeline antes de saber se funcionava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que leva uma semana não é protótipo. Se a ideia for ruim, você quer descobrir hoje — não depois de a equipe já ter construído.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de uma operação comercial.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— o que foi vendido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da transação. Ele sabe tudo o que já aconteceu no caixa.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cliente, vendedor, canal, status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do pedido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SKU, quantidade, preço praticado, desconto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Marca, nota olfativa, preço, custo, lançamento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SKU e flag de ruptura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ERP é ótimo no passado e cego no futuro. Ele nunca vai te dizer quem vai comprar amanhã.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— para quem a gente vende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do relacionamento. Ele sabe o contexto que o ERP não vê.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CNPJ, segmento, cidade — 12 capitais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vendedor atende qual cliente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resultado: pedido, sem pedido, não atendeu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foi conversado e prometido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sem pedido é o dado mais subestimado de uma operação comercial.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eles quase nunca conversam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o que foi vendido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636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496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para quem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87168"/>
            <a:ext cx="914400" cy="603504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0" y="24871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a empresa não sabe responder as três perguntas. O dado existe — só não está no mesmo lugar. Juntar os dois é o trabalho da quarta-feira.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TEM MAIS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que ninguém coloca no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Carrinho, catálogo, comportamento de navegação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34056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do gerente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 todo mundo usa e ninguém assume que existe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55464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do vendedor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de verdade acontece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76872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legado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Aquele que só uma pessoa sabe mexer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tabelas da Rota do Perfume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2491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2491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7375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2259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2259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7607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2491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7375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2259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 · 3.040 clientes · R$ 102 mi de receita · 198 mil itens vendidos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que 449 de vocês escolheram.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449 VOTOS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ESCOLHERAM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— 48% dos votos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0" y="2057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62432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97480" y="262432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312724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697480" y="3127248"/>
            <a:ext cx="181356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955280" y="3063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363016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697480" y="3630168"/>
            <a:ext cx="106680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55280" y="35661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moda. Na RedRex, minha consultoria, a gente montou um time dedicado a Databricks por causa da demanda que chega. Em algum momento da carreira você vai esbarrar com ele.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Lakehouse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87452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1874520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 e rápido. Mas caro, e não aguenta dado bruto.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660904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660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2660904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tudo. Mas vira pântano sem governança.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447288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447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54680" y="344728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dois: dado bruto no barato, com transação e governança em cima.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é o formato que faz isso funcionar: versionamento, transação e time travel em cima de arquivo.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CARTÃO, SEM PEGADINHA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roda no Free Edition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proposital: eu quero que você consiga repetir do seu lado, sem depender de empresa nenhuma.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notebooks, catálogo, dashboards, jobs e agentes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serverless, sem cluster para configurar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cuidado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cota de uso. Ligue o compute só na hora da aula.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estourar a cota, o ambiente desliga pelo resto do dia. Seus dados ficam — só o compute para.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seu dado mora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subir qualquer arquivo, entenda a hierarquia. É ela que você vai criar daqui a pouco.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8321040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22860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METASTORE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topo de tudo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2286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governança é definida, um por região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2852928"/>
            <a:ext cx="7936992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8529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78608" y="28529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agrupamento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07408" y="2852928"/>
            <a:ext cx="409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ambientes: dev, prod, ou por área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9576" y="3419856"/>
            <a:ext cx="7552944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89888" y="34198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62656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91456" y="341985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tabelas de um mesmo assunto: erp, crm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63624" y="3986784"/>
            <a:ext cx="7168896" cy="530352"/>
          </a:xfrm>
          <a:prstGeom prst="roundRect">
            <a:avLst>
              <a:gd name="adj" fmla="val 8621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773936" y="3986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3986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75504" y="3986784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em si, em formato Delta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rota_perfume.erp.pedidos   →   catálogo . schema . tabela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CONCEITO QUE CONFUNDE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External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é simples: quem manda no arquivo.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Databricks gerencia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cria, ele decide onde guardar. Se você apagar a tabela, o arquivo some junto.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por padrão. É mais simples e é o que a gente vai fazer.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6519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aponta o caminho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arquivo fica onde você mandou. Apagar a tabela não apaga o dado.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519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quando o dado já existe em outro lugar ou é compartilhado.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NA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catálogo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menu lateral: Catalog → botão Create catalog, no canto superior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name: lakehouse_rotaperfume — minúsculo, sem espaço e sem acento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Standard. É o managed — o Databricks decide onde guardar o arquivo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 Ele nasce vazio, com um schema default que a gente não vai usar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access: deixe em All workspaces por enquanto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própria tela explica: 'a catalog is the first layer of Unity Catalog's three-level namespace'. É o primeiro dos três níveis do nome.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DENTRO DO CATÁLOGO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os dois schemas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lakehouse_rotaperfume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catálogo que você acabou de criar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schema. Aqui o dado entra cru, como veio da origem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schema. Aqui ele entra limpo — é a noite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gold?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depois, quando existir fato e dimensão para guardar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DÚVIDA DE TODO MUNDO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não é tabela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aparecem embaixo do catálogo na tela. Mas fazem coisas diferentes.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gaveta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guarda linha nenhuma. Ele organiza, separa e é onde a permissão é dada.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cria dois ou três, no começo do projeto, e quase nunca mexe de novo.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6519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colunas, tipos e linhas. É o que a query lê e o que ocupa espaço em disco.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519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cria dezenas, e elas mudam toda semana conforme o projeto anda.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RESULTADO, SEM CLICAR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em quatro linhas de SQL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CATALOG IF NOT EXISTS lakehouse_rotaperfume;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SCHEMA  IF NOT EXISTS lakehouse_rotaperfume.bronze;   -- dado cru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SCHEMA  IF NOT EXISTS lakehouse_rotaperfume.silver;   -- dado limpo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VOLUME  IF NOT EXISTS lakehouse_rotaperfume.bronze.raw;  -- o CSV chega aqui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as tabelas vêm depois, quando houver dado para colocar dentro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repositório o catálogo se chama rota_perfume — crie o seu com o nome que quiser, só troque o prefixo nas queries.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POR BAIXO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uma query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828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marca, SUM(receita) FROM rota_perfume.gold.fato_vendas GROUP BY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permissão de ler essa tabela?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2491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os arquivos dessa tabela?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7375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só as colunas e partições necessárias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3B9DF5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2259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para você — e fica no log de auditoria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consulta passa por governança antes de tocar no dado. É isso que separa um lakehouse de uma pasta com arquivos.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GENTE VAI CHEGAR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" y="19659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e os 3 ambientes de resposta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963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" y="267919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2679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36192" y="2496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· Databricks + Delta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4963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pipeline e testes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09544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" y="339242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" y="33924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36192" y="3209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2095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score versionado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22776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9227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em produção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9227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rodando sozinha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montar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ambiente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databricks.com/learn/free-edition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análise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dia de trabalho. Ninguém te deu documentação.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faz no primeiro dia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Olhar o que existe: quantas tabelas, quantas linhas, qual período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volume: quantos clientes, quantos pedidos, qual ticket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o eixo do negócio: faturamento no tempo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o extremo: quem compra mais, quem compra menos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Desconfiar: sempre tem sujeira, e é melhor achar agora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 no que eu vou fazer: eu não venho com a query pronta. Venho com a pergunta. A query é consequência.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RESPONDER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 só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2679192" cy="777240"/>
          </a:xfrm>
          <a:prstGeom prst="roundRect">
            <a:avLst>
              <a:gd name="adj" fmla="val 7059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7830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 quem são os melhores clientes?"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três ambientes diferentes para responder ela.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679192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5778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27832" y="3200400"/>
            <a:ext cx="2679192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74136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74136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44184" y="3200400"/>
            <a:ext cx="2679192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90488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qual é o melhor. É sobre saber qual usar em cada situação.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um CSV, pergunta em português, tem resposta. Sem escrever uma linha de código.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para explorar uma hipótese e entender um dado novo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 pouco dado, não se repete sozinho e não é governado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pontual, nunca para operar a empresa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Ótimo para explorar. Ruim para operar.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pergunta, agora na base inteira. Preciso, reproduzível e auditável.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Escala, precisão e o resultado é sempre o mesmo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precisa saber SQL e conhecer o modelo de 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o número for para alguém tomar decisão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SQL não morreu — e não vai morrer tão cedo.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português, mas sobre o dado governado do Databricks.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 da empresa consulta sem saber 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dado estiver bagunçado, ele erra com confiança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modelo já está limpo, modelado e documentado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ponto da semana: Genie só funciona bem em cima de dado bem construído.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separa demo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134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212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Genie foi o mais confortável de todos — pergunta em português, resposta na hora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340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633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ele só acertou porque o dado estava razoável e eu sabia o que perguntar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30540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dado bagunçado, IA erra com confiança — e ninguém percebe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474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a gente arruma esse dado de verdade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895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aí o Genie deixa de ser demo e vira ferramenta que a empresa inteira usa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15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não é o que a IA substitui. É o que faz a IA funcionar.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para o código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 dataset no link da descrição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COMPLETA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dado bruto à decisão comercial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1572768" cy="2331720"/>
          </a:xfrm>
          <a:prstGeom prst="roundRect">
            <a:avLst>
              <a:gd name="adj" fmla="val 348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9019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22128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268833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31638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639312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3639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280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4884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5000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35000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5856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5856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8444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84048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04164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04164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5020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5020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+ medallion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7608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53212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73328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3328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4184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4184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6772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269480" y="178308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498080" y="193852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CDE8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498080" y="1938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60920" y="2542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ligar hoje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noites, quatro camadas. No fim, o vendedor abre o celular e já sabe para quem ligar.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TABELAS SE LIGAM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da Rota do Perfume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94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 *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94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cnpj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94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94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cidade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3392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 *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9496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9496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regiao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06040" y="173736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3405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3405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3405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data_inicio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06040" y="297180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oportunidades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34056" y="3300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34056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34056" y="3685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34056" y="3877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motivo_perda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1783080" cy="1344168"/>
          </a:xfrm>
          <a:prstGeom prst="roundRect">
            <a:avLst>
              <a:gd name="adj" fmla="val 3401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7433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 *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7433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7433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7433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74336" y="2834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24612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7433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7433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7433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408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688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688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688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quantidade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688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40880" y="324612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6889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*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6889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6889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68896" y="41513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9456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2194560" y="32918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389120" y="2011680"/>
            <a:ext cx="45720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389120" y="3200400"/>
            <a:ext cx="457200" cy="36576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62940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6629400" y="35204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7927848" y="2788920"/>
            <a:ext cx="0" cy="45720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114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CRM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28016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ERP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2860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da noite 2 é ligar esses dois lados. Hoje eles vivem em sistemas separados.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vaza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7007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5.979 oportunidades em 24 meses. É isso que o CRM guarda e quase ninguém analisa.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10800000">
            <a:off x="2788920" y="2176272"/>
            <a:ext cx="356616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8892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21762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10800000">
            <a:off x="2994660" y="2670048"/>
            <a:ext cx="315468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466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322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3200400" y="3163824"/>
            <a:ext cx="274320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3163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enviada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163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1.064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3406140" y="3657600"/>
            <a:ext cx="233172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061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3444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44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1.511 ganhas · R$ 37,2 mi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0D1522"/>
          </a:solidFill>
          <a:ln w="16510">
            <a:solidFill>
              <a:srgbClr val="8A6A2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091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perdidas · R$ 19,1 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perda nº 1: prazo de entrega. Está gravado no CRM desde sempre.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DOS 3 AMBIENTES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usar em cada situação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1148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9748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Reproduz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2311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Databricks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364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748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150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substitui o outro. O erro é usar o confortável quando a situação pede o preciso.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QUE A GENTE PROCURAVA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da noite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102,3 milhões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dos 24 meses, 27.772 pedidos faturados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3.683,70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por pedido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Outubro/2025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pico: R$ 7,0 milhões em um mês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Janeiro/2026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vale: R$ 2,5 milhões — o varejo já abasteceu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MOMENTO DA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que não roda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3.443 pedidos (12%) têm a data escrita como 15/10/2025 em vez de 2025-10-15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date_trunc('month', data_pedido) tenta converter, não consegue e derruba a 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resposta errada em silêncio: é erro na cara, e isso é melhor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try_to_date devolve NULL em vez de quebrar — aí o coalesce tenta os dois formatos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coalesce é um rascunho da camada silver. Amanhã ele vira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 na ordem: eu rodo a query errada primeiro, de propósito. O erro é que explica por que a noite 2 existe.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MEDALLION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de pé no catálogo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tabelas, 313.551 linhas. Tudo texto, sujeira preservada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Criada e vazia. É o trabalho de amanhã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Criada e vazia. Fatos e dimensões vêm depois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por bundle, 2 tarefas, 9 verificações passando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TEM AGORA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noite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 mapeado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Rota do Perfume vende e onde ela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medallion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rota_perfume com bronze, silver e gold no Unity Catalog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tabelas na bronze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313.551 linhas ingeridas, com a sujeira preservada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rodando e testado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por bundle, 9 verificações passando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· TERÇA 25/08 · 19H30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dados: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passa a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98094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8803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de verdade: CNPJ duplicado, data em dois formatos, cancelado sem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3009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medallion: bronze, silver e gold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2219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21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Lake, governança e linhagem no catálogo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4281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142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agendado, carga incremental e testes de qualidade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importa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passo depende do anterior. Se pular, vai dar erro no seguinte.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7784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Edition, sem cartão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09928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19656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0.205 ou superior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18104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74136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74136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auth login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82312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82312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bundle init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34456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44184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0488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0488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0488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com uv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42632" y="2468880"/>
            <a:ext cx="109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52360" y="2468880"/>
            <a:ext cx="1298448" cy="1417320"/>
          </a:xfrm>
          <a:prstGeom prst="roundRect">
            <a:avLst>
              <a:gd name="adj" fmla="val 3521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98664" y="261518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261518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98664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98664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versionado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skills do Databricks, MCP e guard rails. Vem no fim da aula.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02 · A CLI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a Databricks CLI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ser a versão 0.205 ou superior. A CLI antiga não tem bundle.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8321040" cy="1005840"/>
          </a:xfrm>
          <a:prstGeom prst="roundRect">
            <a:avLst>
              <a:gd name="adj" fmla="val 454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40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· Homebrew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tap databricks/tap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trust databricks/tap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databricks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3419856"/>
            <a:ext cx="8321040" cy="566928"/>
          </a:xfrm>
          <a:prstGeom prst="roundRect">
            <a:avLst>
              <a:gd name="adj" fmla="val 806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· WinGet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6941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Databricks.DatabricksCLI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8321040" cy="566928"/>
          </a:xfrm>
          <a:prstGeom prst="roundRect">
            <a:avLst>
              <a:gd name="adj" fmla="val 8065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9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e WSL · curl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https://raw.githubusercontent.com/databricks/setup-cli/main/install.sh | 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626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brew trust é novo — a partir do Homebrew 6.0.0 taps de terceiros precisam ser confiados.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03 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 criação do projeto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914400"/>
          </a:xfrm>
          <a:prstGeom prst="roundRect">
            <a:avLst>
              <a:gd name="adj" fmla="val 5000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 auth login --host https://SEU-WORKSPACE.cloud.databricks.com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o navegador. Depois confira com:  databricks catalogs list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8321040" cy="512064"/>
          </a:xfrm>
          <a:prstGeom prst="roundRect">
            <a:avLst>
              <a:gd name="adj" fmla="val 8929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077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 bundle init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default-python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0662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imersao_agosto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 exemplo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5546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602736"/>
            <a:ext cx="2011680" cy="694944"/>
          </a:xfrm>
          <a:prstGeom prst="roundRect">
            <a:avLst>
              <a:gd name="adj" fmla="val 6579"/>
            </a:avLst>
          </a:prstGeom>
          <a:solidFill>
            <a:srgbClr val="3B9DF5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367588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04304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= yes é obrigatório. O Free Edition só oferece compute serverless.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05 E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Python e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321040" cy="1207008"/>
          </a:xfrm>
          <a:prstGeom prst="roundRect">
            <a:avLst>
              <a:gd name="adj" fmla="val 3788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9339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imersao_agosto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 --python 3.12 --seed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3218688"/>
            <a:ext cx="8321040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2841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"setup inicial"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4261104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6110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3.12, não 3.13. Bibliotecas do Databricks ainda quebram na 3.13.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 ERRADO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erros que todo mundo comete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84708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47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credentials from older CLI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847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 databricks auth login de novo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35000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not found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0" y="23500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Reinicie o terminal depois de instalar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529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versão abaixo de 0.205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28529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CLI antiga. Desinstale e reinstale.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5584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falha por compute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33558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respondeu no para serverless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58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biblioteca não instala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38587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está no Python 3.13. Volte pra 3.12.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361688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361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desligado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4361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do Free Edition estourou. Espere o dia seguinte.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faz parte. Leia a mensagem — quase sempre ela já diz o que fazer.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AMANHÃ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POR HOJE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Terça, 19h30.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lugar.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no grupo do WhatsApp — é lá que eu mando o repositório, a base de dados e respondo dúvida.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DINÂMICA PARA O 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pergunta vira uma query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'Quem vai comprar?' → última compra + ritmo do cliente · noite 3, exemplo 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'Quem está sumindo?' → recência contra o ritmo dele · noite 3, exemplo 02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'Quanto vamos vender?' → índice sazonal por mês · noite 3, exemplo 03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'Vender mais dá lucro?' → margem por categoria · HOJE, exemplo 06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'Onde a receita concentra?' → curva ABC de marca · HOJE, exemplo 06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Repare: duas das cinco perguntas a gente responde HOJE, com SQL. As outras três precisam do dado limpo — e é por isso que existe a noite 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Imersão Agosto — Aula 01</dc:title>
  <dc:subject>PptxGenJS Presentation</dc:subject>
  <dc:creator>Jornada de Dados</dc:creator>
  <cp:lastModifiedBy>Jornada de Dados</cp:lastModifiedBy>
  <cp:revision>1</cp:revision>
  <dcterms:created xsi:type="dcterms:W3CDTF">2026-08-24T15:41:29Z</dcterms:created>
  <dcterms:modified xsi:type="dcterms:W3CDTF">2026-08-24T15:41:29Z</dcterms:modified>
</cp:coreProperties>
</file>