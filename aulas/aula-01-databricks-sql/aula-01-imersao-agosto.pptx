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312" r:id="rId63"/>
    <p:sldId id="313" r:id="rId6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308" r:id="rId59"/>
    <p:sldId id="309" r:id="rId60"/>
    <p:sldId id="311" r:id="rId62"/>
    <p:sldId id="310" r:id="rId61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1" r:id="rId37"/>
    <p:sldId id="292" r:id="rId38"/>
    <p:sldId id="293" r:id="rId39"/>
    <p:sldId id="294" r:id="rId40"/>
    <p:sldId id="295" r:id="rId41"/>
    <p:sldId id="296" r:id="rId42"/>
    <p:sldId id="305" r:id="rId56"/>
    <p:sldId id="306" r:id="rId57"/>
    <p:sldId id="307" r:id="rId58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7.xml"/><Relationship Id="rId27" Type="http://schemas.openxmlformats.org/officeDocument/2006/relationships/slide" Target="slides/slide32.xml"/><Relationship Id="rId28" Type="http://schemas.openxmlformats.org/officeDocument/2006/relationships/slide" Target="slides/slide33.xml"/><Relationship Id="rId29" Type="http://schemas.openxmlformats.org/officeDocument/2006/relationships/slide" Target="slides/slide34.xml"/><Relationship Id="rId30" Type="http://schemas.openxmlformats.org/officeDocument/2006/relationships/slide" Target="slides/slide35.xml"/><Relationship Id="rId31" Type="http://schemas.openxmlformats.org/officeDocument/2006/relationships/slide" Target="slides/slide36.xml"/><Relationship Id="rId32" Type="http://schemas.openxmlformats.org/officeDocument/2006/relationships/slide" Target="slides/slide37.xml"/><Relationship Id="rId33" Type="http://schemas.openxmlformats.org/officeDocument/2006/relationships/slide" Target="slides/slide38.xml"/><Relationship Id="rId34" Type="http://schemas.openxmlformats.org/officeDocument/2006/relationships/slide" Target="slides/slide39.xml"/><Relationship Id="rId35" Type="http://schemas.openxmlformats.org/officeDocument/2006/relationships/slide" Target="slides/slide40.xml"/><Relationship Id="rId36" Type="http://schemas.openxmlformats.org/officeDocument/2006/relationships/slide" Target="slides/slide41.xml"/><Relationship Id="rId37" Type="http://schemas.openxmlformats.org/officeDocument/2006/relationships/slide" Target="slides/slide42.xml"/><Relationship Id="rId38" Type="http://schemas.openxmlformats.org/officeDocument/2006/relationships/slide" Target="slides/slide43.xml"/><Relationship Id="rId39" Type="http://schemas.openxmlformats.org/officeDocument/2006/relationships/slide" Target="slides/slide44.xml"/><Relationship Id="rId40" Type="http://schemas.openxmlformats.org/officeDocument/2006/relationships/slide" Target="slides/slide45.xml"/><Relationship Id="rId41" Type="http://schemas.openxmlformats.org/officeDocument/2006/relationships/slide" Target="slides/slide46.xml"/><Relationship Id="rId42" Type="http://schemas.openxmlformats.org/officeDocument/2006/relationships/slide" Target="slides/slide47.xml"/><Relationship Id="rId43" Type="http://schemas.openxmlformats.org/officeDocument/2006/relationships/slide" Target="slides/slide51.xml"/><Relationship Id="rId44" Type="http://schemas.openxmlformats.org/officeDocument/2006/relationships/slide" Target="slides/slide52.xml"/><Relationship Id="rId45" Type="http://schemas.openxmlformats.org/officeDocument/2006/relationships/slide" Target="slides/slide53.xml"/><Relationship Id="rId46" Type="http://schemas.openxmlformats.org/officeDocument/2006/relationships/slide" Target="slides/slide54.xml"/><Relationship Id="rId47" Type="http://schemas.openxmlformats.org/officeDocument/2006/relationships/slide" Target="slides/slide55.xml"/><Relationship Id="rId48" Type="http://schemas.openxmlformats.org/officeDocument/2006/relationships/slide" Target="slides/slide56.xml"/><Relationship Id="rId49" Type="http://schemas.openxmlformats.org/officeDocument/2006/relationships/slide" Target="slides/slide57.xml"/><Relationship Id="rId50" Type="http://schemas.openxmlformats.org/officeDocument/2006/relationships/slide" Target="slides/slide58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28.xml"/><Relationship Id="rId60" Type="http://schemas.openxmlformats.org/officeDocument/2006/relationships/slide" Target="slides/slide29.xml"/><Relationship Id="rId61" Type="http://schemas.openxmlformats.org/officeDocument/2006/relationships/slide" Target="slides/slide31.xml"/><Relationship Id="rId62" Type="http://schemas.openxmlformats.org/officeDocument/2006/relationships/slide" Target="slides/slide30.xml"/><Relationship Id="rId63" Type="http://schemas.openxmlformats.org/officeDocument/2006/relationships/slide" Target="slides/slide14.xml"/><Relationship Id="rId64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7635240" y="-658368"/>
            <a:ext cx="1554480" cy="1325880"/>
          </a:xfrm>
          <a:prstGeom prst="triangl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 rot="2700000">
            <a:off x="7882128" y="118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01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1325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IMERSÃO · 24 A 27 DE AGOSTO · 19H30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11480" y="17830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Construa uma área de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e Vendas do zero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3401568"/>
            <a:ext cx="2331720" cy="4572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11480" y="340156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+ IA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926080" y="34015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01 · Objetivo e a primeira análise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CONTRATO DE HOJE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sai daqui com o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rodando.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22860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 é a aula mais estratégica das quatro. Mas eu não vou te deixar sair sem código: nos últimos 40 minutos a gente monta o ambiente e faz a primeira análise juntos.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3200400"/>
            <a:ext cx="1956816" cy="1572768"/>
          </a:xfrm>
          <a:prstGeom prst="roundRect">
            <a:avLst>
              <a:gd name="adj" fmla="val 290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33649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12648" y="36393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 negócio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12648" y="41696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uma área comercial realmente vende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32888" y="3200400"/>
            <a:ext cx="1956816" cy="1572768"/>
          </a:xfrm>
          <a:prstGeom prst="roundRect">
            <a:avLst>
              <a:gd name="adj" fmla="val 290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734056" y="33649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34056" y="36393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os sistemas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2734056" y="41696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ERP, CRM e os outros que sempre aparecem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54296" y="3200400"/>
            <a:ext cx="1956816" cy="1572768"/>
          </a:xfrm>
          <a:prstGeom prst="roundRect">
            <a:avLst>
              <a:gd name="adj" fmla="val 290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855464" y="33649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55464" y="36393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o ambiente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855464" y="41696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Free Edition, sem cartão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775704" y="3200400"/>
            <a:ext cx="1956816" cy="1572768"/>
          </a:xfrm>
          <a:prstGeom prst="roundRect">
            <a:avLst>
              <a:gd name="adj" fmla="val 290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976872" y="33649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76872" y="36393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Analisar em 3 ambientes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976872" y="41696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Web, SQL no Databricks e Genie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SEMANA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noites, 4 camadas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11480" y="214884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313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 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58775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e Análise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181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negócio, os sistemas e a primeira análise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4884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34056" y="2313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 25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58775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181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Medallion, Delta, pipeline e testes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4884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855464" y="2313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 26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58775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Ciência + Agentes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181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 de compra e o agente de IA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4884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976872" y="2313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 27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58775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181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Colocar no ar e defender internamente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noite entrega alguma coisa que roda. E cada noite abre o problema que a seguinte resolve.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acabou de ser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contratado.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Analista de dados na Rota do Perfume. Primeiro dia.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SEMANA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diretoria já quer tudo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920240"/>
            <a:ext cx="8321040" cy="603504"/>
          </a:xfrm>
          <a:prstGeom prst="roundRect">
            <a:avLst>
              <a:gd name="adj" fmla="val 7576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92024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DIRETORIA COMERCIAL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926080" y="1920240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"Qual foi nossa receita esse mês?"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1480" y="2633472"/>
            <a:ext cx="8321040" cy="603504"/>
          </a:xfrm>
          <a:prstGeom prst="roundRect">
            <a:avLst>
              <a:gd name="adj" fmla="val 7576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63347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GERENTE DE VENDAS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926080" y="2633472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"Quais são os melhores clientes?"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11480" y="3346704"/>
            <a:ext cx="8321040" cy="603504"/>
          </a:xfrm>
          <a:prstGeom prst="roundRect">
            <a:avLst>
              <a:gd name="adj" fmla="val 7576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346704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DIRETORIA DE PREÇOS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926080" y="3346704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"Onde a gente está perdendo margem?"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11480" y="4059936"/>
            <a:ext cx="8321040" cy="603504"/>
          </a:xfrm>
          <a:prstGeom prst="roundRect">
            <a:avLst>
              <a:gd name="adj" fmla="val 7576"/>
            </a:avLst>
          </a:prstGeom>
          <a:solidFill>
            <a:srgbClr val="142337"/>
          </a:solidFill>
          <a:ln w="1905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5993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926080" y="4059936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"Preciso disso para ontem."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combinados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03120"/>
            <a:ext cx="2663952" cy="1828800"/>
          </a:xfrm>
          <a:prstGeom prst="roundRect">
            <a:avLst>
              <a:gd name="adj" fmla="val 2500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26771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54203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tenta fazer junto agora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072384"/>
            <a:ext cx="226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Assiste primeiro. O vídeo fica gravado e o repositório é seu.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103120"/>
            <a:ext cx="2663952" cy="1828800"/>
          </a:xfrm>
          <a:prstGeom prst="roundRect">
            <a:avLst>
              <a:gd name="adj" fmla="val 2500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41192" y="226771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41192" y="254203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Certificado no fim das aulas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441192" y="3072384"/>
            <a:ext cx="226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Formulário único liberado na última noite.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68568" y="2103120"/>
            <a:ext cx="2663952" cy="1828800"/>
          </a:xfrm>
          <a:prstGeom prst="roundRect">
            <a:avLst>
              <a:gd name="adj" fmla="val 2500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69736" y="226771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69736" y="254203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Sorteio de 1:1 comigo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269736" y="3072384"/>
            <a:ext cx="226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de carreira, eu e você planejando.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uma área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 vende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abrir qualquer ferramenta.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DA VENDA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funil da Rota do Perfume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02920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Prospecção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984248" y="2011680"/>
            <a:ext cx="237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221992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221992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703320" y="2011680"/>
            <a:ext cx="237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941064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941064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22392" y="2011680"/>
            <a:ext cx="237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0136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660136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Faturamento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41464" y="2011680"/>
            <a:ext cx="237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79208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3B9DF5"/>
          </a:solidFill>
          <a:ln w="1651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379208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Recompra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perfumaria a recompra é tudo: o cliente volta pelo lançamento e some quando falta o produto da moda.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ESTÁ NESSA HISTÓRIA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atores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48840"/>
            <a:ext cx="1956816" cy="1783080"/>
          </a:xfrm>
          <a:prstGeom prst="roundRect">
            <a:avLst>
              <a:gd name="adj" fmla="val 2564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3500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Vendedor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12648" y="2898648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uma carteira de clientes. Visita, tira pedido, sofre com meta.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32888" y="2148840"/>
            <a:ext cx="1956816" cy="1783080"/>
          </a:xfrm>
          <a:prstGeom prst="roundRect">
            <a:avLst>
              <a:gd name="adj" fmla="val 2564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734056" y="23500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2734056" y="2898648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Perfumaria, farmácia, revendedora. Compra por marca e por giro.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4296" y="2148840"/>
            <a:ext cx="1956816" cy="1783080"/>
          </a:xfrm>
          <a:prstGeom prst="roundRect">
            <a:avLst>
              <a:gd name="adj" fmla="val 2564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55464" y="23500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comercial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855464" y="2898648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 número, distribui carteira, decide onde apertar.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75704" y="2148840"/>
            <a:ext cx="1956816" cy="1783080"/>
          </a:xfrm>
          <a:prstGeom prst="roundRect">
            <a:avLst>
              <a:gd name="adj" fmla="val 2564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976872" y="23500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976872" y="2898648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analista que precisa transformar tudo isso em decisão.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IMPORTA DE VERDADE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área comercial quer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responder três perguntas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2514600"/>
            <a:ext cx="2697480" cy="1417320"/>
          </a:xfrm>
          <a:prstGeom prst="roundRect">
            <a:avLst>
              <a:gd name="adj" fmla="val 3226"/>
            </a:avLst>
          </a:prstGeom>
          <a:solidFill>
            <a:srgbClr val="0D1522"/>
          </a:solidFill>
          <a:ln w="1778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670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96265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vai comprar?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34564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2514600"/>
            <a:ext cx="2697480" cy="1417320"/>
          </a:xfrm>
          <a:prstGeom prst="roundRect">
            <a:avLst>
              <a:gd name="adj" fmla="val 3226"/>
            </a:avLst>
          </a:prstGeom>
          <a:solidFill>
            <a:srgbClr val="0D1522"/>
          </a:solidFill>
          <a:ln w="1778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74720" y="2670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74720" y="296265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está sumindo?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474720" y="34564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0760" y="2514600"/>
            <a:ext cx="2697480" cy="1417320"/>
          </a:xfrm>
          <a:prstGeom prst="roundRect">
            <a:avLst>
              <a:gd name="adj" fmla="val 3226"/>
            </a:avLst>
          </a:prstGeom>
          <a:solidFill>
            <a:srgbClr val="0D1522"/>
          </a:solidFill>
          <a:ln w="1778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309360" y="2670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296265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vamos vender?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309360" y="34564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previsão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seu dashboard não responde nenhuma dessas, ele não vai ser aberto.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venda trava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20370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10312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Ruptura no perfume da moda: a venda não migra para outro, ela some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62432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52374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que comprava todo mês e sumiu — e ninguém percebeu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04495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94436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Lançamento que não chegou na carteira certa, no mês certo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6557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6499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Vendedor desligado e a carteira dele ficou órfã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8561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no kit presente, que já é a categoria de menor margem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um desses é um problema de dado. E cada um vira uma coluna no nosso projeto.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INSIGHT DO SETOR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distribuidora vende antes da data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11480" y="171907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varejo precisa estar abastecido quando o consumidor chega. Então o pico da Rota do Perfume é sempre o mês anterior à data. As barras abaixo são a receita real dos 12 meses fechados da base.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48056" y="3338683"/>
            <a:ext cx="603504" cy="474365"/>
          </a:xfrm>
          <a:prstGeom prst="roundRect">
            <a:avLst>
              <a:gd name="adj" fmla="val 5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48056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JAN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43000" y="3318928"/>
            <a:ext cx="603504" cy="494120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143000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FEV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37944" y="3030047"/>
            <a:ext cx="603504" cy="783001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37944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532888" y="2551957"/>
            <a:ext cx="603504" cy="1261091"/>
          </a:xfrm>
          <a:prstGeom prst="roundRect">
            <a:avLst>
              <a:gd name="adj" fmla="val 454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532888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ABR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227832" y="2985499"/>
            <a:ext cx="603504" cy="827549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227832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922776" y="2742550"/>
            <a:ext cx="603504" cy="1070498"/>
          </a:xfrm>
          <a:prstGeom prst="roundRect">
            <a:avLst>
              <a:gd name="adj" fmla="val 454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922776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17720" y="3125242"/>
            <a:ext cx="603504" cy="687806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617720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JUL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312664" y="3095916"/>
            <a:ext cx="603504" cy="717132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312664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007608" y="2992531"/>
            <a:ext cx="603504" cy="820517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007608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702552" y="2395729"/>
            <a:ext cx="603504" cy="1417319"/>
          </a:xfrm>
          <a:prstGeom prst="roundRect">
            <a:avLst>
              <a:gd name="adj" fmla="val 454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702552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397496" y="2765210"/>
            <a:ext cx="603504" cy="1047838"/>
          </a:xfrm>
          <a:prstGeom prst="roundRect">
            <a:avLst>
              <a:gd name="adj" fmla="val 454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397496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NOV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8092440" y="3272761"/>
            <a:ext cx="603504" cy="540287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092440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DEZ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463040" y="4224528"/>
            <a:ext cx="2103120" cy="402336"/>
          </a:xfrm>
          <a:prstGeom prst="roundRect">
            <a:avLst>
              <a:gd name="adj" fmla="val 11364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463040" y="422452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 · Dia das Mães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703320" y="4224528"/>
            <a:ext cx="2103120" cy="402336"/>
          </a:xfrm>
          <a:prstGeom prst="roundRect">
            <a:avLst>
              <a:gd name="adj" fmla="val 11364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3703320" y="422452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 · Namorados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943600" y="4224528"/>
            <a:ext cx="2103120" cy="402336"/>
          </a:xfrm>
          <a:prstGeom prst="roundRect">
            <a:avLst>
              <a:gd name="adj" fmla="val 11364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5943600" y="422452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· Black Friday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11480" y="47091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na base: outubro fez R$ 7,0 mi e janeiro R$ 2,5 mi. Quem não entende o negócio lê esse gráfico ao contrário.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gente escopa um</a:t>
            </a:r>
            <a:endParaRPr lang="en-US" sz="2900" dirty="0"/>
          </a:p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na consultoria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11480" y="2468880"/>
            <a:ext cx="2663952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63347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90779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438144"/>
            <a:ext cx="226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são os atores e onde o processo trava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468880"/>
            <a:ext cx="2663952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41192" y="263347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41192" y="290779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Escolher o alvo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441192" y="3438144"/>
            <a:ext cx="226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todos os travamentos, qual atacar primeiro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68568" y="2468880"/>
            <a:ext cx="2663952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69736" y="263347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69736" y="290779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o entregável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269736" y="3438144"/>
            <a:ext cx="226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precisa existir e como saber que funcionou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4206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Isso é a lógica do Design Sprint, adaptada. Na consultoria é um processo de dias, com o cliente na sala. Hoje eu comprimi para caber numa noite.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SPRINT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Ideia → escolha → protótipo → teste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IDEIA · levanta tudo que a área pediu, sem filtrar nem julgar ainda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ESCOLHA · uma só. A que vale mais dinheiro e cabe no dado que existe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PROTÓTIPO · a versão mais burra que já responde. Aqui, uma query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· mede contra o que aconteceu de verdade. Sem isso é opinião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DESENVOLVIMENTO · só o que passou no teste vira pipeline agendado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sprint existe para matar ideia ruim barato. Semana perdida é a que descobre no deploy o que a query responderia em 25 segundos.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CICLO, NESTE PROJETO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vai comprar?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pedidos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diretoria quer propensão, churn e previsão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escolhido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Propensão: é a que vira ligação amanhã de manhã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query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Última compra + ritmo do cliente. Zero modelo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72,7%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Testado contra agosto. Ligar para todos: 42,3%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onde vem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dado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sistemas de uma operação comercial.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 — o que foi vendido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da transação. Ele sabe tudo o que já aconteceu no caixa.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Data, cliente, vendedor, canal, status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34056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Itens do pedido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734056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SKU, quantidade, preço praticado, desconto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55464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855464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Marca, nota olfativa, preço, custo, lançamento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75704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976872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Estoque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976872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por SKU e flag de ruptura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ERP é ótimo no passado e cego no futuro. Ele nunca vai te dizer quem vai comprar amanhã.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— para quem a gente vende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do relacionamento. Ele sabe o contexto que o ERP não vê.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CNPJ, segmento, cidade — 12 capitais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34056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Carteira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734056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vendedor atende qual cliente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55464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855464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Data, resultado: pedido, sem pedido, não atendeu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75704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976872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976872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já foi conversado e prometido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 sem pedido é o dado mais subestimado de uma operação comercial.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eles quase nunca conversam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11480" y="210312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3042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7249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 o que foi vendido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166360" y="210312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394960" y="23042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394960" y="27249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 para quem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0" y="2487168"/>
            <a:ext cx="914400" cy="603504"/>
          </a:xfrm>
          <a:prstGeom prst="roundRect">
            <a:avLst>
              <a:gd name="adj" fmla="val 50000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114800" y="2487168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11480" y="3794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por isso que a empresa não sabe responder as três perguntas. O dado existe — só não está no mesmo lugar. Juntar os dois é o trabalho da quarta-feira.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TEM MAIS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sistemas que ninguém coloca no slide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2286000"/>
            <a:ext cx="1956816" cy="1691640"/>
          </a:xfrm>
          <a:prstGeom prst="roundRect">
            <a:avLst>
              <a:gd name="adj" fmla="val 270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4871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12648" y="30358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Carrinho, catálogo, comportamento de navegação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32888" y="2286000"/>
            <a:ext cx="1956816" cy="1691640"/>
          </a:xfrm>
          <a:prstGeom prst="roundRect">
            <a:avLst>
              <a:gd name="adj" fmla="val 2703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734056" y="24871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 do gerente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2734056" y="30358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que todo mundo usa e ninguém assume que existe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4296" y="2286000"/>
            <a:ext cx="1956816" cy="1691640"/>
          </a:xfrm>
          <a:prstGeom prst="roundRect">
            <a:avLst>
              <a:gd name="adj" fmla="val 270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55464" y="24871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do vendedor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855464" y="30358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venda de verdade acontece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75704" y="2286000"/>
            <a:ext cx="1956816" cy="1691640"/>
          </a:xfrm>
          <a:prstGeom prst="roundRect">
            <a:avLst>
              <a:gd name="adj" fmla="val 270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976872" y="24871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legado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976872" y="30358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Aquele que só uma pessoa sabe mexer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NOSSO PROJETO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tabelas da Rota do Perfume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05740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76072" y="215798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76072" y="245973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60320" y="205740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724912" y="215798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24912" y="245973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09160" y="205740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73752" y="215798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carteira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73752" y="245973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0" y="205740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022592" y="215798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visitas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022592" y="245973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292608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76072" y="302666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produtos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6072" y="332841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560320" y="292608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724912" y="302666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24912" y="332841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292608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873752" y="302666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itens_pedido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73752" y="332841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58000" y="292608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022592" y="302666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estoque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022592" y="332841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meses · 3.040 clientes · R$ 102 mi de receita · 198 mil itens vendidos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stack que 449 de vocês escolheram.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7635240" y="-658368"/>
            <a:ext cx="1554480" cy="1325880"/>
          </a:xfrm>
          <a:prstGeom prst="triangl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 rot="2700000">
            <a:off x="7882128" y="118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449 VOTOS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VOCÊS ESCOLHERAM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— 48% dos votos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11480" y="20574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97480" y="212140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697480" y="212140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955280" y="2057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48%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25603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697480" y="262432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2697480" y="2624328"/>
            <a:ext cx="2560320" cy="182880"/>
          </a:xfrm>
          <a:prstGeom prst="roundRect">
            <a:avLst>
              <a:gd name="adj" fmla="val 50000"/>
            </a:avLst>
          </a:prstGeom>
          <a:solidFill>
            <a:srgbClr val="27405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955280" y="256032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3063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697480" y="312724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697480" y="3127248"/>
            <a:ext cx="1813560" cy="182880"/>
          </a:xfrm>
          <a:prstGeom prst="roundRect">
            <a:avLst>
              <a:gd name="adj" fmla="val 50000"/>
            </a:avLst>
          </a:prstGeom>
          <a:solidFill>
            <a:srgbClr val="27405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955280" y="306324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17%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35661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Snowflake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697480" y="363016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697480" y="3630168"/>
            <a:ext cx="1066800" cy="182880"/>
          </a:xfrm>
          <a:prstGeom prst="roundRect">
            <a:avLst>
              <a:gd name="adj" fmla="val 50000"/>
            </a:avLst>
          </a:prstGeom>
          <a:solidFill>
            <a:srgbClr val="27405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955280" y="35661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10%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11480" y="4114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moda. Na RedRex, minha consultoria, a gente montou um time dedicado a Databricks por causa da demanda que chega. Em algum momento da carreira você vai esbarrar com ele.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CONCEITO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Lakehouse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874520"/>
            <a:ext cx="8321040" cy="676656"/>
          </a:xfrm>
          <a:prstGeom prst="roundRect">
            <a:avLst>
              <a:gd name="adj" fmla="val 67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87452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Warehouse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154680" y="1874520"/>
            <a:ext cx="5303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Organizado e rápido. Mas caro, e não aguenta dado bruto.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11480" y="2660904"/>
            <a:ext cx="8321040" cy="676656"/>
          </a:xfrm>
          <a:prstGeom prst="roundRect">
            <a:avLst>
              <a:gd name="adj" fmla="val 67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2660904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Lake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154680" y="2660904"/>
            <a:ext cx="5303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Aceita tudo. Mas vira pântano sem governança.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11480" y="3447288"/>
            <a:ext cx="8321040" cy="676656"/>
          </a:xfrm>
          <a:prstGeom prst="roundRect">
            <a:avLst>
              <a:gd name="adj" fmla="val 6757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3447288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Lakehouse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154680" y="3447288"/>
            <a:ext cx="5303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dois: dado bruto no barato, com transação e governança em cima.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1148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Lake é o formato que faz isso funcionar: versionamento, transação e time travel em cima de arquivo.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CARTÃO, SEM PEGADINHA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roda no Free Edition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proposital: eu quero que você consiga repetir do seu lado, sem depender de empresa nenhuma.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dá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SQL, notebooks, catálogo, dashboards, jobs e agentes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funciona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serverless, sem cluster para configurar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cuidado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cota de uso. Ligue o compute só na hora da aula.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estourar a cota, o ambiente desliga pelo resto do dia. Seus dados ficam — só o compute para.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CATALOG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seu dado mora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subir qualquer arquivo, entenda a hierarquia. É ela que você vai criar daqui a pouco.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286000"/>
            <a:ext cx="8321040" cy="530352"/>
          </a:xfrm>
          <a:prstGeom prst="roundRect">
            <a:avLst>
              <a:gd name="adj" fmla="val 8621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21792" y="228600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METASTORE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194560" y="228600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topo de tudo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023360" y="2286000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governança é definida, um por região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95528" y="2852928"/>
            <a:ext cx="7936992" cy="530352"/>
          </a:xfrm>
          <a:prstGeom prst="roundRect">
            <a:avLst>
              <a:gd name="adj" fmla="val 8621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05840" y="2852928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CATALOG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578608" y="285292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agrupamento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07408" y="2852928"/>
            <a:ext cx="409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 ambientes: dev, prod, ou por área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79576" y="3419856"/>
            <a:ext cx="7552944" cy="530352"/>
          </a:xfrm>
          <a:prstGeom prst="roundRect">
            <a:avLst>
              <a:gd name="adj" fmla="val 8621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389888" y="3419856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962656" y="341985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pasta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791456" y="3419856"/>
            <a:ext cx="3712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agrupa tabelas de um mesmo assunto: erp, crm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563624" y="3986784"/>
            <a:ext cx="7168896" cy="530352"/>
          </a:xfrm>
          <a:prstGeom prst="roundRect">
            <a:avLst>
              <a:gd name="adj" fmla="val 8621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773936" y="3986784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46704" y="398678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dado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175504" y="3986784"/>
            <a:ext cx="33284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 em si, em formato Delta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1480" y="44988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rota_perfume.erp.pedidos   →   catálogo . schema . tabela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CONCEITO QUE CONFUNDE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vs External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diferença é simples: quem manda no arquivo.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377440"/>
            <a:ext cx="4023360" cy="2057400"/>
          </a:xfrm>
          <a:prstGeom prst="roundRect">
            <a:avLst>
              <a:gd name="adj" fmla="val 2667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67512" y="256032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67512" y="2871216"/>
            <a:ext cx="3511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Databricks gerencia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67512" y="3218688"/>
            <a:ext cx="3511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cria, ele decide onde guardar. Se você apagar a tabela, o arquivo some junto.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67512" y="3877056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por padrão. É mais simples e é o que a gente vai fazer.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2377440"/>
            <a:ext cx="4023360" cy="2057400"/>
          </a:xfrm>
          <a:prstGeom prst="roundRect">
            <a:avLst>
              <a:gd name="adj" fmla="val 2667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965192" y="256032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EXTERNAL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65192" y="2871216"/>
            <a:ext cx="3511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aponta o caminho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65192" y="3218688"/>
            <a:ext cx="3511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arquivo fica onde você mandou. Apagar a tabela não apaga o dado.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965192" y="3877056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quando o dado já existe em outro lugar ou é compartilhado.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 · NA INTERFACE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o catálogo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menu lateral: Catalog → botão Create catalog, no canto superior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name: lakehouse_rotaperfume — minúsculo, sem espaço e sem acento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Type: Standard. É o managed — o Databricks decide onde guardar o arquivo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Create. Ele nasce vazio, com um schema default que a gente não vai usar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 access: deixe em All workspaces por enquanto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própria tela explica: 'a catalog is the first layer of Unity Catalog's three-level namespace'. É o primeiro dos três níveis do nome.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DENTRO DO CATÁLOGO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os dois schemas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lakehouse_rotaperfume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catálogo que você acabou de criar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schema. Aqui o dado entra cru, como veio da origem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schema. Aqui ele entra limpo — é a noite 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gold?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Vem depois, quando existir fato e dimensão para guardar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DÚVIDA DE TODO MUNDO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não é tabela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 aparecem embaixo do catálogo na tela. Mas fazem coisas diferentes.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377440"/>
            <a:ext cx="4023360" cy="2057400"/>
          </a:xfrm>
          <a:prstGeom prst="roundRect">
            <a:avLst>
              <a:gd name="adj" fmla="val 2667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67512" y="256032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67512" y="2871216"/>
            <a:ext cx="3511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uma gaveta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67512" y="3218688"/>
            <a:ext cx="3511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guarda linha nenhuma. Ele organiza, separa e é onde a permissão é dada.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67512" y="3877056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cria dois ou três, no começo do projeto, e quase nunca mexe de novo.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2377440"/>
            <a:ext cx="4023360" cy="2057400"/>
          </a:xfrm>
          <a:prstGeom prst="roundRect">
            <a:avLst>
              <a:gd name="adj" fmla="val 2667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965192" y="256032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TABELA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65192" y="2871216"/>
            <a:ext cx="3511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dado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65192" y="3218688"/>
            <a:ext cx="3511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colunas, tipos e linhas. É o que a query lê e o que ocupa espaço em disco.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965192" y="3877056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cria dezenas, e elas mudam toda semana conforme o projeto anda.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RESULTADO, SEM CLICAR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em quatro linhas de SQL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CATALOG IF NOT EXISTS lakehouse_rotaperfume;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SCHEMA  IF NOT EXISTS lakehouse_rotaperfume.bronze;   -- dado cru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SCHEMA  IF NOT EXISTS lakehouse_rotaperfume.silver;   -- dado limpo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VOLUME  IF NOT EXISTS lakehouse_rotaperfume.bronze.raw;  -- o CSV chega aqui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 as tabelas vêm depois, quando houver dado para colocar dentro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repositório o catálogo se chama rota_perfume — crie o seu com o nome que quiser, só troque o prefixo nas queries.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ACONTECE POR BAIXO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de uma query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828800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142337"/>
          </a:solidFill>
          <a:ln w="1778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" y="182880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marca, SUM(receita) FROM rota_perfume.gold.fato_vendas GROUP BY 1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11480" y="2743200"/>
            <a:ext cx="2011680" cy="1325880"/>
          </a:xfrm>
          <a:prstGeom prst="roundRect">
            <a:avLst>
              <a:gd name="adj" fmla="val 3448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76072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76072" y="312724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Catalog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76072" y="3438144"/>
            <a:ext cx="16824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tem permissão de ler essa tabela?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2743200"/>
            <a:ext cx="137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60320" y="2743200"/>
            <a:ext cx="2011680" cy="1325880"/>
          </a:xfrm>
          <a:prstGeom prst="roundRect">
            <a:avLst>
              <a:gd name="adj" fmla="val 3448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724912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24912" y="312724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Metastore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24912" y="3438144"/>
            <a:ext cx="16824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estão os arquivos dessa tabela?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2743200"/>
            <a:ext cx="137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09160" y="2743200"/>
            <a:ext cx="2011680" cy="1325880"/>
          </a:xfrm>
          <a:prstGeom prst="roundRect">
            <a:avLst>
              <a:gd name="adj" fmla="val 3448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873752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73752" y="312724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73752" y="3438144"/>
            <a:ext cx="16824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só as colunas e partições necessárias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720840" y="2743200"/>
            <a:ext cx="137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858000" y="2743200"/>
            <a:ext cx="2011680" cy="1325880"/>
          </a:xfrm>
          <a:prstGeom prst="roundRect">
            <a:avLst>
              <a:gd name="adj" fmla="val 3448"/>
            </a:avLst>
          </a:prstGeom>
          <a:solidFill>
            <a:srgbClr val="3B9DF5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022592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D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22592" y="312724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022592" y="3438144"/>
            <a:ext cx="16824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para você — e fica no log de auditoria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11480" y="42793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consulta passa por governança antes de tocar no dado. É isso que separa um lakehouse de uma pasta com arquivos.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GENTE VAI CHEGAR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arquitetura da semana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783080"/>
            <a:ext cx="8321040" cy="658368"/>
          </a:xfrm>
          <a:prstGeom prst="roundRect">
            <a:avLst>
              <a:gd name="adj" fmla="val 6944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21792" y="1965960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21792" y="196596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536192" y="178308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e análise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0" y="178308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pergunta e os 3 ambientes de resposta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441448"/>
            <a:ext cx="8321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496312"/>
            <a:ext cx="8321040" cy="658368"/>
          </a:xfrm>
          <a:prstGeom prst="roundRect">
            <a:avLst>
              <a:gd name="adj" fmla="val 6944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21792" y="2679192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1792" y="267919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2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536192" y="2496312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Lakehouse · Databricks + Delta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0" y="24963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medallion, pipeline e testes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154680"/>
            <a:ext cx="8321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3209544"/>
            <a:ext cx="8321040" cy="658368"/>
          </a:xfrm>
          <a:prstGeom prst="roundRect">
            <a:avLst>
              <a:gd name="adj" fmla="val 6944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21792" y="3392424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21792" y="339242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536192" y="3209544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Ciência de dados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320954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 de compra e score versionado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1480" y="3867912"/>
            <a:ext cx="8321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3922776"/>
            <a:ext cx="8321040" cy="658368"/>
          </a:xfrm>
          <a:prstGeom prst="roundRect">
            <a:avLst>
              <a:gd name="adj" fmla="val 6944"/>
            </a:avLst>
          </a:prstGeom>
          <a:solidFill>
            <a:srgbClr val="3B9DF5"/>
          </a:solidFill>
          <a:ln w="1651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85800" y="3922776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de IA em produção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480560" y="3922776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operação rodando sozinha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1737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11480" y="2148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montar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ambiente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3611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D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databricks.com/learn/free-edition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primeira análise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dia de trabalho. Ninguém te deu documentação.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MÉTODO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 faz no primeiro dia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Olhar o que existe: quantas tabelas, quantas linhas, qual período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 volume: quantos clientes, quantos pedidos, qual ticket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Achar o eixo do negócio: faturamento no tempo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Procurar o extremo: quem compra mais, quem compra menos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Desconfiar: sempre tem sujeira, e é melhor achar agora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Repara no que eu vou fazer: eu não venho com a query pronta. Venho com a pergunta. A query é consequência.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2679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VAMOS RESPONDER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26791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pergunta só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783080"/>
            <a:ext cx="2679192" cy="777240"/>
          </a:xfrm>
          <a:prstGeom prst="roundRect">
            <a:avLst>
              <a:gd name="adj" fmla="val 7059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" y="1783080"/>
            <a:ext cx="2679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"Qual foi nossa receita e quem são os melhores clientes?"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11480" y="2743200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três ambientes diferentes para responder ela.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1480" y="3200400"/>
            <a:ext cx="2679192" cy="777240"/>
          </a:xfrm>
          <a:prstGeom prst="roundRect">
            <a:avLst>
              <a:gd name="adj" fmla="val 5882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57784" y="3291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7784" y="3529584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Web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27832" y="3200400"/>
            <a:ext cx="2679192" cy="777240"/>
          </a:xfrm>
          <a:prstGeom prst="roundRect">
            <a:avLst>
              <a:gd name="adj" fmla="val 5882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374136" y="3291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74136" y="3529584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no Databricks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44184" y="3200400"/>
            <a:ext cx="2679192" cy="777240"/>
          </a:xfrm>
          <a:prstGeom prst="roundRect">
            <a:avLst>
              <a:gd name="adj" fmla="val 5882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190488" y="3291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90488" y="3529584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11480" y="4206240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sobre qual é o melhor. É sobre saber qual usar em cada situação.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679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Web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Sobe um CSV, pergunta em português, tem resposta. Sem escrever uma linha de código.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ganha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Rápido para explorar uma hipótese e entender um dado novo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perde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Cabe pouco dado, não se repete sozinho e não é governado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pontual, nunca para operar a empresa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Ótimo para explorar. Ruim para operar.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no Databricks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mesma pergunta, agora na base inteira. Preciso, reproduzível e auditável.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ganha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Escala, precisão e o resultado é sempre o mesmo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perde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precisa saber SQL e conhecer o modelo de dados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Sempre que o número for para alguém tomar decisão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por isso que SQL não morreu — e não vai morrer tão cedo.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 em português, mas sobre o dado governado do Databricks.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ganha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Qualquer pessoa da empresa consulta sem saber SQL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perde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dado estiver bagunçado, ele erra com confiança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 modelo já está limpo, modelado e documentado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 é o ponto da semana: Genie só funciona bem em cima de dado bem construído.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 não responde pergunta. Ele constrói.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ganha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o código, roda no seu ambiente e versiona no Git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perde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de contexto e de alguém que saiba revisar o resultado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 trabalho é construir, não consultar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diferença entre pedir uma análise e ter alguém trabalhando pra você.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CONCLUSÃO DE HOJE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separa demo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produção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3134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2128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Genie foi o mais confortável de todos — pergunta em português, resposta na hora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7340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6334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 ele só acertou porque o dado estava razoável e eu sabia o que perguntar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1546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30540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dado bagunçado, IA erra com confiança — e ninguém percebe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57530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47472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Amanhã a gente arruma esse dado de verdade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99592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89534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aí o Genie deixa de ser demo e vira ferramenta que a empresa inteira usa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3159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de dados não é o que a IA substitui. É o que faz a IA funcionar.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11480" y="2240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para o código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3291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e dataset no link da descrição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VISÃO COMPLETA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dado bruto à decisão comercial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320040" y="1783080"/>
            <a:ext cx="1572768" cy="2331720"/>
          </a:xfrm>
          <a:prstGeom prst="roundRect">
            <a:avLst>
              <a:gd name="adj" fmla="val 3488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20040" y="190195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2212848"/>
            <a:ext cx="1078992" cy="365760"/>
          </a:xfrm>
          <a:prstGeom prst="can">
            <a:avLst/>
          </a:prstGeom>
          <a:solidFill>
            <a:srgbClr val="142337"/>
          </a:solidFill>
          <a:ln w="1143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66928" y="2212848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66928" y="2688336"/>
            <a:ext cx="1078992" cy="365760"/>
          </a:xfrm>
          <a:prstGeom prst="can">
            <a:avLst/>
          </a:prstGeom>
          <a:solidFill>
            <a:srgbClr val="142337"/>
          </a:solidFill>
          <a:ln w="1143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6928" y="2688336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66928" y="3163824"/>
            <a:ext cx="1078992" cy="365760"/>
          </a:xfrm>
          <a:prstGeom prst="can">
            <a:avLst/>
          </a:prstGeom>
          <a:solidFill>
            <a:srgbClr val="142337"/>
          </a:solidFill>
          <a:ln w="1143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66928" y="3163824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66928" y="3639312"/>
            <a:ext cx="1078992" cy="365760"/>
          </a:xfrm>
          <a:prstGeom prst="can">
            <a:avLst/>
          </a:prstGeom>
          <a:solidFill>
            <a:srgbClr val="142337"/>
          </a:solidFill>
          <a:ln w="1143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6928" y="3639312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892808" y="2761488"/>
            <a:ext cx="237744" cy="256032"/>
          </a:xfrm>
          <a:prstGeom prst="rightArrow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148840" y="1783080"/>
            <a:ext cx="1463040" cy="2331720"/>
          </a:xfrm>
          <a:prstGeom prst="roundRect">
            <a:avLst>
              <a:gd name="adj" fmla="val 37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350008" y="1938528"/>
            <a:ext cx="1060704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350008" y="1938528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2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258568" y="265176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INGESTÃO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58568" y="2999232"/>
            <a:ext cx="124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+ pipeline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584448" y="2761488"/>
            <a:ext cx="237744" cy="256032"/>
          </a:xfrm>
          <a:prstGeom prst="rightArrow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840480" y="1783080"/>
            <a:ext cx="1463040" cy="2331720"/>
          </a:xfrm>
          <a:prstGeom prst="roundRect">
            <a:avLst>
              <a:gd name="adj" fmla="val 37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041648" y="1938528"/>
            <a:ext cx="1060704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041648" y="1938528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2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950208" y="265176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LAKEHOUSE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50208" y="2999232"/>
            <a:ext cx="124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+ medallion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276088" y="2761488"/>
            <a:ext cx="237744" cy="256032"/>
          </a:xfrm>
          <a:prstGeom prst="rightArrow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5532120" y="1783080"/>
            <a:ext cx="1463040" cy="2331720"/>
          </a:xfrm>
          <a:prstGeom prst="roundRect">
            <a:avLst>
              <a:gd name="adj" fmla="val 37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733288" y="1938528"/>
            <a:ext cx="1060704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733288" y="1938528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3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5641848" y="265176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41848" y="2999232"/>
            <a:ext cx="124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 de compra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967728" y="2761488"/>
            <a:ext cx="237744" cy="256032"/>
          </a:xfrm>
          <a:prstGeom prst="rightArrow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7269480" y="1783080"/>
            <a:ext cx="1554480" cy="2331720"/>
          </a:xfrm>
          <a:prstGeom prst="roundRect">
            <a:avLst>
              <a:gd name="adj" fmla="val 3529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7498080" y="1938528"/>
            <a:ext cx="1097280" cy="237744"/>
          </a:xfrm>
          <a:prstGeom prst="roundRect">
            <a:avLst>
              <a:gd name="adj" fmla="val 15385"/>
            </a:avLst>
          </a:prstGeom>
          <a:solidFill>
            <a:srgbClr val="CDE8F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498080" y="193852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4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7360920" y="254203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</a:t>
            </a:r>
            <a:endParaRPr lang="en-US" sz="13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IA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60920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ligar hoje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0040" y="4315968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noites, quatro camadas. No fim, o vendedor abre o celular e já sabe para quem ligar.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AS TABELAS SE LIGAM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modelo da Rota do Perfume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11480" y="1737360"/>
            <a:ext cx="1783080" cy="1152144"/>
          </a:xfrm>
          <a:prstGeom prst="roundRect">
            <a:avLst>
              <a:gd name="adj" fmla="val 3968"/>
            </a:avLst>
          </a:prstGeom>
          <a:solidFill>
            <a:srgbClr val="0D1522"/>
          </a:solidFill>
          <a:ln w="15240">
            <a:solidFill>
              <a:srgbClr val="6FA8DC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737360"/>
            <a:ext cx="1783080" cy="292608"/>
          </a:xfrm>
          <a:prstGeom prst="rect">
            <a:avLst/>
          </a:prstGeom>
          <a:solidFill>
            <a:srgbClr val="6FA8D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1480" y="17373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39496" y="2066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cliente_id *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539496" y="22585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cnpj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39496" y="245059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segmento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39496" y="264261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cidade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11480" y="3063240"/>
            <a:ext cx="1783080" cy="960120"/>
          </a:xfrm>
          <a:prstGeom prst="roundRect">
            <a:avLst>
              <a:gd name="adj" fmla="val 4762"/>
            </a:avLst>
          </a:prstGeom>
          <a:solidFill>
            <a:srgbClr val="0D1522"/>
          </a:solidFill>
          <a:ln w="15240">
            <a:solidFill>
              <a:srgbClr val="6FA8DC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11480" y="3063240"/>
            <a:ext cx="1783080" cy="292608"/>
          </a:xfrm>
          <a:prstGeom prst="rect">
            <a:avLst/>
          </a:prstGeom>
          <a:solidFill>
            <a:srgbClr val="6FA8D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11480" y="30632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9496" y="339242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vendedor_id *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39496" y="358444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39496" y="377647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regiao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606040" y="1737360"/>
            <a:ext cx="1783080" cy="960120"/>
          </a:xfrm>
          <a:prstGeom prst="roundRect">
            <a:avLst>
              <a:gd name="adj" fmla="val 4762"/>
            </a:avLst>
          </a:prstGeom>
          <a:solidFill>
            <a:srgbClr val="0D1522"/>
          </a:solidFill>
          <a:ln w="15240">
            <a:solidFill>
              <a:srgbClr val="6FA8DC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606040" y="1737360"/>
            <a:ext cx="1783080" cy="292608"/>
          </a:xfrm>
          <a:prstGeom prst="rect">
            <a:avLst/>
          </a:prstGeom>
          <a:solidFill>
            <a:srgbClr val="6FA8D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2606040" y="17373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carteira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734056" y="2066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cliente_id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734056" y="22585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vendedor_id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2734056" y="245059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data_inicio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606040" y="2971800"/>
            <a:ext cx="1783080" cy="1152144"/>
          </a:xfrm>
          <a:prstGeom prst="roundRect">
            <a:avLst>
              <a:gd name="adj" fmla="val 3968"/>
            </a:avLst>
          </a:prstGeom>
          <a:solidFill>
            <a:srgbClr val="0D1522"/>
          </a:solidFill>
          <a:ln w="15240">
            <a:solidFill>
              <a:srgbClr val="6FA8DC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2606040" y="2971800"/>
            <a:ext cx="1783080" cy="292608"/>
          </a:xfrm>
          <a:prstGeom prst="rect">
            <a:avLst/>
          </a:prstGeom>
          <a:solidFill>
            <a:srgbClr val="6FA8D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606040" y="297180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oportunidades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734056" y="330098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cliente_id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734056" y="34930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etapa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734056" y="36850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734056" y="387705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motivo_perda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846320" y="1737360"/>
            <a:ext cx="1783080" cy="1344168"/>
          </a:xfrm>
          <a:prstGeom prst="roundRect">
            <a:avLst>
              <a:gd name="adj" fmla="val 3401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4846320" y="1737360"/>
            <a:ext cx="1783080" cy="292608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846320" y="17373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974336" y="2066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pedido_id *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974336" y="22585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cliente_id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974336" y="245059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vendedor_id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974336" y="264261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4974336" y="283464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846320" y="3246120"/>
            <a:ext cx="1783080" cy="960120"/>
          </a:xfrm>
          <a:prstGeom prst="roundRect">
            <a:avLst>
              <a:gd name="adj" fmla="val 4762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4846320" y="3246120"/>
            <a:ext cx="1783080" cy="292608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4846320" y="32461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pagamentos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974336" y="357530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pedido_id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974336" y="376732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74336" y="39593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040880" y="1737360"/>
            <a:ext cx="1783080" cy="1152144"/>
          </a:xfrm>
          <a:prstGeom prst="roundRect">
            <a:avLst>
              <a:gd name="adj" fmla="val 3968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7040880" y="1737360"/>
            <a:ext cx="1783080" cy="292608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7040880" y="17373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itens_pedido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168896" y="2066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pedido_id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168896" y="22585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sku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7168896" y="245059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quantidade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7168896" y="264261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preco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040880" y="3246120"/>
            <a:ext cx="1783080" cy="1152144"/>
          </a:xfrm>
          <a:prstGeom prst="roundRect">
            <a:avLst>
              <a:gd name="adj" fmla="val 3968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7040880" y="3246120"/>
            <a:ext cx="1783080" cy="292608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7040880" y="32461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produtos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168896" y="357530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sku *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7168896" y="376732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categoria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7168896" y="39593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preco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168896" y="41513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2194560" y="2011680"/>
            <a:ext cx="41148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2194560" y="3291840"/>
            <a:ext cx="41148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4389120" y="2011680"/>
            <a:ext cx="45720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4389120" y="3200400"/>
            <a:ext cx="457200" cy="36576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6629400" y="2011680"/>
            <a:ext cx="41148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6629400" y="3520440"/>
            <a:ext cx="41148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7927848" y="2788920"/>
            <a:ext cx="0" cy="45720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11480" y="44348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A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CRM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1280160" y="44348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ERP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2286000" y="44348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trabalho da noite 2 é ligar esses dois lados. Hoje eles vivem em sistemas separados.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FUNIL COMERCIAL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venda vaza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70078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5.979 oportunidades em 24 meses. É isso que o CRM guarda e quase ninguém analisa.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10800000">
            <a:off x="2788920" y="2176272"/>
            <a:ext cx="3566160" cy="457200"/>
          </a:xfrm>
          <a:prstGeom prst="trapezoid">
            <a:avLst/>
          </a:prstGeom>
          <a:solidFill>
            <a:srgbClr val="142337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788920" y="217627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Prospecção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37960" y="217627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 rot="10800000">
            <a:off x="2994660" y="2670048"/>
            <a:ext cx="3154680" cy="457200"/>
          </a:xfrm>
          <a:prstGeom prst="trapezoid">
            <a:avLst/>
          </a:prstGeom>
          <a:solidFill>
            <a:srgbClr val="142337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94660" y="26700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Qualificação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32220" y="267004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rot="10800000">
            <a:off x="3200400" y="3163824"/>
            <a:ext cx="2743200" cy="457200"/>
          </a:xfrm>
          <a:prstGeom prst="trapezoid">
            <a:avLst/>
          </a:prstGeom>
          <a:solidFill>
            <a:srgbClr val="142337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200400" y="316382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enviada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26480" y="316382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1.064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rot="10800000">
            <a:off x="3406140" y="3657600"/>
            <a:ext cx="2331720" cy="457200"/>
          </a:xfrm>
          <a:prstGeom prst="trapezoid">
            <a:avLst/>
          </a:prstGeom>
          <a:solidFill>
            <a:srgbClr val="142337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406140" y="36576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Negociação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20740" y="36576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34440" y="4480560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234440" y="4480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1.511 ganhas · R$ 37,2 mi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480560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0D1522"/>
          </a:solidFill>
          <a:ln w="16510">
            <a:solidFill>
              <a:srgbClr val="8A6A2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709160" y="4480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790 perdidas · R$ 19,1 mi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11480" y="413308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Motivo de perda nº 1: prazo de entrega. Está gravado no CRM desde sempre.</a:t>
            </a:r>
            <a:endParaRPr lang="en-US" sz="11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 DOS 3 AMBIENTES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usar em cada situação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11480" y="184708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697480" y="184708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206240" y="184708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Reproduz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715000" y="184708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Governado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223760" y="184708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Constrói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11480" y="2231136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0080" y="223113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Web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697480" y="2231136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06240" y="2231136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715000" y="2231136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223760" y="2231136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11480" y="2798064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40080" y="279806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Databricks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697480" y="2798064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206240" y="2798064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715000" y="2798064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223760" y="2798064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11480" y="3364992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40080" y="336499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697480" y="33649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206240" y="33649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715000" y="33649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223760" y="33649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11480" y="44805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substitui o outro. O erro é usar o confortável quando a situação pede o preciso.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NÚMERO QUE A GENTE PROCURAVA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resposta da noite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102,3 milhões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dos 24 meses, 27.772 pedidos faturados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3.683,70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 médio por pedido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Outubro/2025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pico: R$ 7,0 milhões em um mês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Janeiro/2026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vale: R$ 2,5 milhões — o varejo já abasteceu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MOMENTO DA VERDADE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query que não roda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3.443 pedidos (12%) têm a data escrita como 15/10/2025 em vez de 2025-10-15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date_trunc('month', data_pedido) tenta converter, não consegue e derruba a query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resposta errada em silêncio: é erro na cara, e isso é melhor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try_to_date devolve NULL em vez de quebrar — aí o coalesce tenta os dois formatos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 coalesce é um rascunho da camada silver. Amanhã ele vira pipeline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Repara na ordem: eu rodo a query errada primeiro, de propósito. O erro é que explica por que a noite 2 existe.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MEDALLION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ficou de pé no catálogo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tabelas, 313.551 linhas. Tudo texto, sujeira preservada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Criada e vazia. É o trabalho de amanhã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Criada e vazia. Fatos e dimensões vêm depois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por bundle, 2 tarefas, 9 verificações passando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VOCÊ TEM AGORA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 da noite 1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negócio mapeado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Rota do Perfume vende e onde ela trava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 medallion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rota_perfume com bronze, silver e gold no Unity Catalog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tabelas na bronze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313.551 linhas ingeridas, com a sujeira preservada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rodando e testado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por bundle, 9 verificações passando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AMANHÃ · TERÇA 25/08 · 19H30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de dados: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projeto passa a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rodar sozinho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98094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288036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Limpeza de verdade: CNPJ duplicado, data em dois formatos, cancelado sem flag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40156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330098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medallion: bronze, silver e gold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82219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372160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Lake, governança e linhagem no catálogo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24281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414223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agendado, carga incremental e testes de qualidade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ordem importa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passo depende do anterior. Se pular, vai dar erro no seguinte.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7784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57784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57784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Free Edition, sem cartão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709928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819656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65960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965960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65960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 0.205 ou superior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118104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27832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74136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74136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374136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74136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auth login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26280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36008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82312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82312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782312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82312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bundle init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934456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044184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90488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90488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190488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190488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3.12 com uv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342632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452360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98664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98664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598664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598664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versionado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1148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Depois: skills do Databricks, MCP e guard rails. Vem no fim da aula.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02 · A CLI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Instalar a Databricks CLI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1148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ser a versão 0.205 ou superior. A CLI antiga não tem bundle.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286000"/>
            <a:ext cx="8321040" cy="1005840"/>
          </a:xfrm>
          <a:prstGeom prst="roundRect">
            <a:avLst>
              <a:gd name="adj" fmla="val 4545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34086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 · Homebrew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7955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tap databricks/tap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trust databricks/tap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install databricks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1480" y="3419856"/>
            <a:ext cx="8321040" cy="566928"/>
          </a:xfrm>
          <a:prstGeom prst="roundRect">
            <a:avLst>
              <a:gd name="adj" fmla="val 8065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4747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· WinGet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3694176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Databricks.DatabricksCLI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4114800"/>
            <a:ext cx="8321040" cy="566928"/>
          </a:xfrm>
          <a:prstGeom prst="roundRect">
            <a:avLst>
              <a:gd name="adj" fmla="val 8065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16966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 e WSL · curl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4389120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-fsSL https://raw.githubusercontent.com/databricks/setup-cli/main/install.sh | sh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462686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brew trust é novo — a partir do Homebrew 6.0.0 taps de terceiros precisam ser confiados.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PASSOS 03 E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e criação do projeto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11480" y="1828800"/>
            <a:ext cx="8321040" cy="914400"/>
          </a:xfrm>
          <a:prstGeom prst="roundRect">
            <a:avLst>
              <a:gd name="adj" fmla="val 5000"/>
            </a:avLst>
          </a:prstGeom>
          <a:solidFill>
            <a:srgbClr val="142337"/>
          </a:solidFill>
          <a:ln w="17780">
            <a:solidFill>
              <a:srgbClr val="3B9D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28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databricks auth login --host https://SEU-WORKSPACE.cloud.databricks.com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2677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navegador. Depois confira com:  databricks catalogs list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2907792"/>
            <a:ext cx="8321040" cy="512064"/>
          </a:xfrm>
          <a:prstGeom prst="roundRect">
            <a:avLst>
              <a:gd name="adj" fmla="val 8929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907792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databricks bundle init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3602736"/>
            <a:ext cx="2011680" cy="694944"/>
          </a:xfrm>
          <a:prstGeom prst="roundRect">
            <a:avLst>
              <a:gd name="adj" fmla="val 6579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" y="367588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57784" y="3913632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default-python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60320" y="3602736"/>
            <a:ext cx="2011680" cy="694944"/>
          </a:xfrm>
          <a:prstGeom prst="roundRect">
            <a:avLst>
              <a:gd name="adj" fmla="val 6579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06624" y="367588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706624" y="3913632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imersao_agosto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09160" y="3602736"/>
            <a:ext cx="2011680" cy="694944"/>
          </a:xfrm>
          <a:prstGeom prst="roundRect">
            <a:avLst>
              <a:gd name="adj" fmla="val 6579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55464" y="367588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de exemplo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55464" y="3913632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0" y="3602736"/>
            <a:ext cx="2011680" cy="694944"/>
          </a:xfrm>
          <a:prstGeom prst="roundRect">
            <a:avLst>
              <a:gd name="adj" fmla="val 6579"/>
            </a:avLst>
          </a:prstGeom>
          <a:solidFill>
            <a:srgbClr val="3B9DF5"/>
          </a:solidFill>
          <a:ln w="15240">
            <a:solidFill>
              <a:srgbClr val="3B9D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04304" y="367588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004304" y="3913632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448056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= yes é obrigatório. O Free Edition só oferece compute serverless.</a:t>
            </a:r>
            <a:endParaRPr lang="en-US" sz="1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PASSOS 05 E 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Python e Git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874520"/>
            <a:ext cx="8321040" cy="1207008"/>
          </a:xfrm>
          <a:prstGeom prst="roundRect">
            <a:avLst>
              <a:gd name="adj" fmla="val 3788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993392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imersao_agosto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venv --python 3.12 --seed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.venv/bin/activate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sync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11480" y="3218688"/>
            <a:ext cx="8321040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3328416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init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"setup inicial"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11480" y="4261104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142337"/>
          </a:solidFill>
          <a:ln w="17780">
            <a:solidFill>
              <a:srgbClr val="3B9D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4261104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3.12, não 3.13. Bibliotecas do Databricks ainda quebram na 3.13.</a:t>
            </a:r>
            <a:endParaRPr lang="en-US" sz="12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DER ERRADO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erros que todo mundo comete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84708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84708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stored credentials from older CLI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480560" y="184708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Rode databricks auth login de novo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235000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35000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 not found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480560" y="235000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Reinicie o terminal depois de instalar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85292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285292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versão abaixo de 0.205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80560" y="285292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CLI antiga. Desinstale e reinstale.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335584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335584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 falha por compute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80560" y="335584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respondeu no para serverless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385876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biblioteca não instala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480560" y="385876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está no Python 3.13. Volte pra 3.12.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436168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436168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 desligado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480560" y="436168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Cota do Free Edition estourou. Espere o dia seguinte.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" y="475488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faz parte. Leia a mensagem — quase sempre ela já diz o que fazer.</a:t>
            </a:r>
            <a:endParaRPr lang="en-US" sz="10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7635240" y="-658368"/>
            <a:ext cx="1554480" cy="1325880"/>
          </a:xfrm>
          <a:prstGeom prst="triangl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 rot="2700000">
            <a:off x="7882128" y="118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AMANHÃ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1554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 POR HOJE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11480" y="19659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Terça, 19h30.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lugar.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11480" y="35204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no grupo do WhatsApp — é lá que eu mando o repositório, a base de dados e respondo dúvida.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Imersão Agosto — Aula 01</dc:title>
  <dc:subject>PptxGenJS Presentation</dc:subject>
  <dc:creator>Jornada de Dados</dc:creator>
  <cp:lastModifiedBy>Jornada de Dados</cp:lastModifiedBy>
  <cp:revision>1</cp:revision>
  <dcterms:created xsi:type="dcterms:W3CDTF">2026-08-24T15:41:29Z</dcterms:created>
  <dcterms:modified xsi:type="dcterms:W3CDTF">2026-08-24T15:41:29Z</dcterms:modified>
</cp:coreProperties>
</file>