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36576000" cy="2057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0" cy="20574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0" y="5669280"/>
            <a:ext cx="27432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3B9DF5"/>
                </a:solidFill>
                <a:latin typeface="Arial"/>
              </a:rPr>
              <a:t>NOITE 2 · TERÇA 25/08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7315200"/>
            <a:ext cx="3145536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800" b="1">
                <a:solidFill>
                  <a:srgbClr val="FFFFFF"/>
                </a:solidFill>
                <a:latin typeface="Arial"/>
              </a:rPr>
              <a:t>Engenharia de dados:</a:t>
            </a:r>
          </a:p>
          <a:p>
            <a:pPr algn="l">
              <a:lnSpc>
                <a:spcPct val="95000"/>
              </a:lnSpc>
            </a:pPr>
            <a:r>
              <a:rPr sz="16800" b="1">
                <a:solidFill>
                  <a:srgbClr val="FFFFFF"/>
                </a:solidFill>
                <a:latin typeface="Arial"/>
              </a:rPr>
              <a:t>o projeto passa</a:t>
            </a:r>
          </a:p>
          <a:p>
            <a:pPr algn="l">
              <a:lnSpc>
                <a:spcPct val="95000"/>
              </a:lnSpc>
            </a:pPr>
            <a:r>
              <a:rPr sz="16800" b="1">
                <a:solidFill>
                  <a:srgbClr val="FFFFFF"/>
                </a:solidFill>
                <a:latin typeface="Arial"/>
              </a:rPr>
              <a:t>a rodar sozinho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4081760"/>
            <a:ext cx="292608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0">
                <a:solidFill>
                  <a:srgbClr val="9BAAC0"/>
                </a:solidFill>
                <a:latin typeface="Arial"/>
              </a:rPr>
              <a:t>Ontem vocês clicaram. Hoje a gente constrói — e o que a gente constrói continua rodando.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DE ONTEM PARA HOJE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O que muda esta noite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7470648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973568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Ontem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0" y="7973568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Vocês subiram as 10 tabelas clicando, uma por uma. Se o dado atualizar, refaz tudo.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10113263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0616184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Ontem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0" y="10616184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A query do exemplo 04 QUEBROU, ao vivo, por causa das datas em dois formatos.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12755880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3258800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Ontem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0" y="13258800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O Genie foi plugado na bronze com o aviso: pode dar certo, pode dar errado.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8488" y="15398495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5901415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3B9DF5"/>
                </a:solidFill>
                <a:latin typeface="Arial"/>
              </a:rPr>
              <a:t>Hoje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0" y="15901415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Cada uma dessas três coisas vira um prompt — e a resposta fica de pé sozinha.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17373600"/>
            <a:ext cx="3291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0">
                <a:solidFill>
                  <a:srgbClr val="7CC8FF"/>
                </a:solidFill>
                <a:latin typeface="Arial"/>
              </a:rPr>
              <a:t>Engenharia de dados não é escrever SQL bonito. É fazer o problema parar de voltar.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O FORMATO DA NOITE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6 prompts, 6 deploys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7470648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973568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Um bundle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0" y="7973568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Ele nasce vazio no prompt 1 e ganha uma camada por prompt. Nada aparece pronto.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10616184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1119104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Um 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0" y="11119104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Começa com UMA tarefa e termina com DOZE. O DAG crescendo é a tela da noite.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13761720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4264640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3B9DF5"/>
                </a:solidFill>
                <a:latin typeface="Arial"/>
              </a:rPr>
              <a:t>Seis deploys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0" y="14264640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Deploy não é etapa de fim de projeto. É o que acontece toda vez que você termina algo.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17373600"/>
            <a:ext cx="3291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0">
                <a:solidFill>
                  <a:srgbClr val="7CC8FF"/>
                </a:solidFill>
                <a:latin typeface="Arial"/>
              </a:rPr>
              <a:t>raw → bronze → silver → gold → dashboard → agentes de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0" cy="20574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0" y="5669280"/>
            <a:ext cx="27432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3B9DF5"/>
                </a:solidFill>
                <a:latin typeface="Arial"/>
              </a:rPr>
              <a:t>PROMPT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7315200"/>
            <a:ext cx="3145536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800" b="1">
                <a:solidFill>
                  <a:srgbClr val="FFFFFF"/>
                </a:solidFill>
                <a:latin typeface="Arial"/>
              </a:rPr>
              <a:t>Raw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4081760"/>
            <a:ext cx="292608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0">
                <a:solidFill>
                  <a:srgbClr val="9BAAC0"/>
                </a:solidFill>
                <a:latin typeface="Arial"/>
              </a:rPr>
              <a:t>O catálogo vira código, e o dado chega ao Volume.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PROMPT 1 · O CONCEITO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Raw não é bronze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7470648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973568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Raw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0" y="7973568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É ARQUIVO. O CSV como o ERP mandou, byte por byte. É a prova.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10616184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1119104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Bronze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0" y="11119104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É TABELA. Delta, consultável, com metadado de ingestão.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13761720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4264640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3B9DF5"/>
                </a:solidFill>
                <a:latin typeface="Arial"/>
              </a:rPr>
              <a:t>Volume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0" y="14264640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Objeto do Unity Catalog: tem dono, tem permissão, aparece na linhagem. DBFS é uma pasta sem sobrenome.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17373600"/>
            <a:ext cx="3291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0">
                <a:solidFill>
                  <a:srgbClr val="7CC8FF"/>
                </a:solidFill>
                <a:latin typeface="Arial"/>
              </a:rPr>
              <a:t>Ontem: Create catalog, Create schema, três vezes. Hoje: trinta linhas de YAML.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PROMPT 1 · O QUE FICOU DE PÉ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Primeiro deploy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50592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0592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arquivos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0592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ERP e CRM no Volume bronze.raw, 14,7 MB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04119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36224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313.551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36224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linhas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36224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conferidas uma a uma na chegada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589752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21856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21856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tarefa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21856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raw_conferencia, que QUEBRA se faltar arquivo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075383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907487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07487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reproduzível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07487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apagou? um deploy traz de volta idêntico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0" cy="20574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0" y="5669280"/>
            <a:ext cx="27432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3B9DF5"/>
                </a:solidFill>
                <a:latin typeface="Arial"/>
              </a:rPr>
              <a:t>PROMPT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7315200"/>
            <a:ext cx="3145536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800" b="1">
                <a:solidFill>
                  <a:srgbClr val="FFFFFF"/>
                </a:solidFill>
                <a:latin typeface="Arial"/>
              </a:rPr>
              <a:t>Bronze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4081760"/>
            <a:ext cx="292608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0">
                <a:solidFill>
                  <a:srgbClr val="9BAAC0"/>
                </a:solidFill>
                <a:latin typeface="Arial"/>
              </a:rPr>
              <a:t>Dez tabelas em um comando — a resposta direta à noite de ontem.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PROMPT 2 · A DECISÃO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Por que tudo entra como texto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7470648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973568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Se inferir 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0" y="7973568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15/10/2025 vira NULO e o CNPJ perde os zeros à esquerda. São 309 registros.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10616184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1119104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A sujeira sumiria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0" y="11119104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Antes de vocês verem que ela existiu. E ninguém saberia se o erro veio da origem ou da limpeza.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13761720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4264640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3B9DF5"/>
                </a:solidFill>
                <a:latin typeface="Arial"/>
              </a:rPr>
              <a:t>A bronze é a prova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0" y="14264640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Ela preserva o problema para que ele possa ser resolvido — não escondido. E nunca se edita.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17373600"/>
            <a:ext cx="3291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0">
                <a:solidFill>
                  <a:srgbClr val="7CC8FF"/>
                </a:solidFill>
                <a:latin typeface="Arial"/>
              </a:rPr>
              <a:t>Duas colunas a mais, só: _ingerido_em e _arquivo_origem. Quando entrou, e de onde veio.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0" cy="20574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0" y="5669280"/>
            <a:ext cx="27432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3B9DF5"/>
                </a:solidFill>
                <a:latin typeface="Arial"/>
              </a:rPr>
              <a:t>PROMPT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7315200"/>
            <a:ext cx="3145536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800" b="1">
                <a:solidFill>
                  <a:srgbClr val="FFFFFF"/>
                </a:solidFill>
                <a:latin typeface="Arial"/>
              </a:rPr>
              <a:t>Silver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4081760"/>
            <a:ext cx="292608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0">
                <a:solidFill>
                  <a:srgbClr val="9BAAC0"/>
                </a:solidFill>
                <a:latin typeface="Arial"/>
              </a:rPr>
              <a:t>A limpeza com contrato. A entrega mais importante da noite.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PROMPT 3 · A DECISÃO DA NOITE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Quantidade negativa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é devolução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7470648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973568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Descartar a linha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0" y="7973568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Esconde receita negativa e INFLA o faturamento. O diretor comemora um número errado.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10616184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1119104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Manter sem flag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0" y="11119104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Polui toda soma que alguém fizer daqui para frente.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13761720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4264640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3B9DF5"/>
                </a:solidFill>
                <a:latin typeface="Arial"/>
              </a:rPr>
              <a:t>Sinalizar e manter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0" y="14264640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Correto. Quem analisa decide se quer o bruto ou o líquido — e os dois reconciliam.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17373600"/>
            <a:ext cx="3291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0">
                <a:solidFill>
                  <a:srgbClr val="7CC8FF"/>
                </a:solidFill>
                <a:latin typeface="Arial"/>
              </a:rPr>
              <a:t>São 2.327 itens. A escolha entre as três muda o número que a diretoria vê.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PROMPT 3 · O CONTRATO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A constraint que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estava errada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7470648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973568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A regra óbvia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0" y="7973568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valor_liquido &gt;= 0. Parece certa. FALHOU em 135 pedidos.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10616184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1119104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A investigação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0" y="11119104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Os 135 têm item devolvido: o saldo do pedido virou negativo. Negócio legítimo.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13761720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4264640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3B9DF5"/>
                </a:solidFill>
                <a:latin typeface="Arial"/>
              </a:rPr>
              <a:t>A lição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0" y="14264640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A regra errada era a nossa, não o dado. A constraint virou suposição em pergunta — antes de virar número no dashboard.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17373600"/>
            <a:ext cx="3291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0">
                <a:solidFill>
                  <a:srgbClr val="7CC8FF"/>
                </a:solidFill>
                <a:latin typeface="Arial"/>
              </a:rPr>
              <a:t>CONSTRAINT não é comentário: o Delta passa a RECUSAR a escrita que violar a regra.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0" cy="20574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0" y="5669280"/>
            <a:ext cx="27432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3B9DF5"/>
                </a:solidFill>
                <a:latin typeface="Arial"/>
              </a:rPr>
              <a:t>PROMPT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7315200"/>
            <a:ext cx="3145536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800" b="1">
                <a:solidFill>
                  <a:srgbClr val="FFFFFF"/>
                </a:solidFill>
                <a:latin typeface="Arial"/>
              </a:rPr>
              <a:t>Gold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4081760"/>
            <a:ext cx="292608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0">
                <a:solidFill>
                  <a:srgbClr val="9BAAC0"/>
                </a:solidFill>
                <a:latin typeface="Arial"/>
              </a:rPr>
              <a:t>Dimensões, fato, marts por diretoria — e os testes que quebram o pipeline.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PROMPT 4 · O CONTRATO VEM ANTES DO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Um fato, vários marts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7470648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973568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O erro clássico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0" y="7973568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Um fato por área. Em três meses eles divergem e ninguém sabe qual está certo.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10616184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1119104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O que separa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0" y="11119104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A DIMENSÃO DOMINANTE e as MÉTRICAS. Nunca a tabela base.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13761720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4264640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3B9DF5"/>
                </a:solidFill>
                <a:latin typeface="Arial"/>
              </a:rPr>
              <a:t>Conformado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0" y="14264640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Vendas, Produto e Financeiro somam EXATAMENTE o mesmo R$ 102.303.828,05.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17373600"/>
            <a:ext cx="3291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0">
                <a:solidFill>
                  <a:srgbClr val="7CC8FF"/>
                </a:solidFill>
                <a:latin typeface="Arial"/>
              </a:rPr>
              <a:t>Se você não consegue escrever o contrato numa frase, você ainda não sabe o que está construindo.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PROMPT 4 · O QUE A GOLD ENTREGA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E o teste que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mais importa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50592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R$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0592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102.303.828,05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0592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receita na gold — idêntica à silver e à noite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04119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36224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191.080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36224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linhas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36224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no fato, grão de item de pedido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589752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21856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40,2%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21856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de margem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21856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Kit Presente 33,0% · Óleo Concentrado 49,9%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075383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907487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07487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testes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07487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que QUEBRAM o job. Teste que não quebra é relatório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0" cy="20574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0" y="5669280"/>
            <a:ext cx="27432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3B9DF5"/>
                </a:solidFill>
                <a:latin typeface="Arial"/>
              </a:rPr>
              <a:t>PROMPT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7315200"/>
            <a:ext cx="3145536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800" b="1">
                <a:solidFill>
                  <a:srgbClr val="FFFFFF"/>
                </a:solidFill>
                <a:latin typeface="Arial"/>
              </a:rPr>
              <a:t>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4081760"/>
            <a:ext cx="292608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0">
                <a:solidFill>
                  <a:srgbClr val="9BAAC0"/>
                </a:solidFill>
                <a:latin typeface="Arial"/>
              </a:rPr>
              <a:t>Como código. Versionado, com diff e com rollback.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PROMPT 5 · O QUE QUASE NINGUÉM ENSINA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Dashboard também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é artefato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7470648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973568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Clicado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0" y="7973568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Não tem diff, não tem revisão, não tem rollback. Se alguém apaga, acabou.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10616184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1119104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Em JSON no Git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0" y="11119104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Sobe junto com o deploy. Desfazer é git revert.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13761720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4264640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3B9DF5"/>
                </a:solidFill>
                <a:latin typeface="Arial"/>
              </a:rPr>
              <a:t>Métrica uma vez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0" y="14264640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Com MEASURE(), receita é definida num lugar só. Nenhuma tela mostra número diferente da outra.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17373600"/>
            <a:ext cx="3291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0">
                <a:solidFill>
                  <a:srgbClr val="7CC8FF"/>
                </a:solidFill>
                <a:latin typeface="Arial"/>
              </a:rPr>
              <a:t>Ontem o dataset tinha CAST e dois try_to_date. Hoje é `receita`. Metade do SQL — é o que a silver comprou.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0" cy="20574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0" y="5669280"/>
            <a:ext cx="27432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3B9DF5"/>
                </a:solidFill>
                <a:latin typeface="Arial"/>
              </a:rPr>
              <a:t>PROMPT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7315200"/>
            <a:ext cx="3145536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800" b="1">
                <a:solidFill>
                  <a:srgbClr val="FFFFFF"/>
                </a:solidFill>
                <a:latin typeface="Arial"/>
              </a:rPr>
              <a:t>Agentes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4081760"/>
            <a:ext cx="292608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0">
                <a:solidFill>
                  <a:srgbClr val="9BAAC0"/>
                </a:solidFill>
                <a:latin typeface="Arial"/>
              </a:rPr>
              <a:t>O mesmo dado, outra porta. E o fechamento do arco da noite 1.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PROMPT 6 · O QUE FAZ A IA FUNCIONAR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Metadado é interface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7470648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973568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0" y="7973568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Não é documentação para humano ler. É o que o agente lê para DECIDIR qual coluna usar.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10616184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1119104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View de negócio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0" y="11119104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Ninguém pergunta por fato_vendas. Perguntam por ranking de marcas e clientes em risco.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13761720"/>
            <a:ext cx="33339024" cy="2761488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4264640"/>
            <a:ext cx="950976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3B9DF5"/>
                </a:solidFill>
                <a:latin typeface="Arial"/>
              </a:rPr>
              <a:t>Regra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0" y="14264640"/>
            <a:ext cx="21214080" cy="2761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0">
                <a:solidFill>
                  <a:srgbClr val="9BAAC0"/>
                </a:solidFill>
                <a:latin typeface="Arial"/>
              </a:rPr>
              <a:t>O modelo não adivinha que dezembro é vale POR DESENHO do setor. Alguém precisa escrever.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17373600"/>
            <a:ext cx="3291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0">
                <a:solidFill>
                  <a:srgbClr val="7CC8FF"/>
                </a:solidFill>
                <a:latin typeface="Arial"/>
              </a:rPr>
              <a:t>Coluna sem comentário é coluna que o Genie vai usar errado — com confiança.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PROMPT 6 · O CLÍMAX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A mesma pergunta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de ontem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50592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0592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Marcas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0592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"Quais mais venderam?" — ele acerta, como ontem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04119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36224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36224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Churn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36224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"Quem sumiu e quanto perdemos?" — 503 clientes, R$ 836 mil/mês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589752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21856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21856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Sazonalidade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21856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"Dezembro foi ruim?" — ele responde NÃO. É vale de setor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075383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907487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=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07487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Mesmo modelo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07487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Mudou o que está embaixo dele: duas horas de engenharia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FIM DA NOITE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O que você tem agora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7470648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973568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Catálogo como código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0" y="7973568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Três schemas, um Volume, 10 tabelas bronze, 10 silver, 4 dimensões, 1 fato, 3 marts e 6 views.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10113263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0616184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Um job de 12 tarefas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0" y="10616184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Agendado, com dependência explícita e 11 testes que interrompem se um número mudar.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12755880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3258800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Dashboard e Genie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0" y="13258800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Os dois versionados no bundle. Se apagar, um deploy traz de volta.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8488" y="15398495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5901415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3B9DF5"/>
                </a:solidFill>
                <a:latin typeface="Arial"/>
              </a:rPr>
              <a:t>Tudo de seis prompts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0" y="15901415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A partir de um catálogo vazio. E existe um script que apaga tudo, para você provar isso.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0" cy="20574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0" y="5669280"/>
            <a:ext cx="27432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3B9DF5"/>
                </a:solidFill>
                <a:latin typeface="Arial"/>
              </a:rPr>
              <a:t>O FECHAMENTO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7315200"/>
            <a:ext cx="3145536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800" b="1">
                <a:solidFill>
                  <a:srgbClr val="FFFFFF"/>
                </a:solidFill>
                <a:latin typeface="Arial"/>
              </a:rPr>
              <a:t>Engenharia de dados</a:t>
            </a:r>
          </a:p>
          <a:p>
            <a:pPr algn="l">
              <a:lnSpc>
                <a:spcPct val="95000"/>
              </a:lnSpc>
            </a:pPr>
            <a:r>
              <a:rPr sz="16800" b="1">
                <a:solidFill>
                  <a:srgbClr val="FFFFFF"/>
                </a:solidFill>
                <a:latin typeface="Arial"/>
              </a:rPr>
              <a:t>não é o que a IA</a:t>
            </a:r>
          </a:p>
          <a:p>
            <a:pPr algn="l">
              <a:lnSpc>
                <a:spcPct val="95000"/>
              </a:lnSpc>
            </a:pPr>
            <a:r>
              <a:rPr sz="16800" b="1">
                <a:solidFill>
                  <a:srgbClr val="FFFFFF"/>
                </a:solidFill>
                <a:latin typeface="Arial"/>
              </a:rPr>
              <a:t>substitui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4081760"/>
            <a:ext cx="292608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0">
                <a:solidFill>
                  <a:srgbClr val="9BAAC0"/>
                </a:solidFill>
                <a:latin typeface="Arial"/>
              </a:rPr>
              <a:t>É o que faz a IA funcionar. Amanhã: as três perguntas da diretoria viram modelo.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