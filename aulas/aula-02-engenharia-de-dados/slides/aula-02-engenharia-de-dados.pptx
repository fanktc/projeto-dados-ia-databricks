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36576000" cy="2057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20574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0" y="5669280"/>
            <a:ext cx="2743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3B9DF5"/>
                </a:solidFill>
                <a:latin typeface="Arial"/>
              </a:rPr>
              <a:t>NOITE 2 · TERÇA 25/08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7315200"/>
            <a:ext cx="3145536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800" b="1">
                <a:solidFill>
                  <a:srgbClr val="FFFFFF"/>
                </a:solidFill>
                <a:latin typeface="Arial"/>
              </a:rPr>
              <a:t>Do design sprint</a:t>
            </a:r>
          </a:p>
          <a:p>
            <a:pPr algn="l">
              <a:lnSpc>
                <a:spcPct val="95000"/>
              </a:lnSpc>
            </a:pPr>
            <a:r>
              <a:rPr sz="16800" b="1">
                <a:solidFill>
                  <a:srgbClr val="FFFFFF"/>
                </a:solidFill>
                <a:latin typeface="Arial"/>
              </a:rPr>
              <a:t>para o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4264640"/>
            <a:ext cx="29260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>
                <a:solidFill>
                  <a:srgbClr val="9BAAC0"/>
                </a:solidFill>
                <a:latin typeface="Arial"/>
              </a:rPr>
              <a:t>Ontem a gente descobriu o que construir. Hoje a gente constrói — em seis passos.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280160"/>
            <a:ext cx="2926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3B9DF5"/>
                </a:solidFill>
                <a:latin typeface="Arial"/>
              </a:rPr>
              <a:t>A DOR DE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33284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400" b="1">
                <a:solidFill>
                  <a:srgbClr val="FFFFFF"/>
                </a:solidFill>
                <a:latin typeface="Arial"/>
              </a:rPr>
              <a:t>Databricks só no web</a:t>
            </a:r>
          </a:p>
          <a:p>
            <a:pPr algn="l">
              <a:lnSpc>
                <a:spcPct val="95000"/>
              </a:lnSpc>
            </a:pPr>
            <a:r>
              <a:rPr sz="10400" b="1">
                <a:solidFill>
                  <a:srgbClr val="FFFFFF"/>
                </a:solidFill>
                <a:latin typeface="Arial"/>
              </a:rPr>
              <a:t>workspace não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760720"/>
            <a:ext cx="3328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9BAAC0"/>
                </a:solidFill>
                <a:latin typeface="Arial"/>
              </a:rPr>
              <a:t>Se você desenvolve clicando no navegador, a conta chega depois — em produção.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7863840"/>
            <a:ext cx="7772400" cy="676656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8412480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DF5"/>
                </a:solidFill>
                <a:latin typeface="Arial"/>
              </a:rPr>
              <a:t>VERSIONAMENTO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9418319"/>
            <a:ext cx="6492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"/>
              </a:rPr>
              <a:t>Notebook</a:t>
            </a:r>
          </a:p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"/>
              </a:rPr>
              <a:t>não versiona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1978640"/>
            <a:ext cx="6492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9BAAC0"/>
                </a:solidFill>
                <a:latin typeface="Arial"/>
              </a:rPr>
              <a:t>Sem Git de verdade: sem PR, sem code review, sem histórico.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7863840"/>
            <a:ext cx="7772400" cy="676656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8412480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DF5"/>
                </a:solidFill>
                <a:latin typeface="Arial"/>
              </a:rPr>
              <a:t>QUALIDADE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9418319"/>
            <a:ext cx="6492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"/>
              </a:rPr>
              <a:t>Quebra em</a:t>
            </a:r>
          </a:p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"/>
              </a:rPr>
              <a:t>produção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11978640"/>
            <a:ext cx="6492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9BAAC0"/>
                </a:solidFill>
                <a:latin typeface="Arial"/>
              </a:rPr>
              <a:t>Sem teste local nem CI — o erro só aparece rodando.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653760" y="7863840"/>
            <a:ext cx="7772400" cy="676656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93840" y="8412480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DF5"/>
                </a:solidFill>
                <a:latin typeface="Arial"/>
              </a:rPr>
              <a:t>GOVERNANÇA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93840" y="9418319"/>
            <a:ext cx="6492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"/>
              </a:rPr>
              <a:t>Difícil</a:t>
            </a:r>
          </a:p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"/>
              </a:rPr>
              <a:t>auditar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93840" y="11978640"/>
            <a:ext cx="6492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9BAAC0"/>
                </a:solidFill>
                <a:latin typeface="Arial"/>
              </a:rPr>
              <a:t>Quem mudou o quê? E o ambiente não é reproduzível.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57680" y="7863840"/>
            <a:ext cx="7772400" cy="676656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97760" y="8412480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DF5"/>
                </a:solidFill>
                <a:latin typeface="Arial"/>
              </a:rPr>
              <a:t>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97760" y="9418319"/>
            <a:ext cx="6492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"/>
              </a:rPr>
              <a:t>IA presa</a:t>
            </a:r>
          </a:p>
          <a:p>
            <a:pPr algn="l">
              <a:lnSpc>
                <a:spcPct val="95000"/>
              </a:lnSpc>
            </a:pPr>
            <a:r>
              <a:rPr sz="5000" b="1">
                <a:solidFill>
                  <a:srgbClr val="FFFFFF"/>
                </a:solidFill>
                <a:latin typeface="Arial"/>
              </a:rPr>
              <a:t>no notebook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7760" y="11978640"/>
            <a:ext cx="6492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9BAAC0"/>
                </a:solidFill>
                <a:latin typeface="Arial"/>
              </a:rPr>
              <a:t>Sem tools e sem o projeto todo. Vira copia-e-cola.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15179040"/>
            <a:ext cx="33284160" cy="2743200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155448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3B9DF5"/>
                </a:solidFill>
                <a:latin typeface="Arial"/>
              </a:rPr>
              <a:t>A SAÍDA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16504920"/>
            <a:ext cx="2377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Ambiente local   ·   Asset Bundles   ·   MCP   ·   AI Dev 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0" y="16596359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7CC8FF"/>
                </a:solidFill>
                <a:latin typeface="Arial"/>
              </a:rPr>
              <a:t>escala · audita · IA produtiva e segura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280160"/>
            <a:ext cx="2926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3B9DF5"/>
                </a:solidFill>
                <a:latin typeface="Arial"/>
              </a:rPr>
              <a:t>QUEM SABE FAZ AO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332841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>
                <a:solidFill>
                  <a:srgbClr val="FFFFFF"/>
                </a:solidFill>
                <a:latin typeface="Arial"/>
              </a:rPr>
              <a:t>O que vamos construir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0"/>
            <a:ext cx="3328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9BAAC0"/>
                </a:solidFill>
                <a:latin typeface="Arial"/>
              </a:rPr>
              <a:t>Pipeline medallion + dashboard AI/BI + Genie na Rota do Perfume — tudo como código, dirigido por 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6675120"/>
            <a:ext cx="5120640" cy="548640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7086600"/>
            <a:ext cx="4297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DF5"/>
                </a:solidFill>
                <a:latin typeface="Arial"/>
              </a:rPr>
              <a:t>FONTE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8046720"/>
            <a:ext cx="42976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ERP e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555480"/>
            <a:ext cx="429767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10 CSVs de origem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14,7 MB · seed 42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dado idêntico para todos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8915400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79" y="6675120"/>
            <a:ext cx="5120640" cy="548640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59" y="7086600"/>
            <a:ext cx="4297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DF5"/>
                </a:solidFill>
                <a:latin typeface="Arial"/>
              </a:rPr>
              <a:t>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9" y="8046720"/>
            <a:ext cx="42976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Arquivo no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9555480"/>
            <a:ext cx="429767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bronze.raw governado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conferência de chegada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313.551 linhas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90119" y="8915400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93040" y="6675120"/>
            <a:ext cx="5120640" cy="548640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04519" y="7086600"/>
            <a:ext cx="4297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DF5"/>
                </a:solidFill>
                <a:latin typeface="Arial"/>
              </a:rPr>
              <a:t>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04519" y="8046720"/>
            <a:ext cx="42976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Ingestão bruta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4519" y="9555480"/>
            <a:ext cx="429767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10 tabelas Delta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tudo texto, sujeira intacta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+ metadado de ingestão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0" y="8915400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516600" y="6675120"/>
            <a:ext cx="5120640" cy="548640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928080" y="7086600"/>
            <a:ext cx="4297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DF5"/>
                </a:solidFill>
                <a:latin typeface="Arial"/>
              </a:rPr>
              <a:t>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0" y="8046720"/>
            <a:ext cx="42976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Limpo e conformado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0" y="9555480"/>
            <a:ext cx="429767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CNPJ, datas e dedup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CONSTRAINT no Delta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devolução sinalizada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37240" y="8915400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140160" y="6675120"/>
            <a:ext cx="5120640" cy="548640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51639" y="7086600"/>
            <a:ext cx="4297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DF5"/>
                </a:solidFill>
                <a:latin typeface="Arial"/>
              </a:rPr>
              <a:t>GOLD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51639" y="8046720"/>
            <a:ext cx="42976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Marts de negócio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51639" y="9555480"/>
            <a:ext cx="429767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4 dimensões + fato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3 marts por diretoria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6 views de negócio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0" y="8915400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63719" y="6675120"/>
            <a:ext cx="5120640" cy="5486400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0" y="7086600"/>
            <a:ext cx="42976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DF5"/>
                </a:solidFill>
                <a:latin typeface="Arial"/>
              </a:rPr>
              <a:t>CONSUMO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0" y="8046720"/>
            <a:ext cx="42976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Dashboard e Genie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0" y="9555480"/>
            <a:ext cx="429767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AI/BI como código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Genie sobre dado limpo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BAAC0"/>
                </a:solidFill>
                <a:latin typeface="Arial"/>
              </a:rPr>
              <a:t>os dois dentro do bundle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45920" y="12573000"/>
            <a:ext cx="33284160" cy="105156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0" y="12847320"/>
            <a:ext cx="3328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7CC8FF"/>
                </a:solidFill>
                <a:latin typeface="Arial"/>
              </a:rPr>
              <a:t>UM JOB SERVERLESS · 12 TAREFAS · UM SCHEMA POR CAMADA · 11 TESTES QUE QUEBRAM O 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45920" y="14081760"/>
            <a:ext cx="10607040" cy="3749039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1440180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B9DF5"/>
                </a:solidFill>
                <a:latin typeface="Arial"/>
              </a:rPr>
              <a:t>CLAUDE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15270480"/>
            <a:ext cx="9509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9BAAC0"/>
                </a:solidFill>
                <a:latin typeface="Arial"/>
              </a:rPr>
              <a:t>· AI Dev Kit · 40 skills oficiais</a:t>
            </a:r>
          </a:p>
          <a:p>
            <a:pPr algn="l">
              <a:lnSpc>
                <a:spcPct val="125000"/>
              </a:lnSpc>
            </a:pPr>
            <a:r>
              <a:rPr sz="2600" b="0">
                <a:solidFill>
                  <a:srgbClr val="9BAAC0"/>
                </a:solidFill>
                <a:latin typeface="Arial"/>
              </a:rPr>
              <a:t>· MCP · o workspace inteiro</a:t>
            </a:r>
          </a:p>
          <a:p>
            <a:pPr algn="l">
              <a:lnSpc>
                <a:spcPct val="125000"/>
              </a:lnSpc>
            </a:pPr>
            <a:r>
              <a:rPr sz="2600" b="0">
                <a:solidFill>
                  <a:srgbClr val="9BAAC0"/>
                </a:solidFill>
                <a:latin typeface="Arial"/>
              </a:rPr>
              <a:t>· Asset Bundles (DABs)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1696212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66A85"/>
                </a:solidFill>
                <a:latin typeface="Arial"/>
              </a:rPr>
              <a:t>a IA constrói · você valida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984480" y="14081760"/>
            <a:ext cx="10607040" cy="3749039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533120" y="1440180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B9DF5"/>
                </a:solidFill>
                <a:latin typeface="Arial"/>
              </a:rPr>
              <a:t>GUARDRAILS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20" y="15270480"/>
            <a:ext cx="9509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9BAAC0"/>
                </a:solidFill>
                <a:latin typeface="Arial"/>
              </a:rPr>
              <a:t>· permissions deny no settings.json</a:t>
            </a:r>
          </a:p>
          <a:p>
            <a:pPr algn="l">
              <a:lnSpc>
                <a:spcPct val="125000"/>
              </a:lnSpc>
            </a:pPr>
            <a:r>
              <a:rPr sz="2600" b="0">
                <a:solidFill>
                  <a:srgbClr val="9BAAC0"/>
                </a:solidFill>
                <a:latin typeface="Arial"/>
              </a:rPr>
              <a:t>· hook PreToolUse determinístico</a:t>
            </a:r>
          </a:p>
          <a:p>
            <a:pPr algn="l">
              <a:lnSpc>
                <a:spcPct val="125000"/>
              </a:lnSpc>
            </a:pPr>
            <a:r>
              <a:rPr sz="2600" b="0">
                <a:solidFill>
                  <a:srgbClr val="9BAAC0"/>
                </a:solidFill>
                <a:latin typeface="Arial"/>
              </a:rPr>
              <a:t>· profile explícito, sempre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0" y="1696212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66A85"/>
                </a:solidFill>
                <a:latin typeface="Arial"/>
              </a:rPr>
              <a:t>a IA não segura o botão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323040" y="14081760"/>
            <a:ext cx="10607040" cy="3749039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71680" y="1440180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B9DF5"/>
                </a:solidFill>
                <a:latin typeface="Arial"/>
              </a:rPr>
              <a:t>ESTEIRA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871680" y="15270480"/>
            <a:ext cx="9509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9BAAC0"/>
                </a:solidFill>
                <a:latin typeface="Arial"/>
              </a:rPr>
              <a:t>· bundle validate a cada passo</a:t>
            </a:r>
          </a:p>
          <a:p>
            <a:pPr algn="l">
              <a:lnSpc>
                <a:spcPct val="125000"/>
              </a:lnSpc>
            </a:pPr>
            <a:r>
              <a:rPr sz="2600" b="0">
                <a:solidFill>
                  <a:srgbClr val="9BAAC0"/>
                </a:solidFill>
                <a:latin typeface="Arial"/>
              </a:rPr>
              <a:t>· 11 testes que interrompem o job</a:t>
            </a:r>
          </a:p>
          <a:p>
            <a:pPr algn="l">
              <a:lnSpc>
                <a:spcPct val="125000"/>
              </a:lnSpc>
            </a:pPr>
            <a:r>
              <a:rPr sz="2600" b="0">
                <a:solidFill>
                  <a:srgbClr val="9BAAC0"/>
                </a:solidFill>
                <a:latin typeface="Arial"/>
              </a:rPr>
              <a:t>· 6 deploys, um por prompt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71680" y="1696212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66A85"/>
                </a:solidFill>
                <a:latin typeface="Arial"/>
              </a:rPr>
              <a:t>quebrou aqui, não quebra lá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RECAP DA NOITE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As cinco dinâmicas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já deram a resposta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1874519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7845552"/>
            <a:ext cx="950976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Como poderíamos…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7845552"/>
            <a:ext cx="212140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>
                <a:solidFill>
                  <a:srgbClr val="9BAAC0"/>
                </a:solidFill>
                <a:latin typeface="Arial"/>
              </a:rPr>
              <a:t>Todo problema virou pergunta, sem ninguém propor solução ainda.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9619488"/>
            <a:ext cx="33339024" cy="1874519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9994392"/>
            <a:ext cx="950976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Meta de 2 anos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9994392"/>
            <a:ext cx="212140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>
                <a:solidFill>
                  <a:srgbClr val="9BAAC0"/>
                </a:solidFill>
                <a:latin typeface="Arial"/>
              </a:rPr>
              <a:t>Escrita no passado, com número. Meta sem número é desejo.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1768328"/>
            <a:ext cx="33339024" cy="1874519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2143232"/>
            <a:ext cx="950976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O que pode dar errado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2143232"/>
            <a:ext cx="212140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>
                <a:solidFill>
                  <a:srgbClr val="9BAAC0"/>
                </a:solidFill>
                <a:latin typeface="Arial"/>
              </a:rPr>
              <a:t>Risco levantado ANTES de construir. Depois fica caro.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18488" y="13917167"/>
            <a:ext cx="33339024" cy="1874519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4292072"/>
            <a:ext cx="950976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Quem faz o quê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0" y="14292072"/>
            <a:ext cx="212140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>
                <a:solidFill>
                  <a:srgbClr val="9BAAC0"/>
                </a:solidFill>
                <a:latin typeface="Arial"/>
              </a:rPr>
              <a:t>O caminho da pergunta até a ação — e o caminho de volta.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18488" y="16066008"/>
            <a:ext cx="33339024" cy="1874519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6440912"/>
            <a:ext cx="950976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3B9DF5"/>
                </a:solidFill>
                <a:latin typeface="Arial"/>
              </a:rPr>
              <a:t>A menor coisa que responde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0" y="16440912"/>
            <a:ext cx="212140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>
                <a:solidFill>
                  <a:srgbClr val="9BAAC0"/>
                </a:solidFill>
                <a:latin typeface="Arial"/>
              </a:rPr>
              <a:t>O protótipo. Não é o produto final: é o suficiente para saber se presta.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"Antes de escrever qualquer código, gaste um dia com o computador fechado, entrevistando o time."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A PONTE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O sprint não entrega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código. Entrega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features.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O erro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Jogar tudo num prompt só. Ele devolve alguma coisa — e você não sabe qual parte quebrou.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A saída certa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De 5 a 6 features. Menos que 4 vira one-shot com outro nome; mais que 8 não cabe na noite.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Arial"/>
              </a:rPr>
              <a:t>Uma feature = um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Com começo, meio e fim. Você valida antes de seguir para a próxima.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"Nunca sai perfeito de primeira. Faça uma vez e vá dando diretrizes." — por isso são seis, não 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20574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0" y="5669280"/>
            <a:ext cx="2743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3B9DF5"/>
                </a:solidFill>
                <a:latin typeface="Arial"/>
              </a:rPr>
              <a:t>PARTE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7315200"/>
            <a:ext cx="3145536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800" b="1">
                <a:solidFill>
                  <a:srgbClr val="FFFFFF"/>
                </a:solidFill>
                <a:latin typeface="Arial"/>
              </a:rPr>
              <a:t>Setup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4264640"/>
            <a:ext cx="29260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>
                <a:solidFill>
                  <a:srgbClr val="9BAAC0"/>
                </a:solidFill>
                <a:latin typeface="Arial"/>
              </a:rPr>
              <a:t>Uma aula de Databricks sem abrir a tela do Databricks. Só o terminal.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SETUP · O QUE PRECISA ESTAR INSTALADO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Quatro pré-requisitos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33172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7936992"/>
            <a:ext cx="95097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ourier New"/>
              </a:rPr>
              <a:t>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7936992"/>
            <a:ext cx="212140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9BAAC0"/>
                </a:solidFill>
                <a:latin typeface="Arial"/>
              </a:rPr>
              <a:t>A CLI do Databricks. É por ela que tudo acontece daqui para frente.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113263"/>
            <a:ext cx="33339024" cy="233172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0579607"/>
            <a:ext cx="95097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ourier New"/>
              </a:rPr>
              <a:t>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0579607"/>
            <a:ext cx="212140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9BAAC0"/>
                </a:solidFill>
                <a:latin typeface="Arial"/>
              </a:rPr>
              <a:t>A CLI do GitHub. Leva o repositório local para o remoto em um comando.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2755880"/>
            <a:ext cx="33339024" cy="233172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3222224"/>
            <a:ext cx="95097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ourier New"/>
              </a:rPr>
              <a:t>uv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3222224"/>
            <a:ext cx="212140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9BAAC0"/>
                </a:solidFill>
                <a:latin typeface="Arial"/>
              </a:rPr>
              <a:t>O gerenciador de pacotes Python. Rápido, e resolve o ambiente sozinho.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18488" y="15398495"/>
            <a:ext cx="33339024" cy="2331720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5864839"/>
            <a:ext cx="95097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3B9DF5"/>
                </a:solidFill>
                <a:latin typeface="Courier New"/>
              </a:rPr>
              <a:t>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0" y="15864839"/>
            <a:ext cx="212140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9BAAC0"/>
                </a:solidFill>
                <a:latin typeface="Arial"/>
              </a:rPr>
              <a:t>O Claude Code. É o quarto ambiente da semana — o único que CONSTRÓI.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Conta no Databricks Free Edition: sem cartão, sem pegadinha. Só serverless.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SETUP · PASSO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databricks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bundle init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Courier New"/>
              </a:rPr>
              <a:t>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Python. É o que traz src/, resources/, tests/ e o databricks.yml.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Courier New"/>
              </a:rPr>
              <a:t>Jobs de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Não. A gente vai escrever os nossos.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Courier New"/>
              </a:rPr>
              <a:t>Serverless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SIM — e não é preferência. O Free Edition só permite serverless.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O Asset Bundle traz as boas práticas da engenharia de software para dentro da engenharia de dados.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SETUP · PASSO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O ambiente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Courier New"/>
              </a:rPr>
              <a:t>Python 3.12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NÃO use 3.13. Bibliotecas do Databricks ainda quebram nela.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Courier New"/>
              </a:rPr>
              <a:t>uv venv --seed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O --seed já instala o pip por padrão, e evita dor de cabeça depois.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Courier New"/>
              </a:rPr>
              <a:t>uv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Instala o que o template do bundle já trouxe.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É o erro número 1 de quem tenta em casa: instalou tudo no 3.13 e nada funciona.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SETUP · PASSO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databricks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auth 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Courier New"/>
              </a:rPr>
              <a:t>O que ele faz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Abre o navegador, você autentica, e pronto — o profile fica salvo.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Courier New"/>
              </a:rPr>
              <a:t>O efeito colateral bom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Ele preenche sozinho o host lá no databricks.yml do bundle.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Courier New"/>
              </a:rPr>
              <a:t>Sempre com --profile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Nunca deixe o profile implícito. Um dia você deploya em prod sem querer.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Dev e prod isolados, testes unitários, esteira de CI/CD — o bundle usa Terraform por baixo.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SETUP · PASSO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git init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gh repo create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Courier New"/>
              </a:rPr>
              <a:t>git init +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O famoso first commit. Antes de a IA escrever a primeira linha.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Courier New"/>
              </a:rPr>
              <a:t>gh repo 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Leva o repositório local para o GitHub, sem abrir o navegador.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Courier New"/>
              </a:rPr>
              <a:t>Por que agora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Se a IA vai escrever código, você precisa de git diff e de git revert.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O bundle já nasce com um README explicando como executar o projeto.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SETUP · PASSO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AI Dev Kit: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skills e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33172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7936992"/>
            <a:ext cx="95097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Arial"/>
              </a:rPr>
              <a:t>Onde achar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7936992"/>
            <a:ext cx="212140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9BAAC0"/>
                </a:solidFill>
                <a:latin typeface="Arial"/>
              </a:rPr>
              <a:t>Pesquise "AI Dev Kit Databricks". É o repositório oficial de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113263"/>
            <a:ext cx="33339024" cy="233172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0579607"/>
            <a:ext cx="95097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Arial"/>
              </a:rPr>
              <a:t>40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0579607"/>
            <a:ext cx="212140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9BAAC0"/>
                </a:solidFill>
                <a:latin typeface="Arial"/>
              </a:rPr>
              <a:t>Por grupo: engenharia de dados, BI, machine learning, app developer.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2755880"/>
            <a:ext cx="33339024" cy="2331720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3222224"/>
            <a:ext cx="95097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Arial"/>
              </a:rPr>
              <a:t>Escopo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3222224"/>
            <a:ext cx="212140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9BAAC0"/>
                </a:solidFill>
                <a:latin typeface="Arial"/>
              </a:rPr>
              <a:t>Instale no PROJETO, não global. Cada projeto tem o contexto dele.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18488" y="15398495"/>
            <a:ext cx="33339024" cy="2331720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5864839"/>
            <a:ext cx="95097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3B9DF5"/>
                </a:solidFill>
                <a:latin typeface="Arial"/>
              </a:rPr>
              <a:t>Skill ×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0" y="15864839"/>
            <a:ext cx="212140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9BAAC0"/>
                </a:solidFill>
                <a:latin typeface="Arial"/>
              </a:rPr>
              <a:t>Skill é injeção de CONHECIMENTO. MCP é AÇÃO — é o que conecta no workspace.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Se o MCP não aparecer: reinicie o Claude Code. É quase sempre isso.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SETUP · PASSO 6 — E O MAIS IMPORTANTE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Guard rails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ANTES do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.claude/settings.json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Negue: bundle destroy, deploy --target prod, rm -rf, git push --force.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.claude/hooks/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Um script que bloqueia DROP, TRUNCATE e DELETE sem 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Arial"/>
              </a:rPr>
              <a:t>Por que 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Hook é DETERMINÍSTICO. Skill e MCP são probabilísticos: se ele bloqueia, bloqueia sempre.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"Time de marketing plugou o MCP num lugar e fez besteira." O guard rail existe para isso não acontecer.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20574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0" y="5669280"/>
            <a:ext cx="2743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3B9DF5"/>
                </a:solidFill>
                <a:latin typeface="Arial"/>
              </a:rPr>
              <a:t>PARTE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7315200"/>
            <a:ext cx="3145536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800" b="1">
                <a:solidFill>
                  <a:srgbClr val="FFFFFF"/>
                </a:solidFill>
                <a:latin typeface="Arial"/>
              </a:rPr>
              <a:t>Os 6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4264640"/>
            <a:ext cx="29260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>
                <a:solidFill>
                  <a:srgbClr val="9BAAC0"/>
                </a:solidFill>
                <a:latin typeface="Arial"/>
              </a:rPr>
              <a:t>Seis features, seis prompts, seis deploys. O bundle nasce vazio e termina completo.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OS 6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Uma feature por prompt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1517904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7774228"/>
            <a:ext cx="95097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1 · 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7774228"/>
            <a:ext cx="2121408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9BAAC0"/>
                </a:solidFill>
                <a:latin typeface="Arial"/>
              </a:rPr>
              <a:t>Catálogo como código, Volume, e a conferência de chegada dos arquivos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9235440"/>
            <a:ext cx="33339024" cy="1517904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9539020"/>
            <a:ext cx="95097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2 · 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9539020"/>
            <a:ext cx="2121408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9BAAC0"/>
                </a:solidFill>
                <a:latin typeface="Arial"/>
              </a:rPr>
              <a:t>Os 10 CSVs viram Delta. Nenhuma limpeza — a sujeira é preservada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1000232"/>
            <a:ext cx="33339024" cy="1517904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1303812"/>
            <a:ext cx="95097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3 · 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1303812"/>
            <a:ext cx="2121408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9BAAC0"/>
                </a:solidFill>
                <a:latin typeface="Arial"/>
              </a:rPr>
              <a:t>A limpeza, com o contrato de qualidade declarado na tabela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18488" y="12765024"/>
            <a:ext cx="33339024" cy="1517904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3068604"/>
            <a:ext cx="95097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4 · 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0" y="13068604"/>
            <a:ext cx="2121408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9BAAC0"/>
                </a:solidFill>
                <a:latin typeface="Arial"/>
              </a:rPr>
              <a:t>Dimensões, fato, marts por diretoria e os 9 testes que quebram o 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18488" y="14529816"/>
            <a:ext cx="33339024" cy="1517904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4833396"/>
            <a:ext cx="95097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5 ·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0" y="14833396"/>
            <a:ext cx="2121408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9BAAC0"/>
                </a:solidFill>
                <a:latin typeface="Arial"/>
              </a:rPr>
              <a:t>AI/BI como código, versionado dentro do bundle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18488" y="16294608"/>
            <a:ext cx="33339024" cy="1517904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6598188"/>
            <a:ext cx="95097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3B9DF5"/>
                </a:solidFill>
                <a:latin typeface="Arial"/>
              </a:rPr>
              <a:t>6 · Agentes de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0" y="16598188"/>
            <a:ext cx="2121408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0">
                <a:solidFill>
                  <a:srgbClr val="9BAAC0"/>
                </a:solidFill>
                <a:latin typeface="Arial"/>
              </a:rPr>
              <a:t>Metadado, views de negócio e o Genie sobre dado limpo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Cada passo termina em `databricks bundle deploy`. Deploy é rotina, não evento de fim de projeto.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PASSO 1 · RAW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O dado chega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ao Volume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Raw não é bronze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Raw é ARQUIVO. Bronze é TABELA. O CSV fica byte por byte — é a prova.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Volume, não DBFS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Volume é objeto do Unity Catalog: tem dono, permissão e linhagem.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Arial"/>
              </a:rPr>
              <a:t>Conferência de chegada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A tarefa mais chata do pipeline, e a que mais salva emprego.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Arquivo que não chega NÃO dá erro. Ele dá número menor — e o dashboard mente com cara de verdade.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PASSO 2 · BRONZE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Dez tabelas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em um comando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Ontem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Vocês subiram tabela por tabela, clicando na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Hoje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Uma função e uma lista. Se o ERP mandar a 11ª tabela, é uma linha.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Arial"/>
              </a:rPr>
              <a:t>Tudo entra como 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Se inferir tipo, 15/10/2025 vira nulo e 309 CNPJs perdem o zero à esquerda.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A bronze preserva o problema para que ele possa ser RESOLVIDO — não escondido. E nunca se edita.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PASSO 3 · SILVER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A limpeza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com contrato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A decisão da noite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Quantidade negativa é devolução. Descartar infla o faturamento; sinalizar é o certo.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Deduplicar ≠ DISTINCT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40 CNPJs com dois cadastros. O id é diferente, então DISTINCT não vê nada.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Arial"/>
              </a:rPr>
              <a:t>CONSTRAINT é contrato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O Delta passa a RECUSAR a escrita que violar a regra. Ela vira da tabela, não do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A regra `valor_liquido &gt;= 0` parecia óbvia e FALHOU em 135 pedidos. A regra errada era a nossa.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PASSO 4 · GOLD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Modelada para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quem consome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O contrato antes do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Granularidade, dimensões, métricas e filtros. Escritos numa frase.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Um fato, vários marts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O que separa um mart do outro é a dimensão dominante, nunca a tabela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Arial"/>
              </a:rPr>
              <a:t>Teste que não quebra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…não é teste, é relatório. Se falhar, o job PARA.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Melhor o dashboard ficar com o dado de ontem do que com o dado errado de hoje.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PASSO 5 ·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Também é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artefato de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Clicado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Não tem diff, não tem revisão, não tem rollback. Se alguém apaga, acabou.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Em JSON no bundle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Sobe junto com o deploy. Desfazer é git revert.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Arial"/>
              </a:rPr>
              <a:t>Métrica declarada uma vez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Nenhuma tela mostra receita diferente da outra. É o fim da reunião travada.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Ontem o dataset tinha CAST e dois try_to_date. Hoje é `receita`. É o que a silver comprou.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PASSO 6 · AGENTES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O mesmo dado,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outra porta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7470648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8022945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COMMENT é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0" y="8022945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Não é documentação para humano. É o que o agente lê para DECIDIR a coluna.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8488" y="10616184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1168481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View com nome de negócio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0" y="11168481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Ninguém pergunta por fato_vendas. Perguntam por clientes em risco.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3761720"/>
            <a:ext cx="33339024" cy="2761488"/>
          </a:xfrm>
          <a:prstGeom prst="roundRect">
            <a:avLst>
              <a:gd name="adj" fmla="val 6000"/>
            </a:avLst>
          </a:prstGeom>
          <a:solidFill>
            <a:srgbClr val="142337"/>
          </a:solidFill>
          <a:ln w="8128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314017"/>
            <a:ext cx="950976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3B9DF5"/>
                </a:solidFill>
                <a:latin typeface="Arial"/>
              </a:rPr>
              <a:t>A regra que ele não adivinha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0" y="14314017"/>
            <a:ext cx="21214080" cy="2761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>
                <a:solidFill>
                  <a:srgbClr val="9BAAC0"/>
                </a:solidFill>
                <a:latin typeface="Arial"/>
              </a:rPr>
              <a:t>Que dezembro é vale POR DESENHO do setor. Alguém precisa escrever.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93640"/>
            <a:ext cx="3291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7CC8FF"/>
                </a:solidFill>
                <a:latin typeface="Arial"/>
              </a:rPr>
              <a:t>Ontem o Genie foi plugado na bronze com o aviso de que podia errar. Hoje ele acerta — mesmo modelo.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645920"/>
            <a:ext cx="2926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O QUE OS 6 PASSOS ENTREGARAM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00400"/>
            <a:ext cx="3328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Rodado do</a:t>
            </a:r>
          </a:p>
          <a:p>
            <a:pPr algn="l">
              <a:lnSpc>
                <a:spcPct val="95000"/>
              </a:lnSpc>
            </a:pPr>
            <a:r>
              <a:rPr sz="12800" b="1">
                <a:solidFill>
                  <a:srgbClr val="FFFFFF"/>
                </a:solidFill>
                <a:latin typeface="Arial"/>
              </a:rPr>
              <a:t>catálogo vazio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8750808"/>
            <a:ext cx="7882127" cy="7004304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50592" y="9436608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R$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592" y="10479024"/>
            <a:ext cx="6217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FFFFFF"/>
                </a:solidFill>
                <a:latin typeface="Arial"/>
              </a:rPr>
              <a:t>102.303.828,05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592" y="12801600"/>
            <a:ext cx="62179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>
                <a:solidFill>
                  <a:srgbClr val="9BAAC0"/>
                </a:solidFill>
                <a:latin typeface="Arial"/>
              </a:rPr>
              <a:t>a mesma receita da noite 1, nas três camadas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19" y="8750808"/>
            <a:ext cx="7882127" cy="7004304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36224" y="9436608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191.080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36224" y="10479024"/>
            <a:ext cx="6217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FFFFFF"/>
                </a:solidFill>
                <a:latin typeface="Arial"/>
              </a:rPr>
              <a:t>linhas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36224" y="12801600"/>
            <a:ext cx="62179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>
                <a:solidFill>
                  <a:srgbClr val="9BAAC0"/>
                </a:solidFill>
                <a:latin typeface="Arial"/>
              </a:rPr>
              <a:t>no fato, grão de item de pedido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589752" y="8750808"/>
            <a:ext cx="7882127" cy="7004304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21856" y="9436608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21856" y="10479024"/>
            <a:ext cx="6217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FFFFFF"/>
                </a:solidFill>
                <a:latin typeface="Arial"/>
              </a:rPr>
              <a:t>tarefas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21856" y="12801600"/>
            <a:ext cx="62179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>
                <a:solidFill>
                  <a:srgbClr val="9BAAC0"/>
                </a:solidFill>
                <a:latin typeface="Arial"/>
              </a:rPr>
              <a:t>num job agendado, com 11 testes que quebram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075383" y="8750808"/>
            <a:ext cx="7882127" cy="7004304"/>
          </a:xfrm>
          <a:prstGeom prst="roundRect">
            <a:avLst>
              <a:gd name="adj" fmla="val 6000"/>
            </a:avLst>
          </a:prstGeom>
          <a:solidFill>
            <a:srgbClr val="0D1522"/>
          </a:solidFill>
          <a:ln w="50800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07487" y="9436608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B9DF5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07487" y="10479024"/>
            <a:ext cx="6217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FFFFFF"/>
                </a:solidFill>
                <a:latin typeface="Arial"/>
              </a:rPr>
              <a:t>deploys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07487" y="12801600"/>
            <a:ext cx="62179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>
                <a:solidFill>
                  <a:srgbClr val="9BAAC0"/>
                </a:solidFill>
                <a:latin typeface="Arial"/>
              </a:rPr>
              <a:t>um por prompt. Nenhum deles falhou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187269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20574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0" y="5669280"/>
            <a:ext cx="2743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3B9DF5"/>
                </a:solidFill>
                <a:latin typeface="Arial"/>
              </a:rPr>
              <a:t>O 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7315200"/>
            <a:ext cx="3145536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800" b="1">
                <a:solidFill>
                  <a:srgbClr val="FFFFFF"/>
                </a:solidFill>
                <a:latin typeface="Arial"/>
              </a:rPr>
              <a:t>Engenharia de dados</a:t>
            </a:r>
          </a:p>
          <a:p>
            <a:pPr algn="l">
              <a:lnSpc>
                <a:spcPct val="95000"/>
              </a:lnSpc>
            </a:pPr>
            <a:r>
              <a:rPr sz="16800" b="1">
                <a:solidFill>
                  <a:srgbClr val="FFFFFF"/>
                </a:solidFill>
                <a:latin typeface="Arial"/>
              </a:rPr>
              <a:t>não é o que a IA</a:t>
            </a:r>
          </a:p>
          <a:p>
            <a:pPr algn="l">
              <a:lnSpc>
                <a:spcPct val="95000"/>
              </a:lnSpc>
            </a:pPr>
            <a:r>
              <a:rPr sz="16800" b="1">
                <a:solidFill>
                  <a:srgbClr val="FFFFFF"/>
                </a:solidFill>
                <a:latin typeface="Arial"/>
              </a:rPr>
              <a:t>substitui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4264640"/>
            <a:ext cx="29260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>
                <a:solidFill>
                  <a:srgbClr val="9BAAC0"/>
                </a:solidFill>
                <a:latin typeface="Arial"/>
              </a:rPr>
              <a:t>É o que faz a IA funcionar. Amanhã: as três perguntas da diretoria viram modelo.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