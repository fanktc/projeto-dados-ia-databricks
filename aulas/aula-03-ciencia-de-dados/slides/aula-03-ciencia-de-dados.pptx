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 a citação respirar. Leia em voz alta, sem pressa, e pare depois de 'Me diz quais 200'. O silêncio aqui vale mais que qualquer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Fala: 'E sim, se a pergunta fosse sobre desconto, o modelo certo seria outro, chamado uplift. Mas aqui a pergunta é priorização de esforço, e para isso propensão é exatamente a ferramenta certa.'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medidos no workspace com seed 42, corte 2026-08-01, janela de 7 dias, score out-of-fold. O zero da segunda linha é o melhor número da aula: a intuição mais comum do comercial acerta nenhum dos 200. E ordenar pelo atraso puro, sem modelo, acerta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 não é etapa de fim de projeto — é o que acontece toda vez que você termina alguma coisa. Por isso são três, e não um no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assim que nasce o modelo que ninguém consegue colocar em produção: repositório novo, notebook solto, ambiente à parte. Aqui ML é mais uma camada do mesmo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Abra isso no SQL Editor de verdade. São 30 segundos e é o que dá autoridade ao resto: nada do que vem hoje é slide, é tabela.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amarra a noite 2 na noite 3: a feature valor_total do prompt 1 sai daqui. Feature errada não dá erro — dá fila errada.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perguntar 'e se a empresa mudar a política de desconto?': quebra a primeira premissa, o modelo precisa de retreino, e é exatamente por isso que ele mora num pipeline agendado e não num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parte que não dá para terceirizar: depende de saber como a empresa vende. Duas pessoas com o mesmo dado e o mesmo algoritmo chegam a modelos muito diferentes por causa deste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aqui que a sala espera a aula ficar difícil, e é o slide mais curto da noite. Diga isso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'Hist' do HistGradientBoosting é o truque de velocidade: em vez de testar todo valor possível de corte, agrupa cada coluna em ~255 faixas. Treina em segundos no serverless.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BG/NBD é o modelo clássico de compra recorrente: cada cliente compra a uma taxa própria e, a cada compra, tem uma chance de parar de ser cliente. É lindo e é honesto. O custo é que ele lê só recência e frequência — CRM, visitas e mix ficam de fora, e foi metade do trabalho do prompt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números são as respostas da sala, medidas. O 0,37 é o momento da noite: não é 'um pouco ruim', é invertido — a mesma coisa que o '0 de 200' do slide 7 diz em linguagem comercial. Se alguém perguntar por que não usar acurácia: com 10% de compradores, um modelo que diz 'ninguém compra' acerta 90% e é inútil.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Quebre um destes de propósito ao vivo. Teste que ninguém viu falhar não convence ninguém.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E, honestamente: o Free Edition não oferece endpoint de modelo próprio. A escolha é técnica E é a conta.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perguntarem por que não é a mesma cota para todo mundo: porque a carteira de um vendedor é mais quente que a do outro. A fila é global, a capacidade é que é por pessoa. Dar 5 fixos para cada obrigaria a ligar para cliente frio enquanto sobra cliente quente na mesa do vizinho.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057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IMERSÃO AO VIVO · NOITE 3 DE 4 · 26/08 · 19H30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487168"/>
            <a:ext cx="10332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spc="-70">
                <a:solidFill>
                  <a:srgbClr val="FFFFFF"/>
                </a:solidFill>
                <a:latin typeface="Arial"/>
              </a:rPr>
              <a:t>Quais 200?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2793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spc="-15">
                <a:solidFill>
                  <a:srgbClr val="7CC8FF"/>
                </a:solidFill>
                <a:latin typeface="Arial"/>
              </a:rPr>
              <a:t>Ciência de dados e agentes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989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66A85"/>
                </a:solidFill>
                <a:latin typeface="Arial"/>
              </a:rPr>
              <a:t>Rota do Perfume · Databricks + MLflow + 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ONTEM À NOITE, DEPOIS DA AULA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diretor comercial ligou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33101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874520"/>
            <a:ext cx="9814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“Luciano, a plataforma ficou boa. Dashboard bonito, o Genie responde tudo.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96312"/>
            <a:ext cx="9814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9BAAC0"/>
                </a:solidFill>
                <a:latin typeface="Arial"/>
              </a:rPr>
              <a:t>Mas o meu time não vive de dashboard. Eu tenho 42 vendedores e, somando</a:t>
            </a:r>
          </a:p>
          <a:p>
            <a:pPr algn="l">
              <a:lnSpc>
                <a:spcPct val="132000"/>
              </a:lnSpc>
            </a:pPr>
            <a:r>
              <a:rPr sz="1600" b="0">
                <a:solidFill>
                  <a:srgbClr val="9BAAC0"/>
                </a:solidFill>
                <a:latin typeface="Arial"/>
              </a:rPr>
              <a:t>todo mundo, dá umas 200 ligações boas por semana. No melhor mês.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92424"/>
            <a:ext cx="9814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BAAC0"/>
                </a:solidFill>
                <a:latin typeface="Arial"/>
              </a:rPr>
              <a:t>Eu tenho 3.000 clientes na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959352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-20">
                <a:solidFill>
                  <a:srgbClr val="7CC8FF"/>
                </a:solidFill>
                <a:latin typeface="Arial"/>
              </a:rPr>
              <a:t>Me diz quais 200.”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5822695"/>
            <a:ext cx="1005199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Essa é a aula de hoje.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TAMANHO DO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200 de 3.000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18488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85416"/>
            <a:ext cx="344820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spc="-45">
                <a:solidFill>
                  <a:srgbClr val="FFFFFF"/>
                </a:solidFill>
                <a:latin typeface="Arial"/>
              </a:rPr>
              <a:t>3.000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91256"/>
            <a:ext cx="34482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clientes na 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18488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71746" y="2185416"/>
            <a:ext cx="344820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spc="-45">
                <a:solidFill>
                  <a:srgbClr val="FFFFFF"/>
                </a:solidFill>
                <a:latin typeface="Arial"/>
              </a:rPr>
              <a:t>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1746" y="3191256"/>
            <a:ext cx="34482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ligações por semana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18488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7692" y="2185416"/>
            <a:ext cx="344820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spc="-45">
                <a:solidFill>
                  <a:srgbClr val="FFFFFF"/>
                </a:solidFill>
                <a:latin typeface="Arial"/>
              </a:rPr>
              <a:t>6,7%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7692" y="3191256"/>
            <a:ext cx="34482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da base por semana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138928"/>
            <a:ext cx="10820095" cy="10241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409184"/>
            <a:ext cx="10051999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Cada cliente é abordado, em média, uma vez a cada 15 semanas.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Se o vendedor ligar para os 200 errados, a empresa perde quatro meses.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LIMITE DO QUE A GENTE JÁ 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Tudo que a gente construiu olha para 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A GOLD RESPONDE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34456" y="1508760"/>
            <a:ext cx="5242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O DIRETOR PRECISA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92808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110549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Quem comprou mais no 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456" y="2110549"/>
            <a:ext cx="52422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vai comprar semana que vem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79192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896933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Qual marca vendeu melhor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4456" y="2896933"/>
            <a:ext cx="52422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Para quem ligar amanhã de manhã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65576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83317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Quanto faturamos em outubro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4456" y="3683317"/>
            <a:ext cx="52422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está prestes a sumir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5196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469701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DESCRIÇÃO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4469701"/>
            <a:ext cx="52422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PRIORIZAÇÃO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7044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7CC8FF"/>
                </a:solidFill>
                <a:latin typeface="Arial"/>
              </a:rPr>
              <a:t>Dashboard mostra o passado com precisão. Ninguém liga para o passado.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 MAIORIA DAS EMPRESAS FAZ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jeitos de escolher os 200 — todos ruins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Os maiores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clientes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573020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Eles já compram. Você gasta ligação com quem ia comprar de qualquer jeito.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0020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Os que sumiram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há mais tempo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573020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Muitos já foram embora. Você gasta ligação em cliente perdido.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0020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A intuição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do vendedor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573020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Funciona para os 20 que ele lembra. E os outros 2.980?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230368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445759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Todos os três são defensáveis numa reunião.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 todos os três desperdiçam ligação.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VAMOS CONSTRUIR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Ordenar por probabilidade de compra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99386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3.000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clientes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580" y="2240280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628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72932" y="2199386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modelo de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propensão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3409" y="2240280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7457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13761" y="2199386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score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de 0 a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24237" y="2240280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8285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54589" y="2306701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ordena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65066" y="2240280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9114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5418" y="2199386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pega os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200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566160"/>
            <a:ext cx="10820095" cy="1051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3833876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Não é classificar quem compra e quem não compra. É ORDENAR.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vendedor não precisa de um sim ou não — precisa de uma fila.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MÉTRICA QUE IMPORTA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Não é acurácia.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É quantos dos 200 compraram.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993391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ESTRATÉGIA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48856" y="1993391"/>
            <a:ext cx="4327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DOS 200 ABORDADOS, QUANTOS COMPRAM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39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549461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Ligar aleatório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8856" y="2549461"/>
            <a:ext cx="4327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20     ·  a taxa base da semana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72383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244405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Ligar para quem sumiu há mais tempo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8856" y="3244405"/>
            <a:ext cx="4327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0     ·  esses já foram embora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67327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939349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Ligar para os maiores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8856" y="3939349"/>
            <a:ext cx="4327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44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462271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634293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Ligar para os 200 de maior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8856" y="4634293"/>
            <a:ext cx="4327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86     ·  4,25× o aleatório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285232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500624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Isso tem nome: LIFT. Quantas vezes melhor que o aleatório.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É o número que você leva para a reunião — não o AUC.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COMO A GENTE VAI CONSTRUIR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prompts, três deploys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3448202" cy="24871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PROMPT 1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81580"/>
            <a:ext cx="2936138" cy="2487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Uma linha por cliente, 20 colunas que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descrevem o comportamento dele.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gold.features_cliente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gold.features_treino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508760"/>
            <a:ext cx="3448202" cy="24871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PROMPT 2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481580"/>
            <a:ext cx="2936138" cy="2487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Baseline, treino, MLflow, registro no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Unity Catalog e a nota de cada um.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o modelo no catálogo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gold.score_propensao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508760"/>
            <a:ext cx="3448202" cy="24871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3B9DF5"/>
                </a:solidFill>
                <a:latin typeface="Arial"/>
              </a:rPr>
              <a:t>PROMPT 3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3B9DF5"/>
                </a:solidFill>
                <a:latin typeface="Arial"/>
              </a:rPr>
              <a:t>A fila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481580"/>
            <a:ext cx="2936138" cy="2487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Os 200 da semana, com motivo em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português e o que oferecer.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gold.fila_semanal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as 4 ferramentas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33672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4471924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Cada prompt termina em DEPLOY. Não é protótipo que vira produção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depois: já nasce dentro do pipeline que roda sozinho todo 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ONDE ESSE CÓDIGO VAI MORAR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ML é camada, não projeto à parte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Nenhum repositório novo. As três tarefas entram no MESMO job de terça.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20824"/>
            <a:ext cx="10820095" cy="1874519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3447" y="2276856"/>
            <a:ext cx="9372447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raw → bronze → silver ×4 → dimensões → fato → marts → testes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                                          ├→ métricas → auditoria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                                          └→ ml_features → ml_modelo → ml_fila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23944"/>
            <a:ext cx="10820095" cy="585216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4305109"/>
            <a:ext cx="38404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12 → 15 tarefas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0056" y="4305109"/>
            <a:ext cx="61566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job de ontem ganha três. Continua sendo um bundle run só.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837176"/>
            <a:ext cx="10820095" cy="585216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5018341"/>
            <a:ext cx="38404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Os mesmos testes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0056" y="5018341"/>
            <a:ext cx="61566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Modelo ruim quebra o pipeline, igual a dado nulo.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550408"/>
            <a:ext cx="10820095" cy="585216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5731573"/>
            <a:ext cx="38404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 mesma auditoria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0056" y="5731573"/>
            <a:ext cx="61566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Faltou COMMENT numa coluna de feature? O job para.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 NOITE 2 DEIXOU PRONTO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matéria-prima já está na mesa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9621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37360"/>
            <a:ext cx="10088575" cy="962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>
                <a:solidFill>
                  <a:srgbClr val="7CC8FF"/>
                </a:solidFill>
                <a:latin typeface="Consolas"/>
              </a:rPr>
              <a:t>SELECT COUNT(*) AS linhas, ROUND(SUM(receita), 2) AS receita</a:t>
            </a:r>
          </a:p>
          <a:p>
            <a:pPr algn="l">
              <a:lnSpc>
                <a:spcPct val="142000"/>
              </a:lnSpc>
            </a:pPr>
            <a:r>
              <a:rPr sz="1400" b="0">
                <a:solidFill>
                  <a:srgbClr val="7CC8FF"/>
                </a:solidFill>
                <a:latin typeface="Consolas"/>
              </a:rPr>
              <a:t>FROM   lakehouse_rotaperfume.gold.fato_vendas;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743200"/>
            <a:ext cx="5227167" cy="13716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62656"/>
            <a:ext cx="45870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20">
                <a:solidFill>
                  <a:srgbClr val="7CC8FF"/>
                </a:solidFill>
                <a:latin typeface="Arial"/>
              </a:rPr>
              <a:t>191.080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45870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linhas no fato, no grão de item de pedido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743200"/>
            <a:ext cx="5227167" cy="13716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962656"/>
            <a:ext cx="45870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20">
                <a:solidFill>
                  <a:srgbClr val="7CC8FF"/>
                </a:solidFill>
                <a:latin typeface="Arial"/>
              </a:rPr>
              <a:t>R$ 102.303.828,05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584448"/>
            <a:ext cx="45870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de receita, com devolução já descontada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389120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551997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4 dimensões + 1 fato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8696" y="4551997"/>
            <a:ext cx="5608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cliente, produto, vendedor, calendário — e fato_vendas.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065776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5228653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3 marts + 6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68696" y="5228653"/>
            <a:ext cx="5608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vendedor, produto, financeiro. E as views que o Genie já lê.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742432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5905309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11 testes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68696" y="5905309"/>
            <a:ext cx="5608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 interrompem o job quando o número não fecha.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POR QUE ESSA TABELA EXISTE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dado não chegou assim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As dez sujeiras da noite 2, nos números do dataset de vocês.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20824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174557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3.443 pedidos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8536" y="2174557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12% das datas vieram em dd/mm/aaaa, o resto em ISO.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79191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832925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40 clientes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832925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duplicados: id novo, mesmo CNPJ escrito de outro jeito.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37559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491293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1.111 + 223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8536" y="3491293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CNPJ pontuado e CNPJ com espaço em volta. Três formatos ao todo.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95927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" y="4149661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957 pedidos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88536" y="4149661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cancelados com valor_total = 0 — e o ITEM sem flag nenhuma.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654295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6" y="4808029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2.327 itens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536" y="4808029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de devolução, gravados como quantidade negativa.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04688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5736335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A bronze guardou tudo isso exatamente como veio.</a:t>
            </a:r>
          </a:p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A silver é onde some — e é por isso que hoje dá para construir feature.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ACONTECE SE NINGUÉM LIMPAR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R$ 3,5 milhões de receita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que nunca existiu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93391"/>
            <a:ext cx="10820095" cy="1584325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21991"/>
            <a:ext cx="10088575" cy="158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-- somando o item cru, como ele veio do ERP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SELECT SUM(valor_bruto) FROM bronze.itens_pedido;   -- 105.890.448,42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-- a gold, com os 957 pedidos cancelados fora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SELECT SUM(receita)     FROM gold.fato_vendas;      -- 102.303.828,05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142231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4314253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 diferença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85816" y="4314253"/>
            <a:ext cx="5790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R$ 3.586.620,37 em itens de pedido que o cliente cancelou.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837175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5009197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Por que passa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85816" y="5009197"/>
            <a:ext cx="5790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pedido diz valor_total = 0. O item não diz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532119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5704141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O que quebraria 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6" y="5704141"/>
            <a:ext cx="5790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'Quanto este cliente gasta' erraria em todo cliente que já cancelou.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ANTES DE QUALQUER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é um modelo, afinal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708213"/>
            <a:ext cx="292607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NÃO 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1708213"/>
            <a:ext cx="70710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 programa com regras que alguém escreveu. Ninguém digita 'se atraso &gt; 2 então quente'.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58568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458021"/>
            <a:ext cx="292607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5656" y="2458021"/>
            <a:ext cx="70710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uma função que recebe colunas e devolve um número entre 0 e 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08376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207829"/>
            <a:ext cx="292607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Aprende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05656" y="3207829"/>
            <a:ext cx="70710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olhando milhares de clientes do passado em que a resposta JÁ é conhecida.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58184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957637"/>
            <a:ext cx="292607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Devolve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5656" y="3957637"/>
            <a:ext cx="70710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uma nota de propensão. Não uma certeza, não uma causa, não uma promessa.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8912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604511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Ele não descobre POR QUE o cliente compra.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Ele descobre quais combinações de colunas andaram junto com 'comprou'.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QUATRO PALAVRAS QUE VÃO APARECER A NOITE INTEIRA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Feature, rótulo, treino e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19202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24987" y="1764792"/>
            <a:ext cx="8480907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FEATURES (X)                          RÓTULO (y)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o que se sabia até 31/07              o que aconteceu depois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┌──────────────────────────┐          ┌──────────┐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│ recência  atraso  ticket │   ──→    │ comprou? │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└──────────────────────────┘          └──────────┘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5760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3847909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Treino  ·  75%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4296" y="3847909"/>
            <a:ext cx="65224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clientes que o modelo VÊ. É olhando para eles que ele se ajusta.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38912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579429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Teste  · 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4579429"/>
            <a:ext cx="65224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que ele NÃO vê. A única nota honesta que existe.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074920"/>
            <a:ext cx="10820095" cy="8686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83707"/>
            <a:ext cx="100519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Nota tirada no treino é prova com o gabarito na mão.</a:t>
            </a:r>
          </a:p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Todo número que a gente levar para a tela sai do teste.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ESTAMOS ASSUMINDO — E ONDE ISSO QUEBRA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As cinco premissas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662493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passado se repete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8696" y="1662493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setembro se parece o bastante com agosto. Quebra em mudança de política comercial.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67128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320861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futuro não entrou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8696" y="2320861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nenhuma coluna sabe o que houve depois do corte. É o vazamento, e é o próximo slide.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25496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979229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Uma linha por cliente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68696" y="2979229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clientes não se influenciam. Quebra se dois forem a mesma rede.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83863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637597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Treino parecido com o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68696" y="3637597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eu pontuo se parece com quem eu treinei. Quebra com base nova.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142231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295965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Ordenar, não explicar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68696" y="4295965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'atraso alto anda junto com compra' não é 'atraso alto CAUSA compra'.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C8FF"/>
                </a:solidFill>
                <a:latin typeface="Arial"/>
              </a:rPr>
              <a:t>Premissa não é detalhe teórico: é a lista do que conferir quando o modelo começar a errar.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1 DE 3 · PRIMEIRO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 que descreve</a:t>
            </a:r>
          </a:p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um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85546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A parte que mais vale dinheiro no projeto.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PALAVRA QUE DESCREVE 80% DO TRABALHO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é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747012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Transformar o dado que existe em colunas que RESPONDEM à pergunta.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mesma informação, escrita de outro jeito, vale muito diferente.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651760"/>
            <a:ext cx="3448202" cy="2103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89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AGREGAR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99206"/>
            <a:ext cx="293613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Muitas linhas viram uma.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28.729 pedidos → um número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por cliente: quantos, quanto,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quando foi o último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1746" y="2651760"/>
            <a:ext cx="3448202" cy="2103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889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RELATIVIZAR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99206"/>
            <a:ext cx="293613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Comparar o cliente com ele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mesmo.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'20 dias sem comprar' vira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'2,9× o ciclo dele'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7692" y="2651760"/>
            <a:ext cx="3448202" cy="2103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889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SINALIZAR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99206"/>
            <a:ext cx="293613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Evento vira coluna.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'apareceu na lista de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compradores do lançamento'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vira 1 ou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83480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5155501"/>
            <a:ext cx="2926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que NÃO 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05656" y="5155501"/>
            <a:ext cx="70710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escolher algoritmo, ajustar hiperparâmetro, procurar biblioteca nova.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TUDO SAI DA GOLD DE ONTEM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Nenhuma fonte nova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10820095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76347" y="2039112"/>
            <a:ext cx="9029547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7CC8FF"/>
                </a:solidFill>
                <a:latin typeface="Consolas"/>
              </a:rPr>
              <a:t>gold.fato_vendas       ─┐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7CC8FF"/>
                </a:solidFill>
                <a:latin typeface="Consolas"/>
              </a:rPr>
              <a:t>silver.oportunidades   ─┼→   gold.features_cliente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7CC8FF"/>
                </a:solidFill>
                <a:latin typeface="Consolas"/>
              </a:rPr>
              <a:t>silver.visitas         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CC8FF"/>
                </a:solidFill>
                <a:latin typeface="Arial"/>
              </a:rPr>
              <a:t>Uma linha por cliente. Vinte colunas descrevendo o comportamento dele.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7CC8FF"/>
                </a:solidFill>
                <a:latin typeface="Arial"/>
              </a:rPr>
              <a:t>É isso que o modelo vai ler.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PONTO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Recência, frequência, 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448202" cy="23774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965960"/>
            <a:ext cx="286298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spc="-30">
                <a:solidFill>
                  <a:srgbClr val="3B9DF5"/>
                </a:solidFill>
                <a:latin typeface="Arial"/>
              </a:rPr>
              <a:t>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2715768"/>
            <a:ext cx="28629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Faz quanto tempo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que ele comprou?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3566160"/>
            <a:ext cx="28629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C8FF"/>
                </a:solidFill>
                <a:latin typeface="Consolas"/>
              </a:rPr>
              <a:t>recencia_dias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1746" y="1691640"/>
            <a:ext cx="3448202" cy="23774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4354" y="1965960"/>
            <a:ext cx="286298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spc="-30">
                <a:solidFill>
                  <a:srgbClr val="3B9DF5"/>
                </a:solidFill>
                <a:latin typeface="Arial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4354" y="2715768"/>
            <a:ext cx="28629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Com que frequência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ele compra?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4354" y="3566160"/>
            <a:ext cx="28629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C8FF"/>
                </a:solidFill>
                <a:latin typeface="Consolas"/>
              </a:rPr>
              <a:t>frequencia_pedidos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7692" y="1691640"/>
            <a:ext cx="3448202" cy="23774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0300" y="1965960"/>
            <a:ext cx="286298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spc="-30">
                <a:solidFill>
                  <a:srgbClr val="3B9DF5"/>
                </a:solidFill>
                <a:latin typeface="Arial"/>
              </a:rP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0300" y="2715768"/>
            <a:ext cx="28629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Quanto ele gasta?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0300" y="3566160"/>
            <a:ext cx="28629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C8FF"/>
                </a:solidFill>
                <a:latin typeface="Consolas"/>
              </a:rPr>
              <a:t>valor_total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468112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5685536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Três colunas. Se você só tiver isso, já é melhor que a intuição.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PROBLEMA DO BÁSICO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Dois clientes, a mesma recência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27167" cy="221284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4495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spc="-20">
                <a:solidFill>
                  <a:srgbClr val="FFFFFF"/>
                </a:solidFill>
                <a:latin typeface="Arial"/>
              </a:rPr>
              <a:t>Perfumaria Aurora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449564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9BAAC0"/>
                </a:solidFill>
                <a:latin typeface="Arial"/>
              </a:rPr>
              <a:t>Comprou há 20 dias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9BAAC0"/>
                </a:solidFill>
                <a:latin typeface="Arial"/>
              </a:rPr>
              <a:t>Compra a cada 7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81528"/>
            <a:ext cx="449564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spc="-15">
                <a:solidFill>
                  <a:srgbClr val="FF6B5A"/>
                </a:solidFill>
                <a:latin typeface="Arial"/>
              </a:rPr>
              <a:t>Quase 3x atrasado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47288"/>
            <a:ext cx="449564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Liga hoje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227167" cy="221284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4487" y="1856232"/>
            <a:ext cx="4495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spc="-20">
                <a:solidFill>
                  <a:srgbClr val="FFFFFF"/>
                </a:solidFill>
                <a:latin typeface="Arial"/>
              </a:rPr>
              <a:t>Boutique Essenza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404872"/>
            <a:ext cx="449564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9BAAC0"/>
                </a:solidFill>
                <a:latin typeface="Arial"/>
              </a:rPr>
              <a:t>Comprou há 20 dias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9BAAC0"/>
                </a:solidFill>
                <a:latin typeface="Arial"/>
              </a:rPr>
              <a:t>Compra a cada 90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3081528"/>
            <a:ext cx="449564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spc="-15">
                <a:solidFill>
                  <a:srgbClr val="3B9DF5"/>
                </a:solidFill>
                <a:latin typeface="Arial"/>
              </a:rPr>
              <a:t>Está no ritmo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487" y="3447288"/>
            <a:ext cx="449564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Não incomoda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193792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5432044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Mesma recência. Situações opostas.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Ordenar por recência coloca os dois na mesma posição da fila.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CONHECIMENTO DE NEGÓCIO VIRANDO COLUNA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Atraso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7CC8FF"/>
                </a:solidFill>
                <a:latin typeface="Consolas"/>
              </a:rPr>
              <a:t>atraso_relativo  =  recencia_dias / intervalo_medio_dias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606040"/>
            <a:ext cx="3448202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437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Consolas"/>
              </a:rPr>
              <a:t>~1,0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392932"/>
            <a:ext cx="293613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Está no ritmo dele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ROTINA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1746" y="2606040"/>
            <a:ext cx="3448202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8437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Consolas"/>
              </a:rPr>
              <a:t>2,0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392932"/>
            <a:ext cx="293613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Duas vezes atrasado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ATENÇÃO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7692" y="2606040"/>
            <a:ext cx="3448202" cy="15727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8437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6B5A"/>
                </a:solidFill>
                <a:latin typeface="Consolas"/>
              </a:rPr>
              <a:t>&gt; 3,0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392932"/>
            <a:ext cx="293613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Provavelmente foi pro concorrente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URGENTE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04688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7CC8FF"/>
                </a:solidFill>
                <a:latin typeface="Arial"/>
              </a:rPr>
              <a:t>Não vem de biblioteca nenhuma. Vem de entender como a empresa vende.</a:t>
            </a:r>
          </a:p>
          <a:p>
            <a:pPr algn="l">
              <a:lnSpc>
                <a:spcPct val="130000"/>
              </a:lnSpc>
            </a:pPr>
            <a:r>
              <a:rPr sz="1600" b="1">
                <a:solidFill>
                  <a:srgbClr val="7CC8FF"/>
                </a:solidFill>
                <a:latin typeface="Arial"/>
              </a:rPr>
              <a:t>É essa feature que vai ordenar a fila dos 200.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O CLAUDE CODE VAI CONSTRUIR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Quatro grupos, uma tabela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2526715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746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RFM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156206"/>
            <a:ext cx="2014651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recência, frequência, valor total, ticket médio, margem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0259" y="1508760"/>
            <a:ext cx="2526715" cy="15727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6291" y="1746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Ritmo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6291" y="2156206"/>
            <a:ext cx="2014651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intervalo médio, desvio do intervalo, atraso relativo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4719" y="1508760"/>
            <a:ext cx="2526715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1746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CRM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156206"/>
            <a:ext cx="2014651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oportunidades, taxa de ganho, visitas, conversão de visita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9" y="1508760"/>
            <a:ext cx="2526715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211" y="1746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Mix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211" y="2156206"/>
            <a:ext cx="2014651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SKUs, categorias, concentração em marca, comprou lançamento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19272"/>
            <a:ext cx="10820095" cy="13589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547872"/>
            <a:ext cx="10088575" cy="1358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SELECT razao_social, recencia_dias, intervalo_medio_dias,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     ROUND(atraso_relativo, 1) AS atraso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FROM   lakehouse_rotaperfume.gold.features_cliente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ORDER  BY atraso_relativo DESC LIMIT 10;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2 DE 3 · SEGUNDO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014215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E o erro que mata projeto em produção.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ESPECIFICAÇÃO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Antes de codar, escreva em uma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129844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837944"/>
            <a:ext cx="9905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spc="-18">
                <a:solidFill>
                  <a:srgbClr val="FFFFFF"/>
                </a:solidFill>
                <a:latin typeface="Arial"/>
              </a:rPr>
              <a:t>Dado o comportamento de um cliente até hoje, qual a probabilidade</a:t>
            </a:r>
          </a:p>
          <a:p>
            <a:pPr algn="l">
              <a:lnSpc>
                <a:spcPct val="130000"/>
              </a:lnSpc>
            </a:pPr>
            <a:r>
              <a:rPr sz="2100" b="1" spc="-18">
                <a:solidFill>
                  <a:srgbClr val="FFFFFF"/>
                </a:solidFill>
                <a:latin typeface="Arial"/>
              </a:rPr>
              <a:t>de ele fazer um pedido nos próximos 7 dias?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81528"/>
            <a:ext cx="2526715" cy="14173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319272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Unidade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713480"/>
            <a:ext cx="2014651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 cliente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0259" y="3081528"/>
            <a:ext cx="2526715" cy="14173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6291" y="3319272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Janela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6291" y="3713480"/>
            <a:ext cx="2014651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7 dias — a semana da ligação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4719" y="3081528"/>
            <a:ext cx="2526715" cy="14173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0751" y="3319272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Rótulo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713480"/>
            <a:ext cx="2014651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Comprou (1) ou não (0)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179" y="3081528"/>
            <a:ext cx="2526715" cy="14173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211" y="3319272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3B9DF5"/>
                </a:solidFill>
                <a:latin typeface="Arial"/>
              </a:rPr>
              <a:t>Uso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211" y="3713480"/>
            <a:ext cx="2014651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Ordenar a fila dos 200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PARTE QUE TODO MUNDO ACHA QUE É O TRABALHO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algoritmo tem três linhas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126873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37360"/>
            <a:ext cx="10088575" cy="12687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>
                <a:solidFill>
                  <a:srgbClr val="7CC8FF"/>
                </a:solidFill>
                <a:latin typeface="Consolas"/>
              </a:rPr>
              <a:t>modelo = HistGradientBoostingClassifier(random_state=42)</a:t>
            </a:r>
          </a:p>
          <a:p>
            <a:pPr algn="l">
              <a:lnSpc>
                <a:spcPct val="142000"/>
              </a:lnSpc>
            </a:pPr>
            <a:r>
              <a:rPr sz="1500" b="0">
                <a:solidFill>
                  <a:srgbClr val="7CC8FF"/>
                </a:solidFill>
                <a:latin typeface="Consolas"/>
              </a:rPr>
              <a:t>modelo.fit(X_treino, y_treino)</a:t>
            </a:r>
          </a:p>
          <a:p>
            <a:pPr algn="l">
              <a:lnSpc>
                <a:spcPct val="142000"/>
              </a:lnSpc>
            </a:pPr>
            <a:r>
              <a:rPr sz="1500" b="0">
                <a:solidFill>
                  <a:srgbClr val="7CC8FF"/>
                </a:solidFill>
                <a:latin typeface="Consolas"/>
              </a:rPr>
              <a:t>score  = modelo.predict_proba(X_cliente)[:, 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8036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3088957"/>
            <a:ext cx="49377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Por que árvore, e não regressão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7336" y="3088957"/>
            <a:ext cx="50593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Ela acha sozinha que atraso perto de 1,5 é ouro e acima de 3 é cliente perdido.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48456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857053"/>
            <a:ext cx="49377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predict_proba, nunca predict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7336" y="3857053"/>
            <a:ext cx="50593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predict devolve 0 ou 1. A fila precisa de nota, não de sim ou não.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416552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625149"/>
            <a:ext cx="49377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random_state=42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7336" y="4625149"/>
            <a:ext cx="50593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Sem semente fixa, dois treinos dão listas diferentes. E aí ninguém confia.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07492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5290311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Estas três linhas são iguais em qualquer empresa do mundo.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que muda é o X — e o X foi o prompt 1.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ACONTECE DENTRO DO FIT()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Como a árvore aprende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21488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71597" y="1764792"/>
            <a:ext cx="8934297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7CC8FF"/>
                </a:solidFill>
                <a:latin typeface="Consolas"/>
              </a:rPr>
              <a:t>palpite inicial      10,1% para todo mundo   (a taxa base)</a:t>
            </a:r>
          </a:p>
          <a:p>
            <a:pPr algn="l">
              <a:lnSpc>
                <a:spcPct val="150000"/>
              </a:lnSpc>
            </a:pPr>
            <a:r>
              <a:rPr sz="1250" b="1">
                <a:solidFill>
                  <a:srgbClr val="7CC8FF"/>
                </a:solidFill>
                <a:latin typeface="Consolas"/>
              </a:rPr>
              <a:t>  + árvore 1         "atraso entre 1 e 2?"     corrige o erro que sobrou</a:t>
            </a:r>
          </a:p>
          <a:p>
            <a:pPr algn="l">
              <a:lnSpc>
                <a:spcPct val="150000"/>
              </a:lnSpc>
            </a:pPr>
            <a:r>
              <a:rPr sz="1250" b="1">
                <a:solidFill>
                  <a:srgbClr val="7CC8FF"/>
                </a:solidFill>
                <a:latin typeface="Consolas"/>
              </a:rPr>
              <a:t>  + árvore 2         "visitou nos últimos 30d?" corrige o que ainda sobrou</a:t>
            </a:r>
          </a:p>
          <a:p>
            <a:pPr algn="l">
              <a:lnSpc>
                <a:spcPct val="150000"/>
              </a:lnSpc>
            </a:pPr>
            <a:r>
              <a:rPr sz="1250" b="1">
                <a:solidFill>
                  <a:srgbClr val="7CC8FF"/>
                </a:solidFill>
                <a:latin typeface="Consolas"/>
              </a:rPr>
              <a:t>  + ... 200 árvores rasas, cada uma consertando a anterior</a:t>
            </a:r>
          </a:p>
          <a:p>
            <a:pPr algn="l">
              <a:lnSpc>
                <a:spcPct val="150000"/>
              </a:lnSpc>
            </a:pPr>
            <a:r>
              <a:rPr sz="1250" b="1">
                <a:solidFill>
                  <a:srgbClr val="7CC8FF"/>
                </a:solidFill>
                <a:latin typeface="Consolas"/>
              </a:rPr>
              <a:t>  = score do 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886200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4058221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Uma árvore 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0056" y="4058221"/>
            <a:ext cx="61566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uma sequência de perguntas sim/não sobre as colunas.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581144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753165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Boosting 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0056" y="4753165"/>
            <a:ext cx="61566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somar centenas delas, cada uma treinada no erro que sobrou.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76088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5448109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Por que serve aqui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6" y="5448109"/>
            <a:ext cx="61566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acha os pontos de corte sozinha, aguenta nulo e não liga para escala.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PERGUNTA QUE VEM DA SALA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Por que árvore, e não Poisson?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78638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798764"/>
            <a:ext cx="3383279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Regressão logística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2856" y="1798764"/>
            <a:ext cx="661385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Um coeficiente por coluna, fácil de explicar. Assume relação de linha reta — e atraso 1,5 é ótimo enquanto atraso 5 é péssimo.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23160"/>
            <a:ext cx="10820095" cy="78638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713164"/>
            <a:ext cx="3383279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Poisson / BG-NBD</a:t>
            </a:r>
          </a:p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+ Monte Carlo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6" y="2713164"/>
            <a:ext cx="661385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Modela a TAXA de compra de cada cliente e simula a semana. É o mais fiel ao ciclo de reposição e diz QUANTOS pedidos, não só se compra.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37560"/>
            <a:ext cx="10820095" cy="78638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627564"/>
            <a:ext cx="3383279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Uplift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6" y="3627564"/>
            <a:ext cx="661385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Responde 'quem muda de comportamento SE eu ligar'. É a pergunta certa quando há desconto — e exige teste A/B: metade da lista sem contato.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51960"/>
            <a:ext cx="10820095" cy="78638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4541964"/>
            <a:ext cx="3383279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B9DF5"/>
                </a:solidFill>
                <a:latin typeface="Arial"/>
              </a:rPr>
              <a:t>Árvore  ·  a escolha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4541964"/>
            <a:ext cx="661385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Acha sozinha que atraso perto de 1,5 é ouro. Aceita as 20 colunas como vieram, sem transformar nada.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07492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5306567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Nenhum está errado. O critério foi: qual usa TODO o dado que a gente</a:t>
            </a:r>
          </a:p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limpou ontem — e cabe em três linhas, ao vivo.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PALAVRA QUE VAI APARECER A NOITE INTEIRA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é AUC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120700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801368"/>
            <a:ext cx="9905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Sorteie dois clientes: um que comprou e um que não.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Com que frequência o modelo dá a nota maior para quem comprou?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71800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09544"/>
            <a:ext cx="19780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spc="-25">
                <a:solidFill>
                  <a:srgbClr val="FF6B5A"/>
                </a:solidFill>
                <a:latin typeface="Arial"/>
              </a:rPr>
              <a:t>0,35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813048"/>
            <a:ext cx="19780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quem sumiu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178808"/>
            <a:ext cx="19780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a fila está INVERTIDA: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seguir o contrário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seria melhor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0259" y="2971800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4579" y="3209544"/>
            <a:ext cx="19780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spc="-25">
                <a:solidFill>
                  <a:srgbClr val="FFFFFF"/>
                </a:solidFill>
                <a:latin typeface="Arial"/>
              </a:rPr>
              <a:t>0,50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4579" y="3813048"/>
            <a:ext cx="19780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a moeda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4579" y="4178808"/>
            <a:ext cx="19780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acerta a ordem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metade das vezes.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não sabe nada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4719" y="2971800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9039" y="3209544"/>
            <a:ext cx="19780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spc="-25">
                <a:solidFill>
                  <a:srgbClr val="FFFFFF"/>
                </a:solidFill>
                <a:latin typeface="Arial"/>
              </a:rPr>
              <a:t>0,64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039" y="3813048"/>
            <a:ext cx="19780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os maiores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039" y="4178808"/>
            <a:ext cx="19780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acerta 64 de cada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100 pares. melhor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que nada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9179" y="2971800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499" y="3209544"/>
            <a:ext cx="19780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spc="-25">
                <a:solidFill>
                  <a:srgbClr val="3B9DF5"/>
                </a:solidFill>
                <a:latin typeface="Arial"/>
              </a:rPr>
              <a:t>0,88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499" y="3813048"/>
            <a:ext cx="19780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o modelo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3499" y="4178808"/>
            <a:ext cx="19780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quem comprou vem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na frente em 88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de cada 100 pares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39496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" y="5610352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AUC compara FILAS. Lift conta LIGAÇÕES.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primeira é para você conferir; a segunda é para a reunião.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ERRO QUE MAIS MATA MODELO NA VIDA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Prever a semana que vem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com informação da semana que 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93391"/>
            <a:ext cx="10820095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76397" y="2249424"/>
            <a:ext cx="8629497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|---- features até 31/07 ----|CORTE|---- comprou até 07/08? ----|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                            01/08/2026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364991"/>
            <a:ext cx="5291175" cy="14813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602735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FF6B5A"/>
                </a:solidFill>
                <a:latin typeface="Arial"/>
              </a:rPr>
              <a:t>Errado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027931"/>
            <a:ext cx="4779111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Features com todo o histórico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AUC 0,98 — e quebra em produção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3364991"/>
            <a:ext cx="5291175" cy="14813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0751" y="3602735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B9DF5"/>
                </a:solidFill>
                <a:latin typeface="Arial"/>
              </a:rPr>
              <a:t>Certo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0751" y="4027931"/>
            <a:ext cx="4779111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Features cortadas em 31/07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AUC menor — e funciona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02352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319776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AUC alto demais é sinal de vazamento, não de competência.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POR QUE O MODELO ENTRA NOS MESMOS TESTES DE ONTEM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Um dado errado quebra.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Um modelo ruim funciona.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93391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2192845"/>
            <a:ext cx="38404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Dado nulo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0056" y="2192845"/>
            <a:ext cx="61566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Explode, fica vermelho, alguém é avisado no mesmo dia.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942653"/>
            <a:ext cx="38404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Modelo ruim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0056" y="2942653"/>
            <a:ext cx="61566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Devolve nota para todo mundo, na faixa certa, sem erro nenhum.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93008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692461"/>
            <a:ext cx="38404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O resultado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0056" y="3692461"/>
            <a:ext cx="61566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Pipeline verde, dashboard atualizado, e a lista errada por seis meses.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79392"/>
            <a:ext cx="10820095" cy="1133475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07992"/>
            <a:ext cx="10088575" cy="1133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assert auc &gt; melhor_baseline + 0.05, "o modelo não ganha da regra simples"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assert auc &lt; 0.99,                   "bom demais é vazamento"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assert lift_top200 &gt;= 2.5,           "a fila não se paga"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6188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7CC8FF"/>
                </a:solidFill>
                <a:latin typeface="Arial"/>
              </a:rPr>
              <a:t>O teste que quase ninguém escreve é o primeiro: o modelo ganha do que a gente já fazia de graça?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AINDA NO PROMPT 2 · TERCEIRO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MLflow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014215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Por que não basta salvar um .pkl numa pasta.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ANTES DO PORQUÊ, O QUÊ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é MLflow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747012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Uma biblioteca aberta — criada pela Databricks — que registra tudo o que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acontece num treino, e um servidor que guarda isso para sempre.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651760"/>
            <a:ext cx="2526715" cy="19659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89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99206"/>
            <a:ext cx="2014651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diário.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Cada treino vira um run,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com o que entrou e o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que saiu.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0259" y="2651760"/>
            <a:ext cx="2526715" cy="19659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6291" y="2889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6291" y="3299206"/>
            <a:ext cx="2014651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formato do pacote.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modelo + o ambiente +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schema de entrada,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num diretório só.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4719" y="2651760"/>
            <a:ext cx="2526715" cy="19659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0751" y="2889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Registry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299206"/>
            <a:ext cx="2014651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versionamento.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v1, v2, v3 e os apelidos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@prod e @challenger.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179" y="2651760"/>
            <a:ext cx="2526715" cy="19659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211" y="2889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211" y="3299206"/>
            <a:ext cx="2014651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A comparação.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Dois modelos lado a lado,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na mesma tela, com as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mesmas métricas.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818888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990909"/>
            <a:ext cx="2926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No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5656" y="4990909"/>
            <a:ext cx="70710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já vem instalado, e o Registry É o Unity Catalog — o mesmo do dado.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QUANDO VOCÊ NÃO ESTIVER MAIS NO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“Esse modelo ainda está bom?”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08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PERGUNTA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5976" y="1508760"/>
            <a:ext cx="4510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SEM MLFLOW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9280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083117"/>
            <a:ext cx="5486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Qual versão está em produção?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5976" y="2083117"/>
            <a:ext cx="451073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Ninguém sabe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2432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814637"/>
            <a:ext cx="5486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Com que dado foi treinada?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5976" y="2814637"/>
            <a:ext cx="451073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Perdido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5584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546157"/>
            <a:ext cx="5486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Está melhor ou pior que a anterior?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3546157"/>
            <a:ext cx="451073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Impossível comparar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08736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277677"/>
            <a:ext cx="5486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Quem treinou e quando?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5976" y="4277677"/>
            <a:ext cx="451073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cara saiu da empresa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486400"/>
            <a:ext cx="10820095" cy="93268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710935"/>
            <a:ext cx="10051999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MLflow não faz a empresa vender mais. O MODELO faz.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MLflow garante que ele continue existindo depois que você sair.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TRÊS COISAS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o MLflow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3448202" cy="129844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Tracking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156206"/>
            <a:ext cx="293613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Registra cada treino: parâmetros, métricas, artefatos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508760"/>
            <a:ext cx="3448202" cy="129844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Model Registry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156206"/>
            <a:ext cx="293613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Versiona e controla o estágio: staging, produção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508760"/>
            <a:ext cx="3448202" cy="129844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Comparação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156206"/>
            <a:ext cx="293613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Dois modelos lado a lado, na mesma tela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26664"/>
            <a:ext cx="10820095" cy="175564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255264"/>
            <a:ext cx="10088575" cy="1755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with mlflow.start_run(run_name="propensao_v1"):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mlflow.log_params(params)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mlflow.log_metric("auc", auc)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mlflow.log_metric("lift_top200", lift)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mlflow.sklearn.log_model(modelo, "modelo",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    registered_model_name="propensao_compra")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05332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7CC8FF"/>
                </a:solidFill>
                <a:latin typeface="Arial"/>
              </a:rPr>
              <a:t>Repare no lift_top200. Essa é a métrica que responde a pergunta do diretor — e é ela que a gente versiona.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FICA GUARDADO A CADA TREINO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anatomia de um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662493"/>
            <a:ext cx="2743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params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22776" y="1662493"/>
            <a:ext cx="725393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que VOCÊ escolheu: max_iter, learning_rate, a data de corte, a janela.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67128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320861"/>
            <a:ext cx="2743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22776" y="2320861"/>
            <a:ext cx="725393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que SAIU: auc, lift_top200, acertos_top200, a taxa base.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25496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979229"/>
            <a:ext cx="2743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artifacts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22776" y="2979229"/>
            <a:ext cx="725393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modelo serializado, e qualquer gráfico ou arquivo que você anexar.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83863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637597"/>
            <a:ext cx="2743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signature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22776" y="3637597"/>
            <a:ext cx="725393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schema de entrada e saída. É o que impede alguém de pontuar com as colunas trocadas.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142231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295965"/>
            <a:ext cx="2743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source + tags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22776" y="4295965"/>
            <a:ext cx="725393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qual notebook rodou, qual job, qual commit, quem disparou e quando.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504688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5736335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Um run por treino. Vinte treinos viram uma tabela de vinte linhas</a:t>
            </a:r>
          </a:p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que você ordena por lift — sem abrir um notebook sequer.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POR QUE ISSO IMPORTA NESTE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motivos concretos,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não boas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93391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2238565"/>
            <a:ext cx="42062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job retreina sozinho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5816" y="2238565"/>
            <a:ext cx="5790895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Toda semana nasce um modelo novo. Sem registry, ninguém sabe qual gerou a fila de hoje.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834639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3079813"/>
            <a:ext cx="42062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 fila guarda a versão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85816" y="3079813"/>
            <a:ext cx="5790895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score_propensao grava o número da versão. Dá para auditar a lista de três semanas atrás.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675887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921061"/>
            <a:ext cx="42062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Rollback é uma linha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5816" y="3921061"/>
            <a:ext cx="5790895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set_registered_model_alias(modelo, 'prod', 1). Nenhum deploy, nenhum código alterado.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45152"/>
            <a:ext cx="10820095" cy="92608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73752"/>
            <a:ext cx="10088575" cy="926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# quem consome nunca precisa saber o número da versão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mlflow.sklearn.load_model("models:/...propensao_compra@prod")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03504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7CC8FF"/>
                </a:solidFill>
                <a:latin typeface="Arial"/>
              </a:rPr>
              <a:t>Sem isso, "o modelo está pior esse mês" é uma conversa sem prova de nenhum dos dois lados.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O DATABRICKS ENTREGA AQUI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modelo do lado das tabelas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708213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Mesmo catálogo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5816" y="1708213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lakehouse_rotaperfume.gold.propensao_compra. Mesmo GRANT, mesma auditoria.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58568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458021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Linhagem inteira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85816" y="2458021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Do CSV que chegou às 6h até a lista que o vendedor abre às 8h.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08376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207829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Alias, não estágio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5816" y="3207829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@prod é um apelido móvel. Promover e reverter é um comando.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58184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957637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Um run por treino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5816" y="3957637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'Por que o número mudou?' vira uma tela, não arqueologia.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10820095" cy="92608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88575" cy="926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modelo = mlflow.sklearn.load_model(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    "models:/lakehouse_rotaperfume.gold.propensao_compra@prod")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03504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7CC8FF"/>
                </a:solidFill>
                <a:latin typeface="Arial"/>
              </a:rPr>
              <a:t>Quem consome escreve @prod e nunca precisa saber o número da versão.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3 DE 3 · QUARTO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Os 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014215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Do score à ligação.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PERGUNTA TÉCNICA QUE SEMPRE APARECE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Batch ou tempo real?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708213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 pergunta da noite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5816" y="1708213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'Com quem eu falo essa semana?' Isso não muda a cada clique.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58568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458021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Endpoint serve para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85816" y="2458021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Fraude na autorização. Recomendação no carregamento da página. 50ms.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08376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207829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Aqui seria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5816" y="3207829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Infraestrutura ligada 24h para responder o que só muda de manhã.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58184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957637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tamanho do dado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5816" y="3957637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3.000 clientes cabem na memória. Spark serve para o que não cabe.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8912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627372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score vira TABELA — e tabela o dashboard lê, o Genie lê,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agente lê e o vendedor lê. Endpoint só o código lê.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ONDE OS PROJETOS DE ML MORREM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último metro é o mais difícil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2416987" cy="960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018665"/>
            <a:ext cx="21243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Dado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2787" y="1952244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6835" y="1645920"/>
            <a:ext cx="2416987" cy="960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3139" y="2018665"/>
            <a:ext cx="21243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3823" y="1952244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7871" y="1645920"/>
            <a:ext cx="2416987" cy="960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4175" y="1911350"/>
            <a:ext cx="21243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Score na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tabela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4859" y="1952244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6B5A"/>
                </a:solidFill>
                <a:latin typeface="Arial"/>
              </a:rPr>
              <a:t>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8907" y="1645920"/>
            <a:ext cx="2416987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211" y="1911350"/>
            <a:ext cx="21243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Alguém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ligar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926080"/>
            <a:ext cx="10820095" cy="16002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200400"/>
            <a:ext cx="99056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“Já vi empresa com modelo excelente rodando há dois anos, AUC de 0,89,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e o vendedor continuando a ligar pela intuição. Porque o score estava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numa tabela que ele nunca abriu.”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548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CC8FF"/>
                </a:solidFill>
                <a:latin typeface="Arial"/>
              </a:rPr>
              <a:t>O último metro é o mais difícil. E é o que o agente resolve.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ÚLTIMA CAMADA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Ele não inventa. Ele consulta.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087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FERRAMENTA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68696" y="1508760"/>
            <a:ext cx="5608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FAZ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92808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092261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priorizar_carteira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68696" y="2092261"/>
            <a:ext cx="5608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Cruza carteira + score + features e ordena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42616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842069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contexto_cliente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68696" y="2842069"/>
            <a:ext cx="5608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Histórico, ticket médio, marcas preferidas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92424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591877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sugerir_produtos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8696" y="3591877"/>
            <a:ext cx="5608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que ele compra e parou de comprar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142232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341685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checar_disponibilidade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68696" y="4341685"/>
            <a:ext cx="5608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Estoque real, com flag de ruptura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504688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720079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Regra do sistema: use sempre as ferramentas, nunca invente número.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Agente sem dado organizado por trás é chute com sotaque.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O VENDEDOR ABRE NA SEGUNDA DE MANHÃ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resposta para o diretor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37033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783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6A85"/>
                </a:solidFill>
                <a:latin typeface="Arial"/>
              </a:rPr>
              <a:t>Vendedor: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783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FFFFFF"/>
                </a:solidFill>
                <a:latin typeface="Arial"/>
              </a:rPr>
              <a:t>Quem eu ligo essa semana?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2219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Arial"/>
              </a:rPr>
              <a:t>Agente: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22219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FFFFFF"/>
                </a:solidFill>
                <a:latin typeface="Arial"/>
              </a:rPr>
              <a:t>Seus 6 desta semana, em ordem: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79192"/>
            <a:ext cx="9539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C8FF"/>
                </a:solidFill>
                <a:latin typeface="Arial"/>
              </a:rPr>
              <a:t>1. Perfumaria Aurora — score 0,91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53512"/>
            <a:ext cx="95399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BAAC0"/>
                </a:solidFill>
                <a:latin typeface="Arial"/>
              </a:rPr>
              <a:t>Comprava a cada 8 dias, está há 26 sem pedido. Risco de perder.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9BAAC0"/>
                </a:solidFill>
                <a:latin typeface="Arial"/>
              </a:rPr>
              <a:t>Ofereça: Layali Oud EDP — em estoque.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648456"/>
            <a:ext cx="9539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C8FF"/>
                </a:solidFill>
                <a:latin typeface="Arial"/>
              </a:rPr>
              <a:t>2. Drogaria Bella Vita — score 0,87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922776"/>
            <a:ext cx="95399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BAAC0"/>
                </a:solidFill>
                <a:latin typeface="Arial"/>
              </a:rPr>
              <a:t>Comprou o lançamento no mês passado. Alta chance de repetir.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379976"/>
            <a:ext cx="9539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C8FF"/>
                </a:solidFill>
                <a:latin typeface="Arial"/>
              </a:rPr>
              <a:t>3. Boutique Essenza — score 0,84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54296"/>
            <a:ext cx="95399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BAAC0"/>
                </a:solidFill>
                <a:latin typeface="Arial"/>
              </a:rPr>
              <a:t>R$ 62 mil no ano. Cliente grande, manter próximo.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7044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CC8FF"/>
                </a:solidFill>
                <a:latin typeface="Arial"/>
              </a:rPr>
              <a:t>Os 200 de maior score da base inteira — e a fatia de cada vendedor varia de 2 a 10.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RESPOSTA COMPLETA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Quais 200?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45736" y="15087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ANTES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9016" y="15087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DEPOIS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20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020824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Critério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5736" y="2020824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Intuição do vendedor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9016" y="2020824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Score de propensão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32888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67919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Cobertura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5736" y="26791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20 que ele lembra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9016" y="26791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3.000 avaliados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91256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" y="33375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Ordem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5736" y="33375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Aleatória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9016" y="33375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Por probabilidade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49624"/>
            <a:ext cx="10820095" cy="768096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995928"/>
            <a:ext cx="36576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Contexto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5736" y="3995928"/>
            <a:ext cx="32004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“Faz tempo que não falo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com ele”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9016" y="3995928"/>
            <a:ext cx="32004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Atraso relativo, histórico,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sugestão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727448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" y="487375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Resultado medido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45736" y="487375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20 vendas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9016" y="487375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86 vendas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742432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9848" y="5941568"/>
            <a:ext cx="1005199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Mesmo time. Mesmas 200 ligações. Mais de quatro vezes o resultado.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DE ONDE A GENTE VEIO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arco de três noites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3246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66947" y="1810512"/>
            <a:ext cx="8038947" cy="3246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CSV sujo numa pasta                    segunda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↓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Bronze · Silver · Gold                   terça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↓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Features · Modelo · MLflow              quarta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↓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"Ligue para esses 200"                  quarta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79008"/>
            <a:ext cx="108200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-15">
                <a:solidFill>
                  <a:srgbClr val="7CC8FF"/>
                </a:solidFill>
                <a:latin typeface="Arial"/>
              </a:rPr>
              <a:t>E vocês construíram junto. Não assistiram.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9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0" y="2331720"/>
            <a:ext cx="981151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Dashboard descreve o passado.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Modelo prevê o futuro.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Agente diz o que fazer na segunda de manhã.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