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Deixa a citação respirar. Leia em voz alta, sem pressa, e pare depois de 'Me diz quais 200'. O silêncio aqui vale mais que qualquer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Fala: 'E sim, se a pergunta fosse sobre desconto, o modelo certo seria outro, chamado uplift. Mas aqui a pergunta é priorização de esforço, e para isso propensão é exatamente a ferramenta certa.'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Todos medidos no dataset com seed 42, corte 2026-08-01, janela de 7 dias, score out-of-fold. O zero da segunda linha é o melhor número da aula: a intuição mais comum do comercial acerta nenhum dos 200.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Deploy não é etapa de fim de projeto — é o que acontece toda vez que você termina alguma coisa. Por isso são três, e não um no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assim que nasce o modelo que ninguém consegue colocar em produção: repositório novo, notebook solto, ambiente à parte. Aqui ML é mais uma camada do mesmo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Abra isso no SQL Editor de verdade. São 30 segundos e é o que dá autoridade ao resto: nada do que vem hoje é slide, é tabela.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slide que amarra a noite 2 na noite 3: a feature valor_total do prompt 1 sai daqui. Feature errada não dá erro — dá fila errada.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alguém perguntar 'e se a empresa mudar a política de desconto?': quebra a primeira premissa, o modelo precisa de retreino, e é exatamente por isso que ele mora num pipeline agendado e não num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a parte que não dá para terceirizar: depende de saber como a empresa vende. Duas pessoas com o mesmo dado e o mesmo algoritmo chegam a modelos muito diferentes por causa deste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aqui que a sala espera a aula ficar difícil, e é o slide mais curto da noite. Diga isso em voz alta.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'Hist' do HistGradientBoosting é o truque de velocidade: em vez de testar todo valor possível de corte, agrupa cada coluna em ~255 faixas. Treina em segundos no serverless.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BG/NBD é o modelo clássico de compra recorrente: cada cliente compra a uma taxa própria e, a cada compra, tem uma chance de parar de ser cliente. É lindo e é honesto. O custo é que ele lê só recência e frequência — CRM, visitas e mix ficam de fora, e foi metade do trabalho do prompt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quatro números são as respostas da sala, medidas. O 0,37 é o momento da noite: não é 'um pouco ruim', é invertido — a mesma coisa que o '0 de 200' do slide 7 diz em linguagem comercial. Se alguém perguntar por que não usar acurácia: com 10% de compradores, um modelo que diz 'ninguém compra' acerta 90% e é inútil.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Quebre um destes de propósito ao vivo. Teste que ninguém viu falhar não convence ninguém.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E, honestamente: o Free Edition não oferece endpoint de modelo próprio. A escolha é técnica E é a conta.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perguntarem por que não é a mesma cota para todo mundo: porque a carteira de um vendedor é mais quente que a do outro. A fila é global, a capacidade é que é por pessoa. Dar 5 fixos para cada obrigaria a ligar para cliente frio enquanto sobra cliente quente na mesa do vizinho.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B9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205740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200">
                <a:solidFill>
                  <a:srgbClr val="3B9DF5"/>
                </a:solidFill>
                <a:latin typeface="Arial"/>
              </a:rPr>
              <a:t>IMERSÃO AO VIVO · NOITE 3 DE 4 · 26/08 · 19H30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487168"/>
            <a:ext cx="103327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 spc="-70">
                <a:solidFill>
                  <a:srgbClr val="FFFFFF"/>
                </a:solidFill>
                <a:latin typeface="Arial"/>
              </a:rPr>
              <a:t>Quais 200?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4279392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spc="-15">
                <a:solidFill>
                  <a:srgbClr val="7CC8FF"/>
                </a:solidFill>
                <a:latin typeface="Arial"/>
              </a:rPr>
              <a:t>Ciência de dados e agentes de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59893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66A85"/>
                </a:solidFill>
                <a:latin typeface="Arial"/>
              </a:rPr>
              <a:t>Rota do Perfume · Databricks + MLflow + Claude Code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ONTEM À NOITE, DEPOIS DA AULA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 diretor comercial ligou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10820095" cy="331012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874520"/>
            <a:ext cx="98142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FFFFFF"/>
                </a:solidFill>
                <a:latin typeface="Arial"/>
              </a:rPr>
              <a:t>“Luciano, a plataforma ficou boa. Dashboard bonito, o Genie responde tudo.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496312"/>
            <a:ext cx="98142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>
                <a:solidFill>
                  <a:srgbClr val="9BAAC0"/>
                </a:solidFill>
                <a:latin typeface="Arial"/>
              </a:rPr>
              <a:t>Mas o meu time não vive de dashboard. Eu tenho 42 vendedores e, somando</a:t>
            </a:r>
          </a:p>
          <a:p>
            <a:pPr algn="l">
              <a:lnSpc>
                <a:spcPct val="132000"/>
              </a:lnSpc>
            </a:pPr>
            <a:r>
              <a:rPr sz="1600" b="0">
                <a:solidFill>
                  <a:srgbClr val="9BAAC0"/>
                </a:solidFill>
                <a:latin typeface="Arial"/>
              </a:rPr>
              <a:t>todo mundo, dá umas 200 ligações boas por semana. No melhor mês.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392424"/>
            <a:ext cx="98142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9BAAC0"/>
                </a:solidFill>
                <a:latin typeface="Arial"/>
              </a:rPr>
              <a:t>Eu tenho 3.000 clientes na base.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959352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-20">
                <a:solidFill>
                  <a:srgbClr val="7CC8FF"/>
                </a:solidFill>
                <a:latin typeface="Arial"/>
              </a:rPr>
              <a:t>Me diz quais 200.”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5650992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9848" y="5822695"/>
            <a:ext cx="1005199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Essa é a aula de hoje.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TAMANHO DO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200 de 3.000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18488"/>
            <a:ext cx="3448202" cy="228600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185416"/>
            <a:ext cx="344820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800" b="1" spc="-45">
                <a:solidFill>
                  <a:srgbClr val="FFFFFF"/>
                </a:solidFill>
                <a:latin typeface="Arial"/>
              </a:rPr>
              <a:t>3.000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91256"/>
            <a:ext cx="344820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9BAAC0"/>
                </a:solidFill>
                <a:latin typeface="Arial"/>
              </a:rPr>
              <a:t>clientes na base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1746" y="1618488"/>
            <a:ext cx="3448202" cy="228600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71746" y="2185416"/>
            <a:ext cx="344820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800" b="1" spc="-45">
                <a:solidFill>
                  <a:srgbClr val="FFFFFF"/>
                </a:solidFill>
                <a:latin typeface="Arial"/>
              </a:rPr>
              <a:t>200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71746" y="3191256"/>
            <a:ext cx="344820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9BAAC0"/>
                </a:solidFill>
                <a:latin typeface="Arial"/>
              </a:rPr>
              <a:t>ligações por semana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57692" y="1618488"/>
            <a:ext cx="3448202" cy="228600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7692" y="2185416"/>
            <a:ext cx="344820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800" b="1" spc="-45">
                <a:solidFill>
                  <a:srgbClr val="FFFFFF"/>
                </a:solidFill>
                <a:latin typeface="Arial"/>
              </a:rPr>
              <a:t>6,7%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57692" y="3191256"/>
            <a:ext cx="344820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9BAAC0"/>
                </a:solidFill>
                <a:latin typeface="Arial"/>
              </a:rPr>
              <a:t>da base por semana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5138928"/>
            <a:ext cx="10820095" cy="102412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5409184"/>
            <a:ext cx="10051999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Cada cliente é abordado, em média, uma vez a cada 15 semanas.</a:t>
            </a:r>
          </a:p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Se o vendedor ligar para os 200 errados, a empresa perde quatro meses.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LIMITE DO QUE A GENTE JÁ 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Tudo que a gente construiu olha para trás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" y="150876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40">
                <a:solidFill>
                  <a:srgbClr val="3B9DF5"/>
                </a:solidFill>
                <a:latin typeface="Arial"/>
              </a:rPr>
              <a:t>O QUE A GOLD RESPONDE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34456" y="1508760"/>
            <a:ext cx="5242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40">
                <a:solidFill>
                  <a:srgbClr val="3B9DF5"/>
                </a:solidFill>
                <a:latin typeface="Arial"/>
              </a:rPr>
              <a:t>O QUE O DIRETOR PRECISA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92808"/>
            <a:ext cx="10820095" cy="65836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" y="2110549"/>
            <a:ext cx="47548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Quem comprou mais no ano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34456" y="2110549"/>
            <a:ext cx="524225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Quem vai comprar semana que vem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679192"/>
            <a:ext cx="10820095" cy="65836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2896933"/>
            <a:ext cx="47548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Qual marca vendeu melhor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34456" y="2896933"/>
            <a:ext cx="524225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Para quem ligar amanhã de manhã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65576"/>
            <a:ext cx="10820095" cy="65836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683317"/>
            <a:ext cx="47548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Quanto faturamos em outubro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34456" y="3683317"/>
            <a:ext cx="524225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Quem está prestes a sumir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251960"/>
            <a:ext cx="10820095" cy="65836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6696" y="4469701"/>
            <a:ext cx="47548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DESCRIÇÃO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34456" y="4469701"/>
            <a:ext cx="524225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PRIORIZAÇÃO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70448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7CC8FF"/>
                </a:solidFill>
                <a:latin typeface="Arial"/>
              </a:rPr>
              <a:t>Dashboard mostra o passado com precisão. Ninguém liga para o passado.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QUE A MAIORIA DAS EMPRESAS FAZ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Três jeitos de escolher os 200 — todos ruins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00200"/>
            <a:ext cx="3448202" cy="224028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83794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Os maiores</a:t>
            </a:r>
          </a:p>
          <a:p>
            <a:pPr algn="l">
              <a:lnSpc>
                <a:spcPct val="10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clientes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573020"/>
            <a:ext cx="2936138" cy="224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Eles já compram. Você gasta ligação com quem ia comprar de qualquer jeito.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1746" y="1600200"/>
            <a:ext cx="3448202" cy="224028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27778" y="183794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Os que sumiram</a:t>
            </a:r>
          </a:p>
          <a:p>
            <a:pPr algn="l">
              <a:lnSpc>
                <a:spcPct val="10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há mais tempo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7778" y="2573020"/>
            <a:ext cx="2936138" cy="224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Muitos já foram embora. Você gasta ligação em cliente perdido.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57692" y="1600200"/>
            <a:ext cx="3448202" cy="224028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13724" y="183794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A intuição</a:t>
            </a:r>
          </a:p>
          <a:p>
            <a:pPr algn="l">
              <a:lnSpc>
                <a:spcPct val="10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do vendedor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13724" y="2573020"/>
            <a:ext cx="2936138" cy="224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Funciona para os 20 que ele lembra. E os outros 2.980?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5230368"/>
            <a:ext cx="10820095" cy="91440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5445759"/>
            <a:ext cx="100519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Todos os três são defensáveis numa reunião.</a:t>
            </a:r>
          </a:p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E todos os três desperdiçam ligação.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QUE VAMOS CONSTRUIR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Ordenar por probabilidade de compra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1856780" cy="117043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2199386"/>
            <a:ext cx="1564172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Consolas"/>
              </a:rPr>
              <a:t>3.000</a:t>
            </a:r>
          </a:p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Consolas"/>
              </a:rPr>
              <a:t>clientes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2580" y="2240280"/>
            <a:ext cx="3840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3B9DF5"/>
                </a:solidFill>
                <a:latin typeface="Arial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628" y="1828800"/>
            <a:ext cx="1856780" cy="117043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72932" y="2199386"/>
            <a:ext cx="1564172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Consolas"/>
              </a:rPr>
              <a:t>modelo de</a:t>
            </a:r>
          </a:p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Consolas"/>
              </a:rPr>
              <a:t>propensão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83409" y="2240280"/>
            <a:ext cx="3840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3B9DF5"/>
                </a:solidFill>
                <a:latin typeface="Arial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67457" y="1828800"/>
            <a:ext cx="1856780" cy="117043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13761" y="2199386"/>
            <a:ext cx="1564172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Consolas"/>
              </a:rPr>
              <a:t>score</a:t>
            </a:r>
          </a:p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Consolas"/>
              </a:rPr>
              <a:t>de 0 a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24237" y="2240280"/>
            <a:ext cx="3840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3B9DF5"/>
                </a:solidFill>
                <a:latin typeface="Arial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8285" y="1828800"/>
            <a:ext cx="1856780" cy="117043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54589" y="2306701"/>
            <a:ext cx="1564172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Consolas"/>
              </a:rPr>
              <a:t>ordena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65066" y="2240280"/>
            <a:ext cx="3840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3B9DF5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49114" y="1828800"/>
            <a:ext cx="1856780" cy="1170432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95418" y="2199386"/>
            <a:ext cx="1564172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pega os</a:t>
            </a:r>
          </a:p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200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566160"/>
            <a:ext cx="10820095" cy="105156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9848" y="3833876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Não é classificar quem compra e quem não compra. É ORDENAR.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O vendedor não precisa de um sim ou não — precisa de uma fila.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 MÉTRICA QUE IMPORTA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Não é acurácia.</a:t>
            </a:r>
          </a:p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É quantos dos 200 compraram.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" y="1993391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40">
                <a:solidFill>
                  <a:srgbClr val="3B9DF5"/>
                </a:solidFill>
                <a:latin typeface="Arial"/>
              </a:rPr>
              <a:t>ESTRATÉGIA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48856" y="1993391"/>
            <a:ext cx="43278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40">
                <a:solidFill>
                  <a:srgbClr val="3B9DF5"/>
                </a:solidFill>
                <a:latin typeface="Arial"/>
              </a:rPr>
              <a:t>DOS 200 ABORDADOS, QUANTOS COMPRAM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377439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" y="2549461"/>
            <a:ext cx="56692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Ligar aleatório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48856" y="2549461"/>
            <a:ext cx="432785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20     ·  a taxa base da semana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072383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3244405"/>
            <a:ext cx="56692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6B5A"/>
                </a:solidFill>
                <a:latin typeface="Arial"/>
              </a:rPr>
              <a:t>Ligar para quem sumiu há mais tempo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48856" y="3244405"/>
            <a:ext cx="432785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0     ·  esses já foram embora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767327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939349"/>
            <a:ext cx="56692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Ligar para os maiores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48856" y="3939349"/>
            <a:ext cx="432785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44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462271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6696" y="4634293"/>
            <a:ext cx="56692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Ligar para os 200 de maior 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48856" y="4634293"/>
            <a:ext cx="432785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75     ·  3,7× o aleatório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285232"/>
            <a:ext cx="10820095" cy="91440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9848" y="5500624"/>
            <a:ext cx="100519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Isso tem nome: LIFT. Quantas vezes melhor que o aleatório.</a:t>
            </a:r>
          </a:p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É o número que você leva para a reunião — não o AUC.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COMO A GENTE VAI CONSTRUIR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Três prompts, três deploys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3448202" cy="248716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74650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PROMPT 1</a:t>
            </a:r>
          </a:p>
          <a:p>
            <a:pPr algn="l">
              <a:lnSpc>
                <a:spcPct val="10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Features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481580"/>
            <a:ext cx="2936138" cy="2487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Uma linha por cliente, 20 colunas que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descrevem o comportamento dele.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→ gold.features_cliente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→ gold.features_treino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1746" y="1508760"/>
            <a:ext cx="3448202" cy="248716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27778" y="174650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PROMPT 2</a:t>
            </a:r>
          </a:p>
          <a:p>
            <a:pPr algn="l">
              <a:lnSpc>
                <a:spcPct val="10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Modelo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7778" y="2481580"/>
            <a:ext cx="2936138" cy="2487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Baseline, treino, MLflow, registro no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Unity Catalog e a nota de cada um.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→ o modelo no catálogo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→ gold.score_propensao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57692" y="1508760"/>
            <a:ext cx="3448202" cy="248716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13724" y="174650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3B9DF5"/>
                </a:solidFill>
                <a:latin typeface="Arial"/>
              </a:rPr>
              <a:t>PROMPT 3</a:t>
            </a:r>
          </a:p>
          <a:p>
            <a:pPr algn="l">
              <a:lnSpc>
                <a:spcPct val="105000"/>
              </a:lnSpc>
            </a:pPr>
            <a:r>
              <a:rPr sz="1900" b="1">
                <a:solidFill>
                  <a:srgbClr val="3B9DF5"/>
                </a:solidFill>
                <a:latin typeface="Arial"/>
              </a:rPr>
              <a:t>A fila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13724" y="2481580"/>
            <a:ext cx="2936138" cy="2487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Os 200 da semana, com motivo em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português e o que oferecer.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→ gold.fila_semanal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→ as 4 ferramentas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233672"/>
            <a:ext cx="10820095" cy="96012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4471924"/>
            <a:ext cx="1005199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Cada prompt termina em DEPLOY. Não é protótipo que vira produção</a:t>
            </a:r>
          </a:p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depois: já nasce dentro do pipeline que roda sozinho todo dia.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ONDE ESSE CÓDIGO VAI MORAR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ML é camada, não projeto à parte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BAAC0"/>
                </a:solidFill>
                <a:latin typeface="Arial"/>
              </a:rPr>
              <a:t>Nenhum repositório novo. As três tarefas entram no MESMO job de terça.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020824"/>
            <a:ext cx="10820095" cy="1874519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33447" y="2276856"/>
            <a:ext cx="9372447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raw → bronze → silver ×4 → dimensões → fato → marts → testes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                                            ├→ métricas → auditoria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                                            └→ ml_features → ml_modelo → ml_fila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123944"/>
            <a:ext cx="10820095" cy="585216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4305109"/>
            <a:ext cx="384048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12 → 15 tarefas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0056" y="4305109"/>
            <a:ext cx="6156655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O job de ontem ganha três. Continua sendo um bundle run só.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837176"/>
            <a:ext cx="10820095" cy="585216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6" y="5018341"/>
            <a:ext cx="384048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Os mesmos testes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0056" y="5018341"/>
            <a:ext cx="6156655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Modelo ruim quebra o pipeline, igual a dado nulo.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5550408"/>
            <a:ext cx="10820095" cy="585216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6696" y="5731573"/>
            <a:ext cx="384048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A mesma auditoria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0056" y="5731573"/>
            <a:ext cx="6156655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Faltou COMMENT numa coluna de feature? O job para.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QUE A NOITE 2 DEIXOU PRONTO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A matéria-prima já está na mesa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10820095" cy="96215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737360"/>
            <a:ext cx="10088575" cy="962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>
                <a:solidFill>
                  <a:srgbClr val="7CC8FF"/>
                </a:solidFill>
                <a:latin typeface="Consolas"/>
              </a:rPr>
              <a:t>SELECT COUNT(*) AS linhas, ROUND(SUM(receita), 2) AS receita</a:t>
            </a:r>
          </a:p>
          <a:p>
            <a:pPr algn="l">
              <a:lnSpc>
                <a:spcPct val="142000"/>
              </a:lnSpc>
            </a:pPr>
            <a:r>
              <a:rPr sz="1400" b="0">
                <a:solidFill>
                  <a:srgbClr val="7CC8FF"/>
                </a:solidFill>
                <a:latin typeface="Consolas"/>
              </a:rPr>
              <a:t>FROM   lakehouse_rotaperfume.gold.fato_vendas;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743200"/>
            <a:ext cx="5227167" cy="137160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962656"/>
            <a:ext cx="458708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spc="-20">
                <a:solidFill>
                  <a:srgbClr val="7CC8FF"/>
                </a:solidFill>
                <a:latin typeface="Arial"/>
              </a:rPr>
              <a:t>191.080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584448"/>
            <a:ext cx="458708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linhas no fato, no grão de item de pedido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743200"/>
            <a:ext cx="5227167" cy="137160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98767" y="2962656"/>
            <a:ext cx="458708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spc="-20">
                <a:solidFill>
                  <a:srgbClr val="7CC8FF"/>
                </a:solidFill>
                <a:latin typeface="Arial"/>
              </a:rPr>
              <a:t>R$ 102.303.828,05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8767" y="3584448"/>
            <a:ext cx="458708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de receita, com devolução já descontada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389120"/>
            <a:ext cx="10820095" cy="54864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551997"/>
            <a:ext cx="4389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4 dimensões + 1 fato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8696" y="4551997"/>
            <a:ext cx="56080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cliente, produto, vendedor, calendário — e fato_vendas.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5065776"/>
            <a:ext cx="10820095" cy="54864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6696" y="5228653"/>
            <a:ext cx="4389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3 marts + 6 views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68696" y="5228653"/>
            <a:ext cx="56080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vendedor, produto, financeiro. E as views que o Genie já lê.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742432"/>
            <a:ext cx="10820095" cy="54864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" y="5905309"/>
            <a:ext cx="4389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11 testes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68696" y="5905309"/>
            <a:ext cx="56080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que interrompem o job quando o número não fecha.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POR QUE ESSA TABELA EXISTE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 dado não chegou assim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BAAC0"/>
                </a:solidFill>
                <a:latin typeface="Arial"/>
              </a:rPr>
              <a:t>As dez sujeiras da noite 2, nos números do dataset de vocês.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020824"/>
            <a:ext cx="10820095" cy="53035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" y="2174557"/>
            <a:ext cx="31089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3.443 pedidos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88536" y="2174557"/>
            <a:ext cx="688817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12% das datas vieram em dd/mm/aaaa, o resto em ISO.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679191"/>
            <a:ext cx="10820095" cy="53035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832925"/>
            <a:ext cx="31089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40 clientes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88536" y="2832925"/>
            <a:ext cx="688817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duplicados: id novo, mesmo CNPJ escrito de outro jeito.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337559"/>
            <a:ext cx="10820095" cy="53035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491293"/>
            <a:ext cx="31089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1.111 + 223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88536" y="3491293"/>
            <a:ext cx="688817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CNPJ pontuado e CNPJ com espaço em volta. Três formatos ao todo.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995927"/>
            <a:ext cx="10820095" cy="530352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6696" y="4149661"/>
            <a:ext cx="31089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6B5A"/>
                </a:solidFill>
                <a:latin typeface="Arial"/>
              </a:rPr>
              <a:t>957 pedidos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88536" y="4149661"/>
            <a:ext cx="688817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cancelados com valor_total = 0 — e o ITEM sem flag nenhuma.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654295"/>
            <a:ext cx="10820095" cy="53035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96696" y="4808029"/>
            <a:ext cx="31089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2.327 itens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88536" y="4808029"/>
            <a:ext cx="688817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de devolução, gravados como quantidade negativa.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504688"/>
            <a:ext cx="10820095" cy="91440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9848" y="5736335"/>
            <a:ext cx="100519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A bronze guardou tudo isso exatamente como veio.</a:t>
            </a:r>
          </a:p>
          <a:p>
            <a:pPr algn="l">
              <a:lnSpc>
                <a:spcPct val="128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A silver é onde some — e é por isso que hoje dá para construir feature.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QUE ACONTECE SE NINGUÉM LIMPAR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R$ 3,5 milhões de receita</a:t>
            </a:r>
          </a:p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que nunca existiu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93391"/>
            <a:ext cx="10820095" cy="1584325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221991"/>
            <a:ext cx="10088575" cy="15843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-- somando o item cru, como ele veio do ERP</a:t>
            </a:r>
          </a:p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SELECT SUM(valor_bruto) FROM bronze.itens_pedido;   -- 105.890.448,42</a:t>
            </a:r>
          </a:p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-- a gold, com os 957 pedidos cancelados fora</a:t>
            </a:r>
          </a:p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SELECT SUM(receita)     FROM gold.fato_vendas;      -- 102.303.828,05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4142231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" y="4314253"/>
            <a:ext cx="4206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A diferença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85816" y="4314253"/>
            <a:ext cx="57908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R$ 3.586.620,37 em itens de pedido que o cliente cancelou.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4837175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5009197"/>
            <a:ext cx="4206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6B5A"/>
                </a:solidFill>
                <a:latin typeface="Arial"/>
              </a:rPr>
              <a:t>Por que passa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85816" y="5009197"/>
            <a:ext cx="57908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O pedido diz valor_total = 0. O item não diz nada.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532119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5704141"/>
            <a:ext cx="4206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O que quebraria hoje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85816" y="5704141"/>
            <a:ext cx="57908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'Quanto este cliente gasta' erraria em todo cliente que já cancelou.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ANTES DE QUALQUER CÓDIGO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 que é um modelo, afinal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10820095" cy="62179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6" y="1708213"/>
            <a:ext cx="292607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NÃO 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05656" y="1708213"/>
            <a:ext cx="707105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um programa com regras que alguém escreveu. Ninguém digita 'se atraso &gt; 2 então quente'.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258568"/>
            <a:ext cx="10820095" cy="62179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2458021"/>
            <a:ext cx="292607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05656" y="2458021"/>
            <a:ext cx="707105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uma função que recebe colunas e devolve um número entre 0 e 1.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008376"/>
            <a:ext cx="10820095" cy="621792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6" y="3207829"/>
            <a:ext cx="292607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Aprende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05656" y="3207829"/>
            <a:ext cx="707105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olhando milhares de clientes do passado em que a resposta JÁ é conhecida.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758184"/>
            <a:ext cx="10820095" cy="62179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6696" y="3957637"/>
            <a:ext cx="292607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Devolve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05656" y="3957637"/>
            <a:ext cx="707105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uma nota de propensão. Não uma certeza, não uma causa, não uma promessa.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389120"/>
            <a:ext cx="10820095" cy="91440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" y="4604511"/>
            <a:ext cx="100519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Ele não descobre POR QUE o cliente compra.</a:t>
            </a:r>
          </a:p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Ele descobre quais combinações de colunas andaram junto com 'comprou'.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QUATRO PALAVRAS QUE VÃO APARECER A NOITE INTEIRA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Feature, rótulo, treino e teste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10820095" cy="192024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24987" y="1764792"/>
            <a:ext cx="8480907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  FEATURES (X)                          RÓTULO (y)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  o que se sabia até 31/07              o que aconteceu depois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  ┌──────────────────────────┐          ┌──────────┐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  │ recência  atraso  ticket │   ──→    │ comprou? │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  └──────────────────────────┘          └──────────┘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657600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" y="3847909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Treino  ·  75%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54296" y="3847909"/>
            <a:ext cx="652241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os clientes que o modelo VÊ. É olhando para eles que ele se ajusta.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4389120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4579429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Teste  ·  25%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54296" y="4579429"/>
            <a:ext cx="652241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os que ele NÃO vê. A única nota honesta que existe.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074920"/>
            <a:ext cx="10820095" cy="86868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9848" y="5283707"/>
            <a:ext cx="100519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Nota tirada no treino é prova com o gabarito na mão.</a:t>
            </a:r>
          </a:p>
          <a:p>
            <a:pPr algn="l">
              <a:lnSpc>
                <a:spcPct val="128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Todo número que a gente levar para a tela sai do teste.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QUE ESTAMOS ASSUMINDO — E ONDE ISSO QUEBRA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As cinco premissas do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10820095" cy="53035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6" y="1662493"/>
            <a:ext cx="4389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O passado se repete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68696" y="1662493"/>
            <a:ext cx="560801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setembro se parece o bastante com agosto. Quebra em mudança de política comercial.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67128"/>
            <a:ext cx="10820095" cy="53035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2320861"/>
            <a:ext cx="4389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O futuro não entrou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68696" y="2320861"/>
            <a:ext cx="560801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nenhuma coluna sabe o que houve depois do corte. É o vazamento, e é o próximo slide.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825496"/>
            <a:ext cx="10820095" cy="53035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6" y="2979229"/>
            <a:ext cx="4389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Uma linha por cliente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68696" y="2979229"/>
            <a:ext cx="560801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clientes não se influenciam. Quebra se dois forem a mesma rede.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483863"/>
            <a:ext cx="10820095" cy="53035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6696" y="3637597"/>
            <a:ext cx="4389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Treino parecido com o score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68696" y="3637597"/>
            <a:ext cx="560801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quem eu pontuo se parece com quem eu treinei. Quebra com base nova.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142231"/>
            <a:ext cx="10820095" cy="530352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4295965"/>
            <a:ext cx="4389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Ordenar, não explicar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68696" y="4295965"/>
            <a:ext cx="560801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'atraso alto anda junto com compra' não é 'atraso alto CAUSA compra'.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80644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CC8FF"/>
                </a:solidFill>
                <a:latin typeface="Arial"/>
              </a:rPr>
              <a:t>Premissa não é detalhe teórico: é a lista do que conferir quando o modelo começar a errar.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B9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2331720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200">
                <a:solidFill>
                  <a:srgbClr val="3B9DF5"/>
                </a:solidFill>
                <a:latin typeface="Arial"/>
              </a:rPr>
              <a:t>PROMPT 1 DE 3 · PRIMEIRO PASSO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2788920"/>
            <a:ext cx="103327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1" spc="-45">
                <a:solidFill>
                  <a:srgbClr val="FFFFFF"/>
                </a:solidFill>
                <a:latin typeface="Arial"/>
              </a:rPr>
              <a:t>O que descreve</a:t>
            </a:r>
          </a:p>
          <a:p>
            <a:pPr algn="l">
              <a:lnSpc>
                <a:spcPct val="95000"/>
              </a:lnSpc>
            </a:pPr>
            <a:r>
              <a:rPr sz="6000" b="1" spc="-45">
                <a:solidFill>
                  <a:srgbClr val="FFFFFF"/>
                </a:solidFill>
                <a:latin typeface="Arial"/>
              </a:rPr>
              <a:t>um cliente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4855464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9BAAC0"/>
                </a:solidFill>
                <a:latin typeface="Arial"/>
              </a:rPr>
              <a:t>A parte que mais vale dinheiro no projeto.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 PALAVRA QUE DESCREVE 80% DO TRABALHO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 que é 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10820095" cy="96012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1747012"/>
            <a:ext cx="1005199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Transformar o dado que existe em colunas que RESPONDEM à pergunta.</a:t>
            </a:r>
          </a:p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A mesma informação, escrita de outro jeito, vale muito diferente.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651760"/>
            <a:ext cx="3448202" cy="210312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88950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AGREGAR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3299206"/>
            <a:ext cx="2936138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Muitas linhas viram uma.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28.729 pedidos → um número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por cliente: quantos, quanto,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quando foi o último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1746" y="2651760"/>
            <a:ext cx="3448202" cy="210312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7778" y="288950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3B9DF5"/>
                </a:solidFill>
                <a:latin typeface="Arial"/>
              </a:rPr>
              <a:t>RELATIVIZAR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3299206"/>
            <a:ext cx="2936138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Comparar o cliente com ele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mesmo.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'20 dias sem comprar' vira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'2,9× o ciclo dele'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7692" y="2651760"/>
            <a:ext cx="3448202" cy="210312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3724" y="288950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SINALIZAR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3724" y="3299206"/>
            <a:ext cx="2936138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Evento vira coluna.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'apareceu na lista de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compradores do lançamento'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vira 1 ou 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983480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6696" y="5155501"/>
            <a:ext cx="2926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O que NÃO 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05656" y="5155501"/>
            <a:ext cx="707105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escolher algoritmo, ajustar hiperparâmetro, procurar biblioteca nova.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TUDO SAI DA GOLD DE ONTEM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Nenhuma fonte nova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10820095" cy="228600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476347" y="2039112"/>
            <a:ext cx="9029547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>
                <a:solidFill>
                  <a:srgbClr val="7CC8FF"/>
                </a:solidFill>
                <a:latin typeface="Consolas"/>
              </a:rPr>
              <a:t>gold.fato_vendas       ─┐</a:t>
            </a:r>
          </a:p>
          <a:p>
            <a:pPr algn="l">
              <a:lnSpc>
                <a:spcPct val="150000"/>
              </a:lnSpc>
            </a:pPr>
            <a:r>
              <a:rPr sz="1900" b="1">
                <a:solidFill>
                  <a:srgbClr val="7CC8FF"/>
                </a:solidFill>
                <a:latin typeface="Consolas"/>
              </a:rPr>
              <a:t>silver.oportunidades   ─┼→   gold.features_cliente</a:t>
            </a:r>
          </a:p>
          <a:p>
            <a:pPr algn="l">
              <a:lnSpc>
                <a:spcPct val="150000"/>
              </a:lnSpc>
            </a:pPr>
            <a:r>
              <a:rPr sz="1900" b="1">
                <a:solidFill>
                  <a:srgbClr val="7CC8FF"/>
                </a:solidFill>
                <a:latin typeface="Consolas"/>
              </a:rPr>
              <a:t>silver.visitas         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4960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7CC8FF"/>
                </a:solidFill>
                <a:latin typeface="Arial"/>
              </a:rPr>
              <a:t>Uma linha por cliente. Vinte colunas descrevendo o comportamento dele.</a:t>
            </a:r>
          </a:p>
          <a:p>
            <a:pPr algn="l">
              <a:lnSpc>
                <a:spcPct val="130000"/>
              </a:lnSpc>
            </a:pPr>
            <a:r>
              <a:rPr sz="1600" b="0">
                <a:solidFill>
                  <a:srgbClr val="7CC8FF"/>
                </a:solidFill>
                <a:latin typeface="Arial"/>
              </a:rPr>
              <a:t>É isso que o modelo vai ler.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PONTO DE PARTIDA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Recência, frequência, valor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3448202" cy="237744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1965960"/>
            <a:ext cx="286298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spc="-30">
                <a:solidFill>
                  <a:srgbClr val="3B9DF5"/>
                </a:solidFill>
                <a:latin typeface="Arial"/>
              </a:rPr>
              <a:t>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" y="2715768"/>
            <a:ext cx="286298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Arial"/>
              </a:rPr>
              <a:t>Faz quanto tempo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Arial"/>
              </a:rPr>
              <a:t>que ele comprou?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3566160"/>
            <a:ext cx="286298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C8FF"/>
                </a:solidFill>
                <a:latin typeface="Consolas"/>
              </a:rPr>
              <a:t>recencia_dias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1746" y="1691640"/>
            <a:ext cx="3448202" cy="237744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4354" y="1965960"/>
            <a:ext cx="286298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spc="-30">
                <a:solidFill>
                  <a:srgbClr val="3B9DF5"/>
                </a:solidFill>
                <a:latin typeface="Arial"/>
              </a:rPr>
              <a:t>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4354" y="2715768"/>
            <a:ext cx="286298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Arial"/>
              </a:rPr>
              <a:t>Com que frequência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Arial"/>
              </a:rPr>
              <a:t>ele compra?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4354" y="3566160"/>
            <a:ext cx="286298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C8FF"/>
                </a:solidFill>
                <a:latin typeface="Consolas"/>
              </a:rPr>
              <a:t>frequencia_pedidos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7692" y="1691640"/>
            <a:ext cx="3448202" cy="237744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50300" y="1965960"/>
            <a:ext cx="286298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spc="-30">
                <a:solidFill>
                  <a:srgbClr val="3B9DF5"/>
                </a:solidFill>
                <a:latin typeface="Arial"/>
              </a:rPr>
              <a:t>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0300" y="2715768"/>
            <a:ext cx="286298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Arial"/>
              </a:rPr>
              <a:t>Quanto ele gasta?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0300" y="3566160"/>
            <a:ext cx="286298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C8FF"/>
                </a:solidFill>
                <a:latin typeface="Consolas"/>
              </a:rPr>
              <a:t>valor_total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5468112"/>
            <a:ext cx="10820095" cy="65836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" y="5685536"/>
            <a:ext cx="1005199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Três colunas. Se você só tiver isso, já é melhor que a intuição.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PROBLEMA DO BÁSICO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Dois clientes, a mesma recência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00200"/>
            <a:ext cx="5227167" cy="221284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856232"/>
            <a:ext cx="449564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spc="-20">
                <a:solidFill>
                  <a:srgbClr val="FFFFFF"/>
                </a:solidFill>
                <a:latin typeface="Arial"/>
              </a:rPr>
              <a:t>Perfumaria Aurora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404872"/>
            <a:ext cx="449564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0">
                <a:solidFill>
                  <a:srgbClr val="9BAAC0"/>
                </a:solidFill>
                <a:latin typeface="Arial"/>
              </a:rPr>
              <a:t>Comprou há 20 dias</a:t>
            </a:r>
          </a:p>
          <a:p>
            <a:pPr algn="l">
              <a:lnSpc>
                <a:spcPct val="135000"/>
              </a:lnSpc>
            </a:pPr>
            <a:r>
              <a:rPr sz="1450" b="0">
                <a:solidFill>
                  <a:srgbClr val="9BAAC0"/>
                </a:solidFill>
                <a:latin typeface="Arial"/>
              </a:rPr>
              <a:t>Compra a cada 7 dias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81528"/>
            <a:ext cx="449564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spc="-15">
                <a:solidFill>
                  <a:srgbClr val="FF6B5A"/>
                </a:solidFill>
                <a:latin typeface="Arial"/>
              </a:rPr>
              <a:t>Quase 3x atrasado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447288"/>
            <a:ext cx="449564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9BAAC0"/>
                </a:solidFill>
                <a:latin typeface="Arial"/>
              </a:rPr>
              <a:t>Liga hoje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227167" cy="221284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44487" y="1856232"/>
            <a:ext cx="449564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spc="-20">
                <a:solidFill>
                  <a:srgbClr val="FFFFFF"/>
                </a:solidFill>
                <a:latin typeface="Arial"/>
              </a:rPr>
              <a:t>Boutique Essenza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44487" y="2404872"/>
            <a:ext cx="449564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0">
                <a:solidFill>
                  <a:srgbClr val="9BAAC0"/>
                </a:solidFill>
                <a:latin typeface="Arial"/>
              </a:rPr>
              <a:t>Comprou há 20 dias</a:t>
            </a:r>
          </a:p>
          <a:p>
            <a:pPr algn="l">
              <a:lnSpc>
                <a:spcPct val="135000"/>
              </a:lnSpc>
            </a:pPr>
            <a:r>
              <a:rPr sz="1450" b="0">
                <a:solidFill>
                  <a:srgbClr val="9BAAC0"/>
                </a:solidFill>
                <a:latin typeface="Arial"/>
              </a:rPr>
              <a:t>Compra a cada 90 dias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44487" y="3081528"/>
            <a:ext cx="449564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spc="-15">
                <a:solidFill>
                  <a:srgbClr val="3B9DF5"/>
                </a:solidFill>
                <a:latin typeface="Arial"/>
              </a:rPr>
              <a:t>Está no ritmo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487" y="3447288"/>
            <a:ext cx="449564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9BAAC0"/>
                </a:solidFill>
                <a:latin typeface="Arial"/>
              </a:rPr>
              <a:t>Não incomoda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5193792"/>
            <a:ext cx="10820095" cy="96012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9848" y="5432044"/>
            <a:ext cx="1005199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Mesma recência. Situações opostas.</a:t>
            </a:r>
          </a:p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Ordenar por recência coloca os dois na mesma posição da fila.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CONHECIMENTO DE NEGÓCIO VIRANDO COLUNA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Atraso relativo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10820095" cy="91440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783080"/>
            <a:ext cx="108200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7CC8FF"/>
                </a:solidFill>
                <a:latin typeface="Consolas"/>
              </a:rPr>
              <a:t>atraso_relativo  =  recencia_dias / intervalo_medio_dias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606040"/>
            <a:ext cx="3448202" cy="157276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84378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Consolas"/>
              </a:rPr>
              <a:t>~1,0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3392932"/>
            <a:ext cx="2936138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Está no ritmo dele</a:t>
            </a:r>
          </a:p>
          <a:p>
            <a:pPr algn="l">
              <a:lnSpc>
                <a:spcPct val="128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ROTINA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1746" y="2606040"/>
            <a:ext cx="3448202" cy="157276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7778" y="284378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Consolas"/>
              </a:rPr>
              <a:t>2,0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3392932"/>
            <a:ext cx="2936138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Duas vezes atrasado</a:t>
            </a:r>
          </a:p>
          <a:p>
            <a:pPr algn="l">
              <a:lnSpc>
                <a:spcPct val="128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ATENÇÃO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7692" y="2606040"/>
            <a:ext cx="3448202" cy="157276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3724" y="284378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FF6B5A"/>
                </a:solidFill>
                <a:latin typeface="Consolas"/>
              </a:rPr>
              <a:t>&gt; 3,0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3724" y="3392932"/>
            <a:ext cx="2936138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Provavelmente foi pro concorrente</a:t>
            </a:r>
          </a:p>
          <a:p>
            <a:pPr algn="l">
              <a:lnSpc>
                <a:spcPct val="128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URGENTE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504688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7CC8FF"/>
                </a:solidFill>
                <a:latin typeface="Arial"/>
              </a:rPr>
              <a:t>Não vem de biblioteca nenhuma. Vem de entender como a empresa vende.</a:t>
            </a:r>
          </a:p>
          <a:p>
            <a:pPr algn="l">
              <a:lnSpc>
                <a:spcPct val="130000"/>
              </a:lnSpc>
            </a:pPr>
            <a:r>
              <a:rPr sz="1600" b="1">
                <a:solidFill>
                  <a:srgbClr val="7CC8FF"/>
                </a:solidFill>
                <a:latin typeface="Arial"/>
              </a:rPr>
              <a:t>É essa feature que vai ordenar a fila dos 200.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QUE O CLAUDE CODE VAI CONSTRUIR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Quatro grupos, uma tabela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2526715" cy="157276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746504"/>
            <a:ext cx="20146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RFM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156206"/>
            <a:ext cx="2014651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recência, frequência, valor total, ticket médio, margem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0259" y="1508760"/>
            <a:ext cx="2526715" cy="157276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06291" y="1746504"/>
            <a:ext cx="20146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3B9DF5"/>
                </a:solidFill>
                <a:latin typeface="Arial"/>
              </a:rPr>
              <a:t>Ritmo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6291" y="2156206"/>
            <a:ext cx="2014651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intervalo médio, desvio do intervalo, atraso relativo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4719" y="1508760"/>
            <a:ext cx="2526715" cy="157276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0751" y="1746504"/>
            <a:ext cx="20146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CRM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0751" y="2156206"/>
            <a:ext cx="2014651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oportunidades, taxa de ganho, visitas, conversão de visita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79179" y="1508760"/>
            <a:ext cx="2526715" cy="157276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211" y="1746504"/>
            <a:ext cx="20146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Mix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211" y="2156206"/>
            <a:ext cx="2014651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SKUs, categorias, concentração em marca, comprou lançamento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319272"/>
            <a:ext cx="10820095" cy="135890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547872"/>
            <a:ext cx="10088575" cy="1358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SELECT razao_social, recencia_dias, intervalo_medio_dias,</a:t>
            </a:r>
          </a:p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       ROUND(atraso_relativo, 1) AS atraso</a:t>
            </a:r>
          </a:p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FROM   lakehouse_rotaperfume.gold.features_cliente</a:t>
            </a:r>
          </a:p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ORDER  BY atraso_relativo DESC LIMIT 10;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B9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2331720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200">
                <a:solidFill>
                  <a:srgbClr val="3B9DF5"/>
                </a:solidFill>
                <a:latin typeface="Arial"/>
              </a:rPr>
              <a:t>PROMPT 2 DE 3 · SEGUNDO PASSO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2788920"/>
            <a:ext cx="10332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1" spc="-45">
                <a:solidFill>
                  <a:srgbClr val="FFFFFF"/>
                </a:solidFill>
                <a:latin typeface="Arial"/>
              </a:rPr>
              <a:t>O modelo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4014215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9BAAC0"/>
                </a:solidFill>
                <a:latin typeface="Arial"/>
              </a:rPr>
              <a:t>E o erro que mata projeto em produção.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ESPECIFICAÇÃO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Antes de codar, escreva em uma frase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10820095" cy="129844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837944"/>
            <a:ext cx="9905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1" spc="-18">
                <a:solidFill>
                  <a:srgbClr val="FFFFFF"/>
                </a:solidFill>
                <a:latin typeface="Arial"/>
              </a:rPr>
              <a:t>Dado o comportamento de um cliente até hoje, qual a probabilidade</a:t>
            </a:r>
          </a:p>
          <a:p>
            <a:pPr algn="l">
              <a:lnSpc>
                <a:spcPct val="130000"/>
              </a:lnSpc>
            </a:pPr>
            <a:r>
              <a:rPr sz="2100" b="1" spc="-18">
                <a:solidFill>
                  <a:srgbClr val="FFFFFF"/>
                </a:solidFill>
                <a:latin typeface="Arial"/>
              </a:rPr>
              <a:t>de ele fazer um pedido nos próximos 7 dias?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081528"/>
            <a:ext cx="2526715" cy="141732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3319272"/>
            <a:ext cx="20146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Unidade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3713480"/>
            <a:ext cx="2014651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Um cliente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0259" y="3081528"/>
            <a:ext cx="2526715" cy="141732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6291" y="3319272"/>
            <a:ext cx="20146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Janela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6291" y="3713480"/>
            <a:ext cx="2014651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7 dias — a semana da ligação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4719" y="3081528"/>
            <a:ext cx="2526715" cy="141732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0751" y="3319272"/>
            <a:ext cx="20146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Rótulo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0751" y="3713480"/>
            <a:ext cx="2014651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Comprou (1) ou não (0)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79179" y="3081528"/>
            <a:ext cx="2526715" cy="141732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211" y="3319272"/>
            <a:ext cx="20146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3B9DF5"/>
                </a:solidFill>
                <a:latin typeface="Arial"/>
              </a:rPr>
              <a:t>Uso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211" y="3713480"/>
            <a:ext cx="2014651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Ordenar a fila dos 200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 PARTE QUE TODO MUNDO ACHA QUE É O TRABALHO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 algoritmo tem três linhas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10820095" cy="126873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737360"/>
            <a:ext cx="10088575" cy="12687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>
                <a:solidFill>
                  <a:srgbClr val="7CC8FF"/>
                </a:solidFill>
                <a:latin typeface="Consolas"/>
              </a:rPr>
              <a:t>modelo = HistGradientBoostingClassifier(random_state=42)</a:t>
            </a:r>
          </a:p>
          <a:p>
            <a:pPr algn="l">
              <a:lnSpc>
                <a:spcPct val="142000"/>
              </a:lnSpc>
            </a:pPr>
            <a:r>
              <a:rPr sz="1500" b="0">
                <a:solidFill>
                  <a:srgbClr val="7CC8FF"/>
                </a:solidFill>
                <a:latin typeface="Consolas"/>
              </a:rPr>
              <a:t>modelo.fit(X_treino, y_treino)</a:t>
            </a:r>
          </a:p>
          <a:p>
            <a:pPr algn="l">
              <a:lnSpc>
                <a:spcPct val="142000"/>
              </a:lnSpc>
            </a:pPr>
            <a:r>
              <a:rPr sz="1500" b="0">
                <a:solidFill>
                  <a:srgbClr val="7CC8FF"/>
                </a:solidFill>
                <a:latin typeface="Consolas"/>
              </a:rPr>
              <a:t>score  = modelo.predict_proba(X_cliente)[:, 1]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880360"/>
            <a:ext cx="10820095" cy="64008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" y="3088957"/>
            <a:ext cx="493775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Por que árvore, e não regressão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17336" y="3088957"/>
            <a:ext cx="50593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Ela acha sozinha que atraso perto de 1,5 é ouro e acima de 3 é cliente perdido.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648456"/>
            <a:ext cx="10820095" cy="64008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3857053"/>
            <a:ext cx="493775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predict_proba, nunca predict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17336" y="3857053"/>
            <a:ext cx="50593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predict devolve 0 ou 1. A fila precisa de nota, não de sim ou não.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416552"/>
            <a:ext cx="10820095" cy="64008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625149"/>
            <a:ext cx="493775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random_state=42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17336" y="4625149"/>
            <a:ext cx="50593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Sem semente fixa, dois treinos dão listas diferentes. E aí ninguém confia.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5074920"/>
            <a:ext cx="10820095" cy="91440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9848" y="5290311"/>
            <a:ext cx="100519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Estas três linhas são iguais em qualquer empresa do mundo.</a:t>
            </a:r>
          </a:p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O que muda é o X — e o X foi o prompt 1.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QUE ACONTECE DENTRO DO FIT()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Como a árvore aprende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10820095" cy="214884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71597" y="1764792"/>
            <a:ext cx="8934297" cy="2148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>
                <a:solidFill>
                  <a:srgbClr val="7CC8FF"/>
                </a:solidFill>
                <a:latin typeface="Consolas"/>
              </a:rPr>
              <a:t>palpite inicial      10,1% para todo mundo   (a taxa base)</a:t>
            </a:r>
          </a:p>
          <a:p>
            <a:pPr algn="l">
              <a:lnSpc>
                <a:spcPct val="150000"/>
              </a:lnSpc>
            </a:pPr>
            <a:r>
              <a:rPr sz="1250" b="1">
                <a:solidFill>
                  <a:srgbClr val="7CC8FF"/>
                </a:solidFill>
                <a:latin typeface="Consolas"/>
              </a:rPr>
              <a:t>  + árvore 1         "atraso entre 1 e 2?"     corrige o erro que sobrou</a:t>
            </a:r>
          </a:p>
          <a:p>
            <a:pPr algn="l">
              <a:lnSpc>
                <a:spcPct val="150000"/>
              </a:lnSpc>
            </a:pPr>
            <a:r>
              <a:rPr sz="1250" b="1">
                <a:solidFill>
                  <a:srgbClr val="7CC8FF"/>
                </a:solidFill>
                <a:latin typeface="Consolas"/>
              </a:rPr>
              <a:t>  + árvore 2         "visitou nos últimos 30d?" corrige o que ainda sobrou</a:t>
            </a:r>
          </a:p>
          <a:p>
            <a:pPr algn="l">
              <a:lnSpc>
                <a:spcPct val="150000"/>
              </a:lnSpc>
            </a:pPr>
            <a:r>
              <a:rPr sz="1250" b="1">
                <a:solidFill>
                  <a:srgbClr val="7CC8FF"/>
                </a:solidFill>
                <a:latin typeface="Consolas"/>
              </a:rPr>
              <a:t>  + ... 200 árvores rasas, cada uma consertando a anterior</a:t>
            </a:r>
          </a:p>
          <a:p>
            <a:pPr algn="l">
              <a:lnSpc>
                <a:spcPct val="150000"/>
              </a:lnSpc>
            </a:pPr>
            <a:r>
              <a:rPr sz="1250" b="1">
                <a:solidFill>
                  <a:srgbClr val="7CC8FF"/>
                </a:solidFill>
                <a:latin typeface="Consolas"/>
              </a:rPr>
              <a:t>  = score do cliente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886200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" y="4058221"/>
            <a:ext cx="38404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Uma árvore 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0056" y="4058221"/>
            <a:ext cx="615665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uma sequência de perguntas sim/não sobre as colunas.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4581144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4753165"/>
            <a:ext cx="38404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Boosting 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0056" y="4753165"/>
            <a:ext cx="615665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somar centenas delas, cada uma treinada no erro que sobrou.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276088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5448109"/>
            <a:ext cx="38404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Por que serve aqui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0056" y="5448109"/>
            <a:ext cx="615665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acha os pontos de corte sozinha, aguenta nulo e não liga para escala.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 PERGUNTA QUE VEM DA SALA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Por que árvore, e não Poisson?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10820095" cy="78638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6" y="1798764"/>
            <a:ext cx="3383279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Arial"/>
              </a:rPr>
              <a:t>Regressão logística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62856" y="1798764"/>
            <a:ext cx="661385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Um coeficiente por coluna, fácil de explicar. Assume relação de linha reta — e atraso 1,5 é ótimo enquanto atraso 5 é péssimo.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423160"/>
            <a:ext cx="10820095" cy="78638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2713164"/>
            <a:ext cx="3383279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Arial"/>
              </a:rPr>
              <a:t>Poisson / BG-NBD</a:t>
            </a:r>
          </a:p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Arial"/>
              </a:rPr>
              <a:t>+ Monte Carlo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62856" y="2713164"/>
            <a:ext cx="661385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Modela a TAXA de compra de cada cliente e simula a semana. É o mais fiel ao ciclo de reposição e diz QUANTOS pedidos, não só se compra.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337560"/>
            <a:ext cx="10820095" cy="78638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6" y="3627564"/>
            <a:ext cx="3383279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Arial"/>
              </a:rPr>
              <a:t>Uplift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2856" y="3627564"/>
            <a:ext cx="661385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Responde 'quem muda de comportamento SE eu ligar'. É a pergunta certa quando há desconto — e exige teste A/B: metade da lista sem contato.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251960"/>
            <a:ext cx="10820095" cy="786384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6696" y="4541964"/>
            <a:ext cx="3383279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B9DF5"/>
                </a:solidFill>
                <a:latin typeface="Arial"/>
              </a:rPr>
              <a:t>Árvore  ·  a escolha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2856" y="4541964"/>
            <a:ext cx="661385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Acha sozinha que atraso perto de 1,5 é ouro. Aceita as 20 colunas como vieram, sem transformar nada.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5074920"/>
            <a:ext cx="10820095" cy="91440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" y="5306567"/>
            <a:ext cx="100519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Nenhum está errado. O critério foi: qual usa TODO o dado que a gente</a:t>
            </a:r>
          </a:p>
          <a:p>
            <a:pPr algn="l">
              <a:lnSpc>
                <a:spcPct val="128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limpou ontem — e cabe em três linhas, ao vivo.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 PALAVRA QUE VAI APARECER A NOITE INTEIRA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 que é AUC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10820095" cy="120700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801368"/>
            <a:ext cx="9905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Sorteie dois clientes: um que comprou e um que não.</a:t>
            </a:r>
          </a:p>
          <a:p>
            <a:pPr algn="l">
              <a:lnSpc>
                <a:spcPct val="130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Com que frequência o modelo dá a nota maior para quem comprou?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971800"/>
            <a:ext cx="2526715" cy="219456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209544"/>
            <a:ext cx="19780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spc="-25">
                <a:solidFill>
                  <a:srgbClr val="FF6B5A"/>
                </a:solidFill>
                <a:latin typeface="Arial"/>
              </a:rPr>
              <a:t>0,37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813048"/>
            <a:ext cx="19780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quem sumiu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178808"/>
            <a:ext cx="197807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a fila está INVERTIDA: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seguir o contrário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seria melhor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0259" y="2971800"/>
            <a:ext cx="2526715" cy="219456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24579" y="3209544"/>
            <a:ext cx="19780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spc="-25">
                <a:solidFill>
                  <a:srgbClr val="FFFFFF"/>
                </a:solidFill>
                <a:latin typeface="Arial"/>
              </a:rPr>
              <a:t>0,50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24579" y="3813048"/>
            <a:ext cx="19780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a moeda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4579" y="4178808"/>
            <a:ext cx="197807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acerta a ordem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metade das vezes.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não sabe nada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4719" y="2971800"/>
            <a:ext cx="2526715" cy="219456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9039" y="3209544"/>
            <a:ext cx="19780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spc="-25">
                <a:solidFill>
                  <a:srgbClr val="FFFFFF"/>
                </a:solidFill>
                <a:latin typeface="Arial"/>
              </a:rPr>
              <a:t>0,62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9039" y="3813048"/>
            <a:ext cx="19780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os maiores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9039" y="4178808"/>
            <a:ext cx="197807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acerta 62 de cada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100 pares. melhor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que nada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79179" y="2971800"/>
            <a:ext cx="2526715" cy="219456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53499" y="3209544"/>
            <a:ext cx="19780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spc="-25">
                <a:solidFill>
                  <a:srgbClr val="3B9DF5"/>
                </a:solidFill>
                <a:latin typeface="Arial"/>
              </a:rPr>
              <a:t>0,85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53499" y="3813048"/>
            <a:ext cx="19780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o modelo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53499" y="4178808"/>
            <a:ext cx="197807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quem comprou vem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na frente em 85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de cada 100 pares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394960"/>
            <a:ext cx="10820095" cy="91440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9848" y="5610352"/>
            <a:ext cx="100519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AUC compara FILAS. Lift conta LIGAÇÕES.</a:t>
            </a:r>
          </a:p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A primeira é para você conferir; a segunda é para a reunião.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ERRO QUE MAIS MATA MODELO NA VIDA REAL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Prever a semana que vem</a:t>
            </a:r>
          </a:p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com informação da semana que vem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93391"/>
            <a:ext cx="10820095" cy="117043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76397" y="2249424"/>
            <a:ext cx="8629497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|---- features até 31/07 ----|CORTE|---- comprou até 07/08? ----|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                              01/08/2026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364991"/>
            <a:ext cx="5291175" cy="148132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3602735"/>
            <a:ext cx="477911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FF6B5A"/>
                </a:solidFill>
                <a:latin typeface="Arial"/>
              </a:rPr>
              <a:t>Errado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4027931"/>
            <a:ext cx="4779111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Features com todo o histórico</a:t>
            </a:r>
          </a:p>
          <a:p>
            <a:pPr algn="l">
              <a:lnSpc>
                <a:spcPct val="128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AUC 0,98 — e quebra em produção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4719" y="3364991"/>
            <a:ext cx="5291175" cy="148132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0751" y="3602735"/>
            <a:ext cx="477911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B9DF5"/>
                </a:solidFill>
                <a:latin typeface="Arial"/>
              </a:rPr>
              <a:t>Certo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0751" y="4027931"/>
            <a:ext cx="4779111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Features cortadas em 31/07</a:t>
            </a:r>
          </a:p>
          <a:p>
            <a:pPr algn="l">
              <a:lnSpc>
                <a:spcPct val="128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AUC menor — e funciona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102352"/>
            <a:ext cx="10820095" cy="65836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9848" y="5319776"/>
            <a:ext cx="1005199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AUC alto demais é sinal de vazamento, não de competência.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POR QUE O MODELO ENTRA NOS MESMOS TESTES DE ONTEM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Um dado errado quebra.</a:t>
            </a:r>
          </a:p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Um modelo ruim funciona.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93391"/>
            <a:ext cx="10820095" cy="62179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6" y="2192845"/>
            <a:ext cx="384048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Dado nulo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0056" y="2192845"/>
            <a:ext cx="615665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Explode, fica vermelho, alguém é avisado no mesmo dia.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743200"/>
            <a:ext cx="10820095" cy="62179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2942653"/>
            <a:ext cx="384048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Modelo ruim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0056" y="2942653"/>
            <a:ext cx="615665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Devolve nota para todo mundo, na faixa certa, sem erro nenhum.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493008"/>
            <a:ext cx="10820095" cy="621792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6" y="3692461"/>
            <a:ext cx="384048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6B5A"/>
                </a:solidFill>
                <a:latin typeface="Arial"/>
              </a:rPr>
              <a:t>O resultado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0056" y="3692461"/>
            <a:ext cx="615665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Pipeline verde, dashboard atualizado, e a lista errada por seis meses.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279392"/>
            <a:ext cx="10820095" cy="1133475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507992"/>
            <a:ext cx="10088575" cy="1133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assert auc &gt; melhor_baseline + 0.05, "o modelo não ganha da regra simples"</a:t>
            </a:r>
          </a:p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assert auc &lt; 0.99,                   "bom demais é vazamento"</a:t>
            </a:r>
          </a:p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assert lift_top200 &gt;= 2.5,           "a fila não se paga"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961888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7CC8FF"/>
                </a:solidFill>
                <a:latin typeface="Arial"/>
              </a:rPr>
              <a:t>O teste que quase ninguém escreve é o primeiro: o modelo ganha do que a gente já fazia de graça?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B9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2331720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200">
                <a:solidFill>
                  <a:srgbClr val="3B9DF5"/>
                </a:solidFill>
                <a:latin typeface="Arial"/>
              </a:rPr>
              <a:t>AINDA NO PROMPT 2 · TERCEIRO PASSO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2788920"/>
            <a:ext cx="10332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1" spc="-45">
                <a:solidFill>
                  <a:srgbClr val="FFFFFF"/>
                </a:solidFill>
                <a:latin typeface="Arial"/>
              </a:rPr>
              <a:t>MLflow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4014215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9BAAC0"/>
                </a:solidFill>
                <a:latin typeface="Arial"/>
              </a:rPr>
              <a:t>Por que não basta salvar um .pkl numa pasta.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ANTES DO PORQUÊ, O QUÊ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 que é MLflow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10820095" cy="96012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1747012"/>
            <a:ext cx="1005199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Uma biblioteca aberta — criada pela Databricks — que registra tudo o que</a:t>
            </a:r>
          </a:p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acontece num treino, e um servidor que guarda isso para sempre.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651760"/>
            <a:ext cx="2526715" cy="196596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889504"/>
            <a:ext cx="20146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Tracking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3299206"/>
            <a:ext cx="2014651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O diário.</a:t>
            </a:r>
          </a:p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Cada treino vira um run,</a:t>
            </a:r>
          </a:p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com o que entrou e o</a:t>
            </a:r>
          </a:p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que saiu.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0259" y="2651760"/>
            <a:ext cx="2526715" cy="196596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6291" y="2889504"/>
            <a:ext cx="20146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Models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6291" y="3299206"/>
            <a:ext cx="2014651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O formato do pacote.</a:t>
            </a:r>
          </a:p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O modelo + o ambiente +</a:t>
            </a:r>
          </a:p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o schema de entrada,</a:t>
            </a:r>
          </a:p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num diretório só.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4719" y="2651760"/>
            <a:ext cx="2526715" cy="196596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0751" y="2889504"/>
            <a:ext cx="20146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3B9DF5"/>
                </a:solidFill>
                <a:latin typeface="Arial"/>
              </a:rPr>
              <a:t>Registry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0751" y="3299206"/>
            <a:ext cx="2014651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O versionamento.</a:t>
            </a:r>
          </a:p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v1, v2, v3 e os apelidos</a:t>
            </a:r>
          </a:p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@prod e @challenger.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79179" y="2651760"/>
            <a:ext cx="2526715" cy="196596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211" y="2889504"/>
            <a:ext cx="20146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Evaluation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211" y="3299206"/>
            <a:ext cx="2014651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A comparação.</a:t>
            </a:r>
          </a:p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Dois modelos lado a lado,</a:t>
            </a:r>
          </a:p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na mesma tela, com as</a:t>
            </a:r>
          </a:p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mesmas métricas.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818888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" y="4990909"/>
            <a:ext cx="2926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No Databricks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05656" y="4990909"/>
            <a:ext cx="707105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já vem instalado, e o Registry É o Unity Catalog — o mesmo do dado.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QUANDO VOCÊ NÃO ESTIVER MAIS NO PROJETO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“Esse modelo ainda está bom?”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" y="150876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40">
                <a:solidFill>
                  <a:srgbClr val="3B9DF5"/>
                </a:solidFill>
                <a:latin typeface="Arial"/>
              </a:rPr>
              <a:t>PERGUNTA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65976" y="1508760"/>
            <a:ext cx="4510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40">
                <a:solidFill>
                  <a:srgbClr val="3B9DF5"/>
                </a:solidFill>
                <a:latin typeface="Arial"/>
              </a:rPr>
              <a:t>SEM MLFLOW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92808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" y="2083117"/>
            <a:ext cx="5486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Qual versão está em produção?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5976" y="2083117"/>
            <a:ext cx="451073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Ninguém sabe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624328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2814637"/>
            <a:ext cx="5486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Com que dado foi treinada?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65976" y="2814637"/>
            <a:ext cx="451073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Perdido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355848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546157"/>
            <a:ext cx="5486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Está melhor ou pior que a anterior?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5976" y="3546157"/>
            <a:ext cx="451073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Impossível comparar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087368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6696" y="4277677"/>
            <a:ext cx="5486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Quem treinou e quando?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5976" y="4277677"/>
            <a:ext cx="451073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O cara saiu da empresa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486400"/>
            <a:ext cx="10820095" cy="93268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9848" y="5710935"/>
            <a:ext cx="10051999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O MLflow não faz a empresa vender mais. O MODELO faz.</a:t>
            </a:r>
          </a:p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O MLflow garante que ele continue existindo depois que você sair.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TRÊS COISAS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 que o MLflow resolve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3448202" cy="129844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74650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Tracking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156206"/>
            <a:ext cx="2936138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Registra cada treino: parâmetros, métricas, artefatos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1746" y="1508760"/>
            <a:ext cx="3448202" cy="129844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27778" y="174650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Model Registry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7778" y="2156206"/>
            <a:ext cx="2936138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Versiona e controla o estágio: staging, produção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57692" y="1508760"/>
            <a:ext cx="3448202" cy="129844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13724" y="174650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Comparação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13724" y="2156206"/>
            <a:ext cx="2936138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Dois modelos lado a lado, na mesma tela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026664"/>
            <a:ext cx="10820095" cy="175564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255264"/>
            <a:ext cx="10088575" cy="1755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200" b="0">
                <a:solidFill>
                  <a:srgbClr val="7CC8FF"/>
                </a:solidFill>
                <a:latin typeface="Consolas"/>
              </a:rPr>
              <a:t>with mlflow.start_run(run_name="propensao_v1"):</a:t>
            </a:r>
          </a:p>
          <a:p>
            <a:pPr algn="l">
              <a:lnSpc>
                <a:spcPct val="142000"/>
              </a:lnSpc>
            </a:pPr>
            <a:r>
              <a:rPr sz="1200" b="0">
                <a:solidFill>
                  <a:srgbClr val="7CC8FF"/>
                </a:solidFill>
                <a:latin typeface="Consolas"/>
              </a:rPr>
              <a:t>    mlflow.log_params(params)</a:t>
            </a:r>
          </a:p>
          <a:p>
            <a:pPr algn="l">
              <a:lnSpc>
                <a:spcPct val="142000"/>
              </a:lnSpc>
            </a:pPr>
            <a:r>
              <a:rPr sz="1200" b="0">
                <a:solidFill>
                  <a:srgbClr val="7CC8FF"/>
                </a:solidFill>
                <a:latin typeface="Consolas"/>
              </a:rPr>
              <a:t>    mlflow.log_metric("auc", auc)</a:t>
            </a:r>
          </a:p>
          <a:p>
            <a:pPr algn="l">
              <a:lnSpc>
                <a:spcPct val="142000"/>
              </a:lnSpc>
            </a:pPr>
            <a:r>
              <a:rPr sz="1200" b="0">
                <a:solidFill>
                  <a:srgbClr val="7CC8FF"/>
                </a:solidFill>
                <a:latin typeface="Consolas"/>
              </a:rPr>
              <a:t>    mlflow.log_metric("lift_top200", lift)</a:t>
            </a:r>
          </a:p>
          <a:p>
            <a:pPr algn="l">
              <a:lnSpc>
                <a:spcPct val="142000"/>
              </a:lnSpc>
            </a:pPr>
            <a:r>
              <a:rPr sz="1200" b="0">
                <a:solidFill>
                  <a:srgbClr val="7CC8FF"/>
                </a:solidFill>
                <a:latin typeface="Consolas"/>
              </a:rPr>
              <a:t>    mlflow.sklearn.log_model(modelo, "modelo",</a:t>
            </a:r>
          </a:p>
          <a:p>
            <a:pPr algn="l">
              <a:lnSpc>
                <a:spcPct val="142000"/>
              </a:lnSpc>
            </a:pPr>
            <a:r>
              <a:rPr sz="1200" b="0">
                <a:solidFill>
                  <a:srgbClr val="7CC8FF"/>
                </a:solidFill>
                <a:latin typeface="Consolas"/>
              </a:rPr>
              <a:t>        registered_model_name="propensao_compra")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053328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7CC8FF"/>
                </a:solidFill>
                <a:latin typeface="Arial"/>
              </a:rPr>
              <a:t>Repare no lift_top200. Essa é a métrica que responde a pergunta do diretor — e é ela que a gente versiona.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QUE FICA GUARDADO A CADA TREINO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A anatomia de um 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10820095" cy="53035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6" y="1662493"/>
            <a:ext cx="27432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params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22776" y="1662493"/>
            <a:ext cx="725393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o que VOCÊ escolheu: max_iter, learning_rate, a data de corte, a janela.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67128"/>
            <a:ext cx="10820095" cy="53035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2320861"/>
            <a:ext cx="27432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22776" y="2320861"/>
            <a:ext cx="725393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o que SAIU: auc, lift_top200, acertos_top200, a taxa base.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825496"/>
            <a:ext cx="10820095" cy="53035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6" y="2979229"/>
            <a:ext cx="27432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artifacts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22776" y="2979229"/>
            <a:ext cx="725393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o modelo serializado, e qualquer gráfico ou arquivo que você anexar.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483863"/>
            <a:ext cx="10820095" cy="530352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6696" y="3637597"/>
            <a:ext cx="27432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signature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22776" y="3637597"/>
            <a:ext cx="725393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o schema de entrada e saída. É o que impede alguém de pontuar com as colunas trocadas.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142231"/>
            <a:ext cx="10820095" cy="53035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4295965"/>
            <a:ext cx="27432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source + tags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22776" y="4295965"/>
            <a:ext cx="725393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qual notebook rodou, qual job, qual commit, quem disparou e quando.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504688"/>
            <a:ext cx="10820095" cy="91440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9848" y="5736335"/>
            <a:ext cx="100519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Um run por treino. Vinte treinos viram uma tabela de vinte linhas</a:t>
            </a:r>
          </a:p>
          <a:p>
            <a:pPr algn="l">
              <a:lnSpc>
                <a:spcPct val="128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que você ordena por lift — sem abrir um notebook sequer.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POR QUE ISSO IMPORTA NESTE PROJETO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Três motivos concretos,</a:t>
            </a:r>
          </a:p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não boas práticas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93391"/>
            <a:ext cx="10820095" cy="71323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6" y="2238565"/>
            <a:ext cx="420624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O job retreina sozinho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85816" y="2238565"/>
            <a:ext cx="5790895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Toda semana nasce um modelo novo. Sem registry, ninguém sabe qual gerou a fila de hoje.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834639"/>
            <a:ext cx="10820095" cy="713232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3079813"/>
            <a:ext cx="420624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A fila guarda a versão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85816" y="3079813"/>
            <a:ext cx="5790895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score_propensao grava o número da versão. Dá para auditar a lista de três semanas atrás.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675887"/>
            <a:ext cx="10820095" cy="71323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6" y="3921061"/>
            <a:ext cx="420624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Rollback é uma linha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85816" y="3921061"/>
            <a:ext cx="5790895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set_registered_model_alias(modelo, 'prod', 1). Nenhum deploy, nenhum código alterado.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645152"/>
            <a:ext cx="10820095" cy="92608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873752"/>
            <a:ext cx="10088575" cy="926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300" b="0">
                <a:solidFill>
                  <a:srgbClr val="7CC8FF"/>
                </a:solidFill>
                <a:latin typeface="Consolas"/>
              </a:rPr>
              <a:t># quem consome nunca precisa saber o número da versão</a:t>
            </a:r>
          </a:p>
          <a:p>
            <a:pPr algn="l">
              <a:lnSpc>
                <a:spcPct val="142000"/>
              </a:lnSpc>
            </a:pPr>
            <a:r>
              <a:rPr sz="1300" b="0">
                <a:solidFill>
                  <a:srgbClr val="7CC8FF"/>
                </a:solidFill>
                <a:latin typeface="Consolas"/>
              </a:rPr>
              <a:t>mlflow.sklearn.load_model("models:/...propensao_compra@prod")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03504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7CC8FF"/>
                </a:solidFill>
                <a:latin typeface="Arial"/>
              </a:rPr>
              <a:t>Sem isso, "o modelo está pior esse mês" é uma conversa sem prova de nenhum dos dois lados.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QUE O DATABRICKS ENTREGA AQUI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 modelo do lado das tabelas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10820095" cy="62179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6" y="1708213"/>
            <a:ext cx="42062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Mesmo catálogo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85816" y="1708213"/>
            <a:ext cx="579089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lakehouse_rotaperfume.gold.propensao_compra. Mesmo GRANT, mesma auditoria.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258568"/>
            <a:ext cx="10820095" cy="62179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2458021"/>
            <a:ext cx="42062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Linhagem inteira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85816" y="2458021"/>
            <a:ext cx="579089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Do CSV que chegou às 6h até a lista que o vendedor abre às 8h.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008376"/>
            <a:ext cx="10820095" cy="621792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6" y="3207829"/>
            <a:ext cx="42062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Alias, não estágio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85816" y="3207829"/>
            <a:ext cx="579089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@prod é um apelido móvel. Promover e reverter é um comando.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758184"/>
            <a:ext cx="10820095" cy="62179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6696" y="3957637"/>
            <a:ext cx="42062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Um run por treino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85816" y="3957637"/>
            <a:ext cx="579089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'Por que o número mudou?' vira uma tela, não arqueologia.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343400"/>
            <a:ext cx="10820095" cy="92608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572000"/>
            <a:ext cx="10088575" cy="926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300" b="0">
                <a:solidFill>
                  <a:srgbClr val="7CC8FF"/>
                </a:solidFill>
                <a:latin typeface="Consolas"/>
              </a:rPr>
              <a:t>modelo = mlflow.sklearn.load_model(</a:t>
            </a:r>
          </a:p>
          <a:p>
            <a:pPr algn="l">
              <a:lnSpc>
                <a:spcPct val="142000"/>
              </a:lnSpc>
            </a:pPr>
            <a:r>
              <a:rPr sz="1300" b="0">
                <a:solidFill>
                  <a:srgbClr val="7CC8FF"/>
                </a:solidFill>
                <a:latin typeface="Consolas"/>
              </a:rPr>
              <a:t>    "models:/lakehouse_rotaperfume.gold.propensao_compra@prod")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03504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7CC8FF"/>
                </a:solidFill>
                <a:latin typeface="Arial"/>
              </a:rPr>
              <a:t>Quem consome escreve @prod e nunca precisa saber o número da versão.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B9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2331720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200">
                <a:solidFill>
                  <a:srgbClr val="3B9DF5"/>
                </a:solidFill>
                <a:latin typeface="Arial"/>
              </a:rPr>
              <a:t>PROMPT 3 DE 3 · QUARTO PASSO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2788920"/>
            <a:ext cx="10332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1" spc="-45">
                <a:solidFill>
                  <a:srgbClr val="FFFFFF"/>
                </a:solidFill>
                <a:latin typeface="Arial"/>
              </a:rPr>
              <a:t>Os 200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4014215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9BAAC0"/>
                </a:solidFill>
                <a:latin typeface="Arial"/>
              </a:rPr>
              <a:t>Do score à ligação.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 PERGUNTA TÉCNICA QUE SEMPRE APARECE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Batch ou tempo real?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10820095" cy="62179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6" y="1708213"/>
            <a:ext cx="42062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A pergunta da noite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85816" y="1708213"/>
            <a:ext cx="579089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'Com quem eu falo essa semana?' Isso não muda a cada clique.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258568"/>
            <a:ext cx="10820095" cy="62179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2458021"/>
            <a:ext cx="42062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Endpoint serve para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85816" y="2458021"/>
            <a:ext cx="579089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Fraude na autorização. Recomendação no carregamento da página. 50ms.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008376"/>
            <a:ext cx="10820095" cy="621792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6" y="3207829"/>
            <a:ext cx="42062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Aqui seria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85816" y="3207829"/>
            <a:ext cx="579089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Infraestrutura ligada 24h para responder o que só muda de manhã.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758184"/>
            <a:ext cx="10820095" cy="62179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6696" y="3957637"/>
            <a:ext cx="42062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O tamanho do dado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85816" y="3957637"/>
            <a:ext cx="579089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3.000 clientes cabem na memória. Spark serve para o que não cabe.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389120"/>
            <a:ext cx="10820095" cy="96012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" y="4627372"/>
            <a:ext cx="1005199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O score vira TABELA — e tabela o dashboard lê, o Genie lê,</a:t>
            </a:r>
          </a:p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o agente lê e o vendedor lê. Endpoint só o código lê.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ONDE OS PROJETOS DE ML MORREM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 último metro é o mais difícil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45920"/>
            <a:ext cx="2416987" cy="96012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2018665"/>
            <a:ext cx="212437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Consolas"/>
              </a:rPr>
              <a:t>Dado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2787" y="1952244"/>
            <a:ext cx="3840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3B9DF5"/>
                </a:solidFill>
                <a:latin typeface="Arial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86835" y="1645920"/>
            <a:ext cx="2416987" cy="96012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33139" y="2018665"/>
            <a:ext cx="212437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Consolas"/>
              </a:rPr>
              <a:t>Modelo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03823" y="1952244"/>
            <a:ext cx="3840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3B9DF5"/>
                </a:solidFill>
                <a:latin typeface="Arial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87871" y="1645920"/>
            <a:ext cx="2416987" cy="96012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4175" y="1911350"/>
            <a:ext cx="212437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Consolas"/>
              </a:rPr>
              <a:t>Score na</a:t>
            </a:r>
          </a:p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Consolas"/>
              </a:rPr>
              <a:t>tabela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04859" y="1952244"/>
            <a:ext cx="3840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6B5A"/>
                </a:solidFill>
                <a:latin typeface="Arial"/>
              </a:rPr>
              <a:t>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88907" y="1645920"/>
            <a:ext cx="2416987" cy="96012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211" y="1911350"/>
            <a:ext cx="212437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FF6B5A"/>
                </a:solidFill>
                <a:latin typeface="Consolas"/>
              </a:rPr>
              <a:t>Alguém</a:t>
            </a:r>
          </a:p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FF6B5A"/>
                </a:solidFill>
                <a:latin typeface="Consolas"/>
              </a:rPr>
              <a:t>ligar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2926080"/>
            <a:ext cx="10820095" cy="160020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200400"/>
            <a:ext cx="990569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FFFFFF"/>
                </a:solidFill>
                <a:latin typeface="Arial"/>
              </a:rPr>
              <a:t>“Já vi empresa com modelo excelente rodando há dois anos, AUC de 0,89,</a:t>
            </a: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FFFFFF"/>
                </a:solidFill>
                <a:latin typeface="Arial"/>
              </a:rPr>
              <a:t>e o vendedor continuando a ligar pela intuição. Porque o score estava</a:t>
            </a: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FFFFFF"/>
                </a:solidFill>
                <a:latin typeface="Arial"/>
              </a:rPr>
              <a:t>numa tabela que ele nunca abriu.”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75488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7CC8FF"/>
                </a:solidFill>
                <a:latin typeface="Arial"/>
              </a:rPr>
              <a:t>O último metro é o mais difícil. E é o que o agente resolve.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 ÚLTIMA CAMADA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Ele não inventa. Ele consulta.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" y="15087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40">
                <a:solidFill>
                  <a:srgbClr val="3B9DF5"/>
                </a:solidFill>
                <a:latin typeface="Arial"/>
              </a:rPr>
              <a:t>FERRAMENTA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68696" y="1508760"/>
            <a:ext cx="56080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40">
                <a:solidFill>
                  <a:srgbClr val="3B9DF5"/>
                </a:solidFill>
                <a:latin typeface="Arial"/>
              </a:rPr>
              <a:t>O QUE FAZ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92808"/>
            <a:ext cx="10820095" cy="62179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" y="2092261"/>
            <a:ext cx="43891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priorizar_carteira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68696" y="2092261"/>
            <a:ext cx="560801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Cruza carteira + score + features e ordena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642616"/>
            <a:ext cx="10820095" cy="62179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2842069"/>
            <a:ext cx="43891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contexto_cliente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68696" y="2842069"/>
            <a:ext cx="560801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Histórico, ticket médio, marcas preferidas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392424"/>
            <a:ext cx="10820095" cy="62179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591877"/>
            <a:ext cx="43891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sugerir_produtos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8696" y="3591877"/>
            <a:ext cx="560801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O que ele compra e parou de comprar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142232"/>
            <a:ext cx="10820095" cy="621792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6696" y="4341685"/>
            <a:ext cx="43891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checar_disponibilidade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68696" y="4341685"/>
            <a:ext cx="560801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Estoque real, com flag de ruptura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504688"/>
            <a:ext cx="10820095" cy="91440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9848" y="5720079"/>
            <a:ext cx="100519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Regra do sistema: use sempre as ferramentas, nunca invente número.</a:t>
            </a:r>
          </a:p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Agente sem dado organizado por trás é chute com sotaque.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QUE O VENDEDOR ABRE NA SEGUNDA DE MANHÃ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A resposta para o diretor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10820095" cy="370332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7830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566A85"/>
                </a:solidFill>
                <a:latin typeface="Arial"/>
              </a:rPr>
              <a:t>Vendedor: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1783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FFFFFF"/>
                </a:solidFill>
                <a:latin typeface="Arial"/>
              </a:rPr>
              <a:t>Quem eu ligo essa semana?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22199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B9DF5"/>
                </a:solidFill>
                <a:latin typeface="Arial"/>
              </a:rPr>
              <a:t>Agente: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22219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FFFFFF"/>
                </a:solidFill>
                <a:latin typeface="Arial"/>
              </a:rPr>
              <a:t>Seus 6 desta semana, em ordem: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679192"/>
            <a:ext cx="95399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CC8FF"/>
                </a:solidFill>
                <a:latin typeface="Arial"/>
              </a:rPr>
              <a:t>1. Perfumaria Aurora — score 0,91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953512"/>
            <a:ext cx="95399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9BAAC0"/>
                </a:solidFill>
                <a:latin typeface="Arial"/>
              </a:rPr>
              <a:t>Comprava a cada 8 dias, está há 26 sem pedido. Risco de perder.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9BAAC0"/>
                </a:solidFill>
                <a:latin typeface="Arial"/>
              </a:rPr>
              <a:t>Ofereça: Layali Oud EDP — em estoque.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648456"/>
            <a:ext cx="95399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CC8FF"/>
                </a:solidFill>
                <a:latin typeface="Arial"/>
              </a:rPr>
              <a:t>2. Drogaria Bella Vita — score 0,87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922776"/>
            <a:ext cx="95399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9BAAC0"/>
                </a:solidFill>
                <a:latin typeface="Arial"/>
              </a:rPr>
              <a:t>Comprou o lançamento no mês passado. Alta chance de repetir.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379976"/>
            <a:ext cx="95399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CC8FF"/>
                </a:solidFill>
                <a:latin typeface="Arial"/>
              </a:rPr>
              <a:t>3. Boutique Essenza — score 0,84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654296"/>
            <a:ext cx="95399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9BAAC0"/>
                </a:solidFill>
                <a:latin typeface="Arial"/>
              </a:rPr>
              <a:t>R$ 62 mil no ano. Cliente grande, manter próximo.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870448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7CC8FF"/>
                </a:solidFill>
                <a:latin typeface="Arial"/>
              </a:rPr>
              <a:t>Os 200 de maior score da base inteira — e a fatia de cada vendedor varia de 2 a 10.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 RESPOSTA COMPLETA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Quais 200?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45736" y="150876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40">
                <a:solidFill>
                  <a:srgbClr val="3B9DF5"/>
                </a:solidFill>
                <a:latin typeface="Arial"/>
              </a:rPr>
              <a:t>ANTES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29016" y="150876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40">
                <a:solidFill>
                  <a:srgbClr val="3B9DF5"/>
                </a:solidFill>
                <a:latin typeface="Arial"/>
              </a:rPr>
              <a:t>DEPOIS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20"/>
            <a:ext cx="10820095" cy="54864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" y="2020824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Critério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45736" y="2020824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Intuição do vendedor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9016" y="2020824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Score de propensão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532888"/>
            <a:ext cx="10820095" cy="54864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6" y="2679192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Cobertura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5736" y="267919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Os 20 que ele lembra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9016" y="267919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Os 3.000 avaliados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191256"/>
            <a:ext cx="10820095" cy="54864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6696" y="333756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Ordem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45736" y="333756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Aleatória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9016" y="333756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Por probabilidade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849624"/>
            <a:ext cx="10820095" cy="768096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" y="3995928"/>
            <a:ext cx="36576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Contexto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45736" y="3995928"/>
            <a:ext cx="32004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“Faz tempo que não falo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com ele”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9016" y="3995928"/>
            <a:ext cx="32004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Atraso relativo, histórico,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sugestão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4727448"/>
            <a:ext cx="10820095" cy="54864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6696" y="4873752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Resultado medido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45736" y="487375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20 vendas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9016" y="487375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75 vendas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5742432"/>
            <a:ext cx="10820095" cy="621792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69848" y="5941568"/>
            <a:ext cx="1005199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Mesmo time. Mesmas 200 ligações. Quase quatro vezes mais resultado.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DE ONDE A GENTE VEIO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 arco de três noites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54480"/>
            <a:ext cx="10820095" cy="324612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66947" y="1810512"/>
            <a:ext cx="8038947" cy="3246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7CC8FF"/>
                </a:solidFill>
                <a:latin typeface="Consolas"/>
              </a:rPr>
              <a:t>CSV sujo numa pasta                    segunda</a:t>
            </a:r>
          </a:p>
          <a:p>
            <a:pPr algn="l">
              <a:lnSpc>
                <a:spcPct val="150000"/>
              </a:lnSpc>
            </a:pPr>
            <a:r>
              <a:rPr sz="1500" b="1">
                <a:solidFill>
                  <a:srgbClr val="7CC8FF"/>
                </a:solidFill>
                <a:latin typeface="Consolas"/>
              </a:rPr>
              <a:t>         ↓</a:t>
            </a:r>
          </a:p>
          <a:p>
            <a:pPr algn="l">
              <a:lnSpc>
                <a:spcPct val="150000"/>
              </a:lnSpc>
            </a:pPr>
            <a:r>
              <a:rPr sz="1500" b="1">
                <a:solidFill>
                  <a:srgbClr val="7CC8FF"/>
                </a:solidFill>
                <a:latin typeface="Consolas"/>
              </a:rPr>
              <a:t>Bronze · Silver · Gold                   terça</a:t>
            </a:r>
          </a:p>
          <a:p>
            <a:pPr algn="l">
              <a:lnSpc>
                <a:spcPct val="150000"/>
              </a:lnSpc>
            </a:pPr>
            <a:r>
              <a:rPr sz="1500" b="1">
                <a:solidFill>
                  <a:srgbClr val="7CC8FF"/>
                </a:solidFill>
                <a:latin typeface="Consolas"/>
              </a:rPr>
              <a:t>         ↓</a:t>
            </a:r>
          </a:p>
          <a:p>
            <a:pPr algn="l">
              <a:lnSpc>
                <a:spcPct val="150000"/>
              </a:lnSpc>
            </a:pPr>
            <a:r>
              <a:rPr sz="1500" b="1">
                <a:solidFill>
                  <a:srgbClr val="7CC8FF"/>
                </a:solidFill>
                <a:latin typeface="Consolas"/>
              </a:rPr>
              <a:t>Features · Modelo · MLflow              quarta</a:t>
            </a:r>
          </a:p>
          <a:p>
            <a:pPr algn="l">
              <a:lnSpc>
                <a:spcPct val="150000"/>
              </a:lnSpc>
            </a:pPr>
            <a:r>
              <a:rPr sz="1500" b="1">
                <a:solidFill>
                  <a:srgbClr val="7CC8FF"/>
                </a:solidFill>
                <a:latin typeface="Consolas"/>
              </a:rPr>
              <a:t>         ↓</a:t>
            </a:r>
          </a:p>
          <a:p>
            <a:pPr algn="l">
              <a:lnSpc>
                <a:spcPct val="150000"/>
              </a:lnSpc>
            </a:pPr>
            <a:r>
              <a:rPr sz="1500" b="1">
                <a:solidFill>
                  <a:srgbClr val="7CC8FF"/>
                </a:solidFill>
                <a:latin typeface="Consolas"/>
              </a:rPr>
              <a:t>"Ligue para esses 200"                  quarta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779008"/>
            <a:ext cx="108200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-15">
                <a:solidFill>
                  <a:srgbClr val="7CC8FF"/>
                </a:solidFill>
                <a:latin typeface="Arial"/>
              </a:rPr>
              <a:t>E vocês construíram junto. Não assistiram.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9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0" y="2331720"/>
            <a:ext cx="981151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400" b="1" spc="-20">
                <a:solidFill>
                  <a:srgbClr val="FFFFFF"/>
                </a:solidFill>
                <a:latin typeface="Arial"/>
              </a:rPr>
              <a:t>Dashboard descreve o passado.</a:t>
            </a:r>
          </a:p>
          <a:p>
            <a:pPr algn="ctr">
              <a:lnSpc>
                <a:spcPct val="135000"/>
              </a:lnSpc>
            </a:pPr>
            <a:r>
              <a:rPr sz="3400" b="1" spc="-20">
                <a:solidFill>
                  <a:srgbClr val="FFFFFF"/>
                </a:solidFill>
                <a:latin typeface="Arial"/>
              </a:rPr>
              <a:t>Modelo prevê o futuro.</a:t>
            </a:r>
          </a:p>
          <a:p>
            <a:pPr algn="ctr">
              <a:lnSpc>
                <a:spcPct val="135000"/>
              </a:lnSpc>
            </a:pPr>
            <a:r>
              <a:rPr sz="3400" b="1" spc="-20">
                <a:solidFill>
                  <a:srgbClr val="FFFFFF"/>
                </a:solidFill>
                <a:latin typeface="Arial"/>
              </a:rPr>
              <a:t>Agente diz o que fazer na segunda de manhã.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