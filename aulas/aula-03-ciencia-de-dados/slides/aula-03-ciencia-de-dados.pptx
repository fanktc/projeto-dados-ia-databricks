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365760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NOITE 3 · QUARTA 26/08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Do que aconteceu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para o que fazer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26464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O pipeline para de contar o passado. Em seis prompts, ele passa a dizer para quem ligar amanhã.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280160"/>
            <a:ext cx="2926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B9DF5"/>
                </a:solidFill>
                <a:latin typeface="Arial"/>
              </a:rPr>
              <a:t>A DOR DE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2377440"/>
            <a:ext cx="33284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400" b="1">
                <a:solidFill>
                  <a:srgbClr val="FFFFFF"/>
                </a:solidFill>
                <a:latin typeface="Arial"/>
              </a:rPr>
              <a:t>A gold responde tudo</a:t>
            </a:r>
          </a:p>
          <a:p>
            <a:pPr algn="l">
              <a:lnSpc>
                <a:spcPct val="95000"/>
              </a:lnSpc>
            </a:pPr>
            <a:r>
              <a:rPr sz="10400" b="1">
                <a:solidFill>
                  <a:srgbClr val="FFFFFF"/>
                </a:solidFill>
                <a:latin typeface="Arial"/>
              </a:rPr>
              <a:t>sobre ontem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5760720"/>
            <a:ext cx="3328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0">
                <a:solidFill>
                  <a:srgbClr val="9BAAC0"/>
                </a:solidFill>
                <a:latin typeface="Arial"/>
              </a:rPr>
              <a:t>E ninguém consegue responder a única pergunta que o vendedor faz de manhã.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7863840"/>
            <a:ext cx="7772400" cy="676656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8412480"/>
            <a:ext cx="6492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RETROVISOR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9418319"/>
            <a:ext cx="6492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Só olha</a:t>
            </a:r>
          </a:p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para trás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1978640"/>
            <a:ext cx="6492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9BAAC0"/>
                </a:solidFill>
                <a:latin typeface="Arial"/>
              </a:rPr>
              <a:t>Receita por mês, margem por marca. Tudo já aconteceu.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7863840"/>
            <a:ext cx="7772400" cy="676656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0" y="8412480"/>
            <a:ext cx="6492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PRIORIDADE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9418319"/>
            <a:ext cx="6492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3.000 clientes,</a:t>
            </a:r>
          </a:p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nenhuma ordem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11978640"/>
            <a:ext cx="6492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9BAAC0"/>
                </a:solidFill>
                <a:latin typeface="Arial"/>
              </a:rPr>
              <a:t>Por onde começar? Hoje a resposta é ordem alfabética.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53760" y="7863840"/>
            <a:ext cx="7772400" cy="676656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93840" y="8412480"/>
            <a:ext cx="6492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INTUIÇÃO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93840" y="9418319"/>
            <a:ext cx="6492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Ninguém</a:t>
            </a:r>
          </a:p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mediu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93840" y="11978640"/>
            <a:ext cx="6492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9BAAC0"/>
                </a:solidFill>
                <a:latin typeface="Arial"/>
              </a:rPr>
              <a:t>'Ligue para quem parou de comprar' — será que funciona?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0" y="7863840"/>
            <a:ext cx="7772400" cy="676656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97760" y="8412480"/>
            <a:ext cx="6492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0" y="9418319"/>
            <a:ext cx="6492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Dashboard</a:t>
            </a:r>
          </a:p>
          <a:p>
            <a:pPr algn="l">
              <a:lnSpc>
                <a:spcPct val="95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não liga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0" y="11978640"/>
            <a:ext cx="6492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9BAAC0"/>
                </a:solidFill>
                <a:latin typeface="Arial"/>
              </a:rPr>
              <a:t>Ver o número não é decidir. Falta a lista de nomes.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45920" y="15179040"/>
            <a:ext cx="33284160" cy="274320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155448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3B9DF5"/>
                </a:solidFill>
                <a:latin typeface="Arial"/>
              </a:rPr>
              <a:t>A SAÍDA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16504920"/>
            <a:ext cx="2377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Features   ·   Modelo no UC   ·   Score em batch   ·   Carteira do 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0" y="16596359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>
                <a:solidFill>
                  <a:srgbClr val="7CC8FF"/>
                </a:solidFill>
                <a:latin typeface="Arial"/>
              </a:rPr>
              <a:t>o dado vira decisão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280160"/>
            <a:ext cx="2926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3B9DF5"/>
                </a:solidFill>
                <a:latin typeface="Arial"/>
              </a:rPr>
              <a:t>QUEM SABE FAZ AO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2377440"/>
            <a:ext cx="33284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600" b="1">
                <a:solidFill>
                  <a:srgbClr val="FFFFFF"/>
                </a:solidFill>
                <a:latin typeface="Arial"/>
              </a:rPr>
              <a:t>O que vamos construir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5029200"/>
            <a:ext cx="3328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9BAAC0"/>
                </a:solidFill>
                <a:latin typeface="Arial"/>
              </a:rPr>
              <a:t>Seis tarefas novas no MESMO pipeline da terça. ML é camada, não projeto à parte.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6675120"/>
            <a:ext cx="5120640" cy="548640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57400" y="7086600"/>
            <a:ext cx="42976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8046720"/>
            <a:ext cx="4297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Uma linha por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955548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22 features · uma função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com a data por parâmetro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sem vazamento, por desenho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59" y="891540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79" y="6675120"/>
            <a:ext cx="5120640" cy="548640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59" y="7086600"/>
            <a:ext cx="42976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TREINO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59" y="8046720"/>
            <a:ext cx="4297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MLflow + Unity Catalog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59" y="955548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baseline medido antes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modelo vira objeto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de catálogo, com linhagem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90119" y="891540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93040" y="6675120"/>
            <a:ext cx="5120640" cy="548640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04519" y="7086600"/>
            <a:ext cx="42976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PROMOÇÃO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04519" y="8046720"/>
            <a:ext cx="4297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Challenger vs 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04519" y="955548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o treino não promove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quem decide é uma regra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e ela deixa registro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0" y="891540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516600" y="6675120"/>
            <a:ext cx="5120640" cy="548640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928080" y="7086600"/>
            <a:ext cx="42976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0" y="8046720"/>
            <a:ext cx="4297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Delta na 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28080" y="955548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@prod → predict_proba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2.816 clientes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com faixa e versão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637240" y="891540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140160" y="6675120"/>
            <a:ext cx="5120640" cy="548640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51639" y="7086600"/>
            <a:ext cx="42976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TESTES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51639" y="8046720"/>
            <a:ext cx="4297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8 que quebram o job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51639" y="955548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ganha do baseline?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bom demais é bug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cobertura e distribuição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0" y="891540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63719" y="6675120"/>
            <a:ext cx="5120640" cy="548640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175200" y="7086600"/>
            <a:ext cx="42976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B9DF5"/>
                </a:solidFill>
                <a:latin typeface="Arial"/>
              </a:rPr>
              <a:t>DECISÃO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0" y="8046720"/>
            <a:ext cx="4297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A carteira do 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0" y="9555480"/>
            <a:ext cx="42976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1.290 contatos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em ordem, com o motivo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BAAC0"/>
                </a:solidFill>
                <a:latin typeface="Arial"/>
              </a:rPr>
              <a:t>escrito em português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45920" y="12573000"/>
            <a:ext cx="33284160" cy="105156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0" y="12847320"/>
            <a:ext cx="3328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7CC8FF"/>
                </a:solidFill>
                <a:latin typeface="Arial"/>
              </a:rPr>
              <a:t>UM JOB · 18 TAREFAS · 19 TESTES QUE QUEBRAM O PIPELINE · UM ÚNICO bundle run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45920" y="14081760"/>
            <a:ext cx="10607040" cy="3749039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4560" y="1440180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B9DF5"/>
                </a:solidFill>
                <a:latin typeface="Arial"/>
              </a:rPr>
              <a:t>O MESMO BUNDLE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15270480"/>
            <a:ext cx="9509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nada de repositório novo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mesma auditoria de metadado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mesmos testes que interrompem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4560" y="169621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6A85"/>
                </a:solidFill>
                <a:latin typeface="Arial"/>
              </a:rPr>
              <a:t>ML é camada, não projeto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984480" y="14081760"/>
            <a:ext cx="10607040" cy="3749039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533120" y="1440180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B9DF5"/>
                </a:solidFill>
                <a:latin typeface="Arial"/>
              </a:rPr>
              <a:t>MEDIDO, NÃO DITO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0" y="15270480"/>
            <a:ext cx="9509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baseline antes do modelo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importância por permutação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calibragem no holdout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533120" y="169621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6A85"/>
                </a:solidFill>
                <a:latin typeface="Arial"/>
              </a:rPr>
              <a:t>toda afirmação tem query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4323040" y="14081760"/>
            <a:ext cx="10607040" cy="3749039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871680" y="1440180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B9DF5"/>
                </a:solidFill>
                <a:latin typeface="Arial"/>
              </a:rPr>
              <a:t>SEED 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871680" y="15270480"/>
            <a:ext cx="9509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mesmo número para todo mundo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corte fixo em 2026-08-01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9BAAC0"/>
                </a:solidFill>
                <a:latin typeface="Arial"/>
              </a:rPr>
              <a:t>· nada de current_date()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71680" y="169621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6A85"/>
                </a:solidFill>
                <a:latin typeface="Arial"/>
              </a:rPr>
              <a:t>dá para conferir na tela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RECAP DAS DUAS NOITES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que já está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de pé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Noite 1 ·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 query quebrou por causa de data em dois formatos. Consertamos no braço.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Noite 2 · Engenharia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Aquilo virou camada: escrito uma vez, testado, agendado. 12 tarefas.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A gold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191.080 linhas no fato · R$ 102.303.828,05 · 11 testes que quebram o job.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O que falta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Tudo isso responde no passado. Hoje o pipeline aprende a responder no futuro.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O bundle não muda de nome nem de lugar. Ele só ganha mais seis tarefas.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Para quem o vendedor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deve ligar amanhã?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26464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Antes de qualquer código: responda. Daqui a vinte minutos a gente mede a sua resposta.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MEDIMOS AS RESPOSTAS DA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intuição comercial,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na régua do AUC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0592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0,4329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recência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592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'ligue para quem comprou recentemente'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19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36224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0,5000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36224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moeda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36224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jogar cara ou coroa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589752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21856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0,6432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21856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frequência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21856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'ligue para quem compra mais'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75383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07487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0,8667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7487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7487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as mesmas colunas, ordenadas por um 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POR QUE 0,43 E NÃO 0,60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intuição não está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imprecisa. Está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invertida.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ciclo de reposição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O varejista acabou de receber a mercadoria. Ele não compra de novo agora.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Quem comprou ontem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É justamente quem NÃO está pronto para o próximo pedido.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Ordenar por recência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Coloca no topo da lista exatamente quem menos vai comprar.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E ninguém tinha medido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Não é que o gerente seja ruim. É que a régua nunca foi colocada.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AUC abaixo de 0,5 significa que seguir o contrário da regra seria melhor.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IDEIA 1 ·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coluna que vale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dinheiro não vem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de biblioteca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recencia_dias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Está em todo tutorial. Sozinha, tem AUC de 0,43 nesta operação.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intervalo_medio_dias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De quanto em quanto tempo ESTE cliente costuma voltar.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atraso_relativo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 divisão das duas. Sumiu há 20 dias: é rotina ou é o dobro do normal dele?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A prova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Importância por permutação: é a feature nº 1 do modelo. Medida, não afirmada.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Isso não é ciência de dados. É conhecimento de negócio, escrito como divisão.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IDEIA 2 · VAZAMENTO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Vazamento não parece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erro. Parece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sucesso.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sintoma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AUC de 1,0000. Acerto perfeito nos 704 clientes. Print no grupo.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A causa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Uma feature enxergou o que aconteceu DEPOIS do rótulo. Um filtro a menos.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A consequência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Em produção despenca — e ninguém entende, porque na validação estava lindo.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A defesa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Uma função com a data por parâmetro. E um teste que QUEBRA o job se o AUC ≥ 0,99.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Quebrar o pipeline porque o resultado ficou bom demais. É por isso que funciona.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IDEIA 3 · TESTE DE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Um dado errado quebra.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Um modelo ruim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funciona.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Dado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Explode, fica vermelho, alguém é avisado no mesmo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Modelo ruim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Devolve número para todo mundo, na faixa certa, sem erro nenhum.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O 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Pipeline verde, dashboard atualizado, e a lista errada por seis meses.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teste que ninguém escreve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O modelo ganha do baseline? Se não ganha, ele não se paga.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8 testes de modelo, que interrompem o job igual aos 11 de ontem.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IDEIA 4 · DECISÃO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Score não é decisão.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É um número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esperando tradução.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que o modelo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cliente_id 1847 · score 0,8412. O vendedor não faz nada com isso.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que ele precisa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'Costuma comprar a cada 89 dias e está há 92 sem pedido'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Os 35 da lista curta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'Cliente grande e atrasado para o padrão dele — ligar hoje'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Por que importa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Modelo que não explica não é usado: fica um mês na tela e some.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E quando ele erra, o motivo é o que permite dizer POR QUE — em vez de perder a confiança.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O MODELO NO UNITY CATALOG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modelo vira objeto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de catálogo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Do lado das tabelas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Mesmo catálogo, mesmo GRANT, mesma auditoria. Não é um .pkl no Drive.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Linhagem completa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Do CSV que chegou às 6h até a lista de quem o vendedor liga às 8h.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Alias, não estágio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@prod e @challenger são apelidos móveis. Promover e reverter é um comando.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Histórico no MLflow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Um run por treino. 'Por que o número mudou?' vira uma tela, não arqueologia.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Quem consome escreve models:/…@prod e nunca precisa saber o número da versão.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A PROVA QUE O COMERCIAL ENTENDE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score separa?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704 clientes que o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modelo nunca viu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0592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11,7%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Fria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592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compraram nos 30 dias seguintes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19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36224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43,4%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36224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Morna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36224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a taxa sobe junto com o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589752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21856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57,8%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21856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Quente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21856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sem falar de AUC nenhuma 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75383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07487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81,1%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7487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Muito quente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7487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8 em cada 10. Sete vezes a faixa fria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BATCH OU TEMPO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pergunta muda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uma vez por 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A pergunta da noite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'Com quem eu falo amanhã de manhã?' Isso não muda a cada clique.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Endpoint serve para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Fraude na autorização. Recomendação no carregamento da página. 50ms.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Aqui seria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Infraestrutura ligada 24h para responder algo que só muda de manhã.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E, honestamente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O Free Edition não oferece endpoint próprio. A escolha é técnica E é a conta.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2.816 clientes cabem na memória. Spark serve para o que não cabe.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AS ARMADILHAS DO FREE EDITION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Três que teriam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quebrado a aula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ao vivo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spark_udf não roda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InvalidVersion: '18.x-aarch64-photon-scala2'. É o caminho que a doc recomenda.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XGBoost não volta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Treina, registra, e falha ao carregar. O erro aparece UMA TAREFA depois.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set_experiment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Não cria a pasta pai. O erro é 'For input string: None' e não fala de pasta.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DECIMAL em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A gold usa DECIMAL(18,2). Sem cast para double, o registro do modelo morre.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Todas medidas contra o workspace na preparação. Estão escritas dentro dos prompts.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O MODELO ENVELHECE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Retreinar é fácil.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Decidir é que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ninguém escreve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Por que envelhece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Não é o código que apodrece — é o mundo que muda. E ele não avisa.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Automático demais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Todo retreino vira produção. Inclusive o ruim, às 6h de um sábado.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Manual demais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Ninguém tem coragem de trocar. Em 2026 o modelo de 2024 ainda decide.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A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O treino apresenta um @challenger. Uma regra decide, e deixa registro.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É code review aplicado a modelo. Ninguém faz merge na main porque passou na sua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A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pipeline recusou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o modelo novo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7470648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7936992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que aconteceu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0" y="7936992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Rodamos de novo. Treinou a versão 2, com AUC idêntico ao da versão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10113263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142337"/>
          </a:solidFill>
          <a:ln w="8128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0579607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B9DF5"/>
                </a:solidFill>
                <a:latin typeface="Arial"/>
              </a:rPr>
              <a:t>A decisão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0" y="10579607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'Diferença de +0,0000 não passa a margem de 0,01: empate técnico.'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12755880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222224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Por que está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0" y="13222224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Trocar produção por ruído é churn: mais uma versão para explicar, zero de ganho.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15398495"/>
            <a:ext cx="33339024" cy="2331720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5864839"/>
            <a:ext cx="950976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O rollback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0" y="15864839"/>
            <a:ext cx="2121408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>
                <a:solidFill>
                  <a:srgbClr val="9BAAC0"/>
                </a:solidFill>
                <a:latin typeface="Arial"/>
              </a:rPr>
              <a:t>set_registered_model_alias(modelo, 'prod', 1). Uma linha. Nenhum deploy.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17693640"/>
            <a:ext cx="3291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7CC8FF"/>
                </a:solidFill>
                <a:latin typeface="Arial"/>
              </a:rPr>
              <a:t>A recusa também vira linha na tabela. Metade do valor do histórico está nas recusas.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645920"/>
            <a:ext cx="29260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O QUE OS 6 PROMPTS ENTREGARAM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3200400"/>
            <a:ext cx="332841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Rodado de ponta</a:t>
            </a:r>
          </a:p>
          <a:p>
            <a:pPr algn="l">
              <a:lnSpc>
                <a:spcPct val="95000"/>
              </a:lnSpc>
            </a:pPr>
            <a:r>
              <a:rPr sz="12800" b="1">
                <a:solidFill>
                  <a:srgbClr val="FFFFFF"/>
                </a:solidFill>
                <a:latin typeface="Arial"/>
              </a:rPr>
              <a:t>a ponta, seed 42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18488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0592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0,8667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de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592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contra 0,6432 da melhor regra simples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04119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36224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2.816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36224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clientes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36224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pontuados, com faixa e versão do modelo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589752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21856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1.290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21856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contatos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21856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priorizados por vendedor, com o motivo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75383" y="8750808"/>
            <a:ext cx="7882127" cy="7004304"/>
          </a:xfrm>
          <a:prstGeom prst="roundRect">
            <a:avLst>
              <a:gd name="adj" fmla="val 6000"/>
            </a:avLst>
          </a:prstGeom>
          <a:solidFill>
            <a:srgbClr val="0D1522"/>
          </a:solidFill>
          <a:ln w="50800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07487" y="9436608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B9DF5"/>
                </a:solidFill>
                <a:latin typeface="Arial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7487" y="10479024"/>
            <a:ext cx="62179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tarefas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7487" y="1280160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>
                <a:solidFill>
                  <a:srgbClr val="9BAAC0"/>
                </a:solidFill>
                <a:latin typeface="Arial"/>
              </a:rPr>
              <a:t>no mesmo job, com 19 testes que quebram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187269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0" cy="20574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5669280"/>
            <a:ext cx="2743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3B9DF5"/>
                </a:solidFill>
                <a:latin typeface="Arial"/>
              </a:rPr>
              <a:t>O 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7315200"/>
            <a:ext cx="314553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O algoritmo tem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três linhas e é igual</a:t>
            </a:r>
          </a:p>
          <a:p>
            <a:pPr algn="l">
              <a:lnSpc>
                <a:spcPct val="95000"/>
              </a:lnSpc>
            </a:pPr>
            <a:r>
              <a:rPr sz="16800" b="1">
                <a:solidFill>
                  <a:srgbClr val="FFFFFF"/>
                </a:solidFill>
                <a:latin typeface="Arial"/>
              </a:rPr>
              <a:t>para todo mundo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264640"/>
            <a:ext cx="2926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9BAAC0"/>
                </a:solidFill>
                <a:latin typeface="Arial"/>
              </a:rPr>
              <a:t>Ciência de dados é saber o que perguntar, com que dado, e ter como provar que a resposta está certa.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