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 a citação respirar. Leia em voz alta, sem pressa, e pare depois de 'Me diz quais 200'. O silêncio aqui vale mais que qualquer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Fala: 'E sim, se a pergunta fosse sobre desconto, o modelo certo seria outro, chamado uplift. Mas aqui a pergunta é priorização de esforço, e para isso propensão é exatamente a ferramenta certa.'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medidos no workspace com seed 42, corte 2026-08-01, janela de 7 dias, score out-of-fold. O zero da segunda linha é o melhor número da aula: a intuição mais comum do comercial acerta nenhum dos 200. E ordenar pelo atraso puro, sem modelo, acerta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 não é etapa de fim de projeto — é o que acontece toda vez que você termina alguma coisa. Por isso são três, e não um no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assim que nasce o modelo que ninguém consegue colocar em produção: repositório novo, notebook solto, ambiente à parte. Aqui ML é mais uma camada do mesmo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isso no SQL Editor de verdade. São 30 segundos e é o que dá autoridade ao resto: nada do que vem hoje é slide, é tabela.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amarra a noite 2 na noite 3: a feature valor_total do prompt 1 sai daqui. Feature errada não dá erro — dá fila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alguém perguntar 'e se a empresa mudar a política de desconto?': quebra a primeira premissa, o modelo precisa de retreino, e é exatamente por isso que ele mora num pipeline agendado e não num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 parte que não dá para terceirizar: depende de saber como a empresa vende. Duas pessoas com o mesmo dado e o mesmo algoritmo chegam a modelos muito diferentes por causa deste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terceiro cliente está há 545 dias sem comprar, com ciclo de 43. Dez vezes atrasado. Pergunte para a sala se vale ligar para ele — a resposta intuitiva é sim, e o slide seguinte mostra que é não.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aqui que a sala espera a aula ficar difícil, e é o slide mais curto da noite. Diga isso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para parar e deixar a sala olhar. Os dois números saíram do modelo treinado, não são exemplo inventado.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quatro números são as respostas da sala, medidas. O 0,37 é o momento da noite: não é 'um pouco ruim', é invertido — a mesma coisa que o '0 de 200' do slide 7 diz em linguagem comercial. Se alguém perguntar por que não usar acurácia: com 10% de compradores, um modelo que diz 'ninguém compra' acerta 90% e é inútil.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Quebre um destes de propósito ao vivo. Teste que ninguém viu falhar não convence ninguém.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o dashboard primeiro — é o que responde a pergunta do diretor. A query é o plano B se algo não carregar ao vivo, e está pronta no passo-a-passo. O Genie fica por último, porque é o mais impressionante e o menos previsível.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perguntarem por que não é a mesma cota para todo mundo: porque a carteira de um vendedor é mais quente que a do outro. A fila é global, a capacidade é que é por pessoa. Dar 5 fixos para cada obrigaria a ligar para cliente frio enquanto sobra cliente quente na mesa do vizinho.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IMERSÃO AO VIVO · NOITE 3 DE 4 · 26/08 · 19H30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87168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spc="-70">
                <a:solidFill>
                  <a:srgbClr val="FFFFFF"/>
                </a:solidFill>
                <a:latin typeface="Arial"/>
              </a:rPr>
              <a:t>Quais 200?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2793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15">
                <a:solidFill>
                  <a:srgbClr val="7CC8FF"/>
                </a:solidFill>
                <a:latin typeface="Arial"/>
              </a:rPr>
              <a:t>Ciência de dados e agentes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A85"/>
                </a:solidFill>
                <a:latin typeface="Arial"/>
              </a:rPr>
              <a:t>Rota do Perfume · Databricks + MLflow +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ONTEM À NOITE, DEPOIS DA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diretor comercial ligou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33101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“Luciano, a plataforma ficou boa. Dashboard bonito, o Genie responde tudo.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96312"/>
            <a:ext cx="98142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9BAAC0"/>
                </a:solidFill>
                <a:latin typeface="Arial"/>
              </a:rPr>
              <a:t>Mas o meu time não vive de dashboard. Eu tenho 42 vendedores e, somando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9BAAC0"/>
                </a:solidFill>
                <a:latin typeface="Arial"/>
              </a:rPr>
              <a:t>todo mundo, dá umas 200 ligações boas por semana. No melhor mês.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92424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BAAC0"/>
                </a:solidFill>
                <a:latin typeface="Arial"/>
              </a:rPr>
              <a:t>Eu tenho 3.000 clientes na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59352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-20">
                <a:solidFill>
                  <a:srgbClr val="7CC8FF"/>
                </a:solidFill>
                <a:latin typeface="Arial"/>
              </a:rPr>
              <a:t>Me diz quais 200.”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650992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5822695"/>
            <a:ext cx="100519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Essa é a aula de hoje.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TAMANHO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200 de 3.000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18488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85416"/>
            <a:ext cx="344820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spc="-45">
                <a:solidFill>
                  <a:srgbClr val="FFFFFF"/>
                </a:solidFill>
                <a:latin typeface="Arial"/>
              </a:rPr>
              <a:t>3.000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91256"/>
            <a:ext cx="3448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clientes na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618488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1746" y="2185416"/>
            <a:ext cx="344820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spc="-45">
                <a:solidFill>
                  <a:srgbClr val="FFFFFF"/>
                </a:solidFill>
                <a:latin typeface="Arial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1746" y="3191256"/>
            <a:ext cx="3448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ligações por semana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618488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7692" y="2185416"/>
            <a:ext cx="344820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spc="-45">
                <a:solidFill>
                  <a:srgbClr val="FFFFFF"/>
                </a:solidFill>
                <a:latin typeface="Arial"/>
              </a:rPr>
              <a:t>6,7%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7692" y="3191256"/>
            <a:ext cx="3448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da base por semana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38928"/>
            <a:ext cx="10820095" cy="10241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409184"/>
            <a:ext cx="10051999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Cada cliente é abordado, em média, uma vez a cada 15 semanas.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Se o vendedor ligar para os 200 errados, a empresa perde quatro meses.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LIMITE DO QUE A GENTE JÁ 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Tudo que a gente construiu olha para 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QUE A GOLD RESPONDE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4456" y="1508760"/>
            <a:ext cx="5242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QUE O DIRETOR PRECISA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92808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110549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Quem comprou mais no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6" y="2110549"/>
            <a:ext cx="52422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vai comprar semana que vem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9192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896933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Qual marca vendeu melhor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896933"/>
            <a:ext cx="52422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Para quem ligar amanhã de manhã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65576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83317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Quanto faturamos em outubro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6" y="3683317"/>
            <a:ext cx="52422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está prestes a sumir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469701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DESCRIÇÃO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4469701"/>
            <a:ext cx="524225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PRIORIZAÇÃO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CC8FF"/>
                </a:solidFill>
                <a:latin typeface="Arial"/>
              </a:rPr>
              <a:t>Dashboard mostra o passado com precisão. Ninguém liga para o passado.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A MAIORIA DAS EMPRESAS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Três jeitos de escolher os 200 — todos ruins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48202" cy="224028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3794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Os maiores</a:t>
            </a:r>
          </a:p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73020"/>
            <a:ext cx="293613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Eles já compram. Você gasta ligação com quem ia comprar de qualquer jeito.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600200"/>
            <a:ext cx="3448202" cy="224028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83794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Os que sumiram</a:t>
            </a:r>
          </a:p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há mais tempo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573020"/>
            <a:ext cx="293613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Muitos já foram embora. Você gasta ligação em cliente perdido.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600200"/>
            <a:ext cx="3448202" cy="224028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83794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A intuição</a:t>
            </a:r>
          </a:p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do vendedor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573020"/>
            <a:ext cx="293613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Funciona para os 20 que ele lembra. E os outros 2.980?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30368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445759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Todos os três são defensáveis numa reunião.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 todos os três desperdiçam ligação.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VAMOS CONSTRUIR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Ordenar por probabilidade de compra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856780" cy="11704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199386"/>
            <a:ext cx="15641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3.000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580" y="224028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628" y="1828800"/>
            <a:ext cx="1856780" cy="11704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932" y="2199386"/>
            <a:ext cx="15641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modelo de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propensão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3409" y="224028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7457" y="1828800"/>
            <a:ext cx="1856780" cy="11704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3761" y="2199386"/>
            <a:ext cx="15641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score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de 0 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4237" y="224028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8285" y="1828800"/>
            <a:ext cx="1856780" cy="11704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4589" y="2306701"/>
            <a:ext cx="15641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ordena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5066" y="224028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9114" y="1828800"/>
            <a:ext cx="1856780" cy="117043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5418" y="2199386"/>
            <a:ext cx="15641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pega os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200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10820095" cy="1051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833876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Não é classificar quem compra e quem não compra. É ORDENAR.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 vendedor não precisa de um sim ou não — precisa de uma fila.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MÉTRICA QUE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Não é acurácia.</a:t>
            </a:r>
          </a:p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É quantos dos 200 compraram.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993391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ESTRATÉGIA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8856" y="1993391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DOS 200 ABORDADOS, QUANTOS COMPRAM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39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549461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Ligar aleatório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856" y="2549461"/>
            <a:ext cx="4327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20     ·  a taxa base da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3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244405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6B5A"/>
                </a:solidFill>
                <a:latin typeface="Arial"/>
              </a:rPr>
              <a:t>Ligar para quem sumiu há mais tempo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6" y="3244405"/>
            <a:ext cx="4327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0     ·  esses já foram embora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67327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939349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Ligar para os maiores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3939349"/>
            <a:ext cx="4327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44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62271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634293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Ligar para os 200 de maior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4634293"/>
            <a:ext cx="4327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86     ·  4,25× o aleatório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285232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500624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Isso tem nome: LIFT. Quantas vezes melhor que o aleatório.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É o número que você leva para a reunião — não o 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COMO A GENTE VAI CONSTRUIR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Três prompts, três deploys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5768" y="1508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SAI DE CADA 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0728" y="1508760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ONDE ISSO FICA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20"/>
            <a:ext cx="10820095" cy="7772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47570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PROMPT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14757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Consolas"/>
              </a:rPr>
              <a:t>Uma tabela com uma linha por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147570"/>
            <a:ext cx="33192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Consolas"/>
              </a:rPr>
              <a:t>gold.features_cliente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10820095" cy="7772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16250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PROMPT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301625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Consolas"/>
              </a:rPr>
              <a:t>Uma nota de 0 a 1 para cada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3016250"/>
            <a:ext cx="33192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Consolas"/>
              </a:rPr>
              <a:t>gold.score_propensao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80"/>
            <a:ext cx="10820095" cy="7772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884930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PROMPT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88493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B9DF5"/>
                </a:solidFill>
                <a:latin typeface="Consolas"/>
              </a:rPr>
              <a:t>A lista dos 200, com nome e motivo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3884930"/>
            <a:ext cx="33192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B9DF5"/>
                </a:solidFill>
                <a:latin typeface="Consolas"/>
              </a:rPr>
              <a:t>gold.fila_semanal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764532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Cada prompt termina em DEPLOY, e o de baixo é a resposta do diretor.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Não é protótipo que vira produção depois: já nasce no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ONDE ESSE CÓDIGO VAI MORAR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ML é camada, não projeto à parte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Nenhum repositório novo. As três tarefas entram no MESMO job de terça.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20824"/>
            <a:ext cx="10820095" cy="1874519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33447" y="2276856"/>
            <a:ext cx="9372447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raw → bronze → silver ×4 → dimensões → fato → marts → testes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                                          ├→ métricas → auditoria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                                          └→ ml_features → ml_modelo → ml_fila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23944"/>
            <a:ext cx="10820095" cy="585216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4305109"/>
            <a:ext cx="38404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12 → 15 tarefas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0056" y="4305109"/>
            <a:ext cx="615665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job de ontem ganha três. Continua sendo um bundle run só.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37176"/>
            <a:ext cx="10820095" cy="585216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5018341"/>
            <a:ext cx="38404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Os mesmos testes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5018341"/>
            <a:ext cx="615665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Modelo ruim quebra o pipeline, igual a dado nulo.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550408"/>
            <a:ext cx="10820095" cy="585216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5731573"/>
            <a:ext cx="38404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A mesma auditoria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5731573"/>
            <a:ext cx="615665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Faltou COMMENT numa coluna de feature? O job para.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A NOITE 2 DEIXOU PRONTO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 matéria-prima já está na mesa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9621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88575" cy="96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>
                <a:solidFill>
                  <a:srgbClr val="7CC8FF"/>
                </a:solidFill>
                <a:latin typeface="Consolas"/>
              </a:rPr>
              <a:t>SELECT COUNT(*) AS linhas, ROUND(SUM(receita), 2) AS receita</a:t>
            </a:r>
          </a:p>
          <a:p>
            <a:pPr algn="l">
              <a:lnSpc>
                <a:spcPct val="142000"/>
              </a:lnSpc>
            </a:pPr>
            <a:r>
              <a:rPr sz="1400" b="0">
                <a:solidFill>
                  <a:srgbClr val="7CC8FF"/>
                </a:solidFill>
                <a:latin typeface="Consolas"/>
              </a:rPr>
              <a:t>FROM   lakehouse_rotaperfume.gold.fato_vendas;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5227167" cy="13716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62656"/>
            <a:ext cx="45870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20">
                <a:solidFill>
                  <a:srgbClr val="7CC8FF"/>
                </a:solidFill>
                <a:latin typeface="Arial"/>
              </a:rPr>
              <a:t>191.080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linhas no fato, no grão de item de pedido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743200"/>
            <a:ext cx="5227167" cy="13716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962656"/>
            <a:ext cx="45870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spc="-20">
                <a:solidFill>
                  <a:srgbClr val="7CC8FF"/>
                </a:solidFill>
                <a:latin typeface="Arial"/>
              </a:rPr>
              <a:t>R$ 102.303.828,05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584448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de receita, com devolução já descontada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51997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4 dimensões + 1 fato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4551997"/>
            <a:ext cx="5608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cliente, produto, vendedor, calendário — e fato_vendas.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65776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228653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3 marts + 6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696" y="5228653"/>
            <a:ext cx="5608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vendedor, produto, financeiro. E as views que o Genie já lê.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42432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5905309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11 testes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5905309"/>
            <a:ext cx="5608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 interrompem o job quando o número não fecha.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POR QUE ESSA TABELA EXISTE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dado não chegou assim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As dez sujeiras da noite 2, nos números do dataset de vocês.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20824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174557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3.443 pedidos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536" y="2174557"/>
            <a:ext cx="68881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12% das datas vieram em dd/mm/aaaa, o resto em ISO.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79191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832925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40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832925"/>
            <a:ext cx="68881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duplicados: id novo, mesmo CNPJ escrito de outro jeito.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59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491293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1.111 + 223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3491293"/>
            <a:ext cx="68881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CNPJ pontuado e CNPJ com espaço em volta. Três formatos ao todo.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95927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4149661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6B5A"/>
                </a:solidFill>
                <a:latin typeface="Arial"/>
              </a:rPr>
              <a:t>957 pedidos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4149661"/>
            <a:ext cx="68881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cancelados com valor_total = 0 — e o ITEM sem flag nenhuma.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54295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4808029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2.327 itens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4808029"/>
            <a:ext cx="68881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de devolução, gravados como quantidade negativa.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04688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5736335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A bronze guardou tudo isso exatamente como veio.</a:t>
            </a:r>
          </a:p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A silver é onde some — e é por isso que hoje dá para construir feature.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ACONTECE SE NINGUÉM LIMPAR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R$ 3,5 milhões de receita</a:t>
            </a:r>
          </a:p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que nunca existiu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93391"/>
            <a:ext cx="10820095" cy="1584325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21991"/>
            <a:ext cx="10088575" cy="158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-- somando o item cru, como ele veio do ERP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SELECT SUM(valor_bruto) FROM bronze.itens_pedido;   -- 105.890.448,42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-- a gold, com os 957 pedidos cancelados fora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SELECT SUM(receita)     FROM gold.fato_vendas;      -- 102.303.828,05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42231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4314253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A diferença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5816" y="4314253"/>
            <a:ext cx="5790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R$ 3.586.620,37 em itens de pedido que o cliente cancelou.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37175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5009197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6B5A"/>
                </a:solidFill>
                <a:latin typeface="Arial"/>
              </a:rPr>
              <a:t>Por que passa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5816" y="5009197"/>
            <a:ext cx="5790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pedido diz valor_total = 0. O item não diz nada.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532119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5704141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O que quebraria hoje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5704141"/>
            <a:ext cx="5790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'Quanto este cliente gasta' erraria em todo cliente que já cancelou.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ANTES DE QUALQUER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é um modelo, afinal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708213"/>
            <a:ext cx="29260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NÃO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5656" y="1708213"/>
            <a:ext cx="707105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um programa com regras que alguém escreveu. Ninguém digita 'se atraso &gt; 2 então quente'.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58568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458021"/>
            <a:ext cx="29260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6" y="2458021"/>
            <a:ext cx="707105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uma função que recebe colunas e devolve um número entre 0 e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08376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207829"/>
            <a:ext cx="29260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Aprende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6" y="3207829"/>
            <a:ext cx="707105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olhando milhares de clientes do passado em que a resposta JÁ é conhecida.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58184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3957637"/>
            <a:ext cx="292607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Devolve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656" y="3957637"/>
            <a:ext cx="707105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uma nota de propensão. Não uma certeza, não uma causa, não uma promessa.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8912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604511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Ele não descobre POR QUE o cliente compra.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Ele descobre quais combinações de colunas andaram junto com 'comprou'.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QUATRO PALAVRAS QUE VÃO APARECER A NOITE INTEIRA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Feature, rótulo, treino e 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19202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24987" y="1764792"/>
            <a:ext cx="8480907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FEATURES (X)                          RÓTULO (y)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o que se sabia até 31/07              o que aconteceu depois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┌──────────────────────────┐          ┌──────────┐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│ recência  atraso  ticket │   ──→    │ comprou? │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└──────────────────────────┘          └──────────┘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3847909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Treino  ·  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3847909"/>
            <a:ext cx="65224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os clientes que o modelo VÊ. É olhando para eles que ele se ajusta.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8912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579429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Teste  ·  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4579429"/>
            <a:ext cx="65224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os que ele NÃO vê. A única nota honesta que existe.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74920"/>
            <a:ext cx="10820095" cy="8686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283707"/>
            <a:ext cx="100519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Nota tirada no treino é prova com o gabarito na mão.</a:t>
            </a:r>
          </a:p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Todo número que a gente levar para a tela sai do teste.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ESTAMOS ASSUMINDO — E ONDE ISSO QUEBRA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As cinco premissas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662493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 passado se repete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8696" y="1662493"/>
            <a:ext cx="560801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setembro se parece o bastante com agosto. Quebra em mudança de política comercial.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67128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320861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 futuro não entrou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8696" y="2320861"/>
            <a:ext cx="560801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nenhuma coluna sabe o que houve depois do corte. É o vazamento, e é o próximo slide.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25496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979229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Uma linha por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8696" y="2979229"/>
            <a:ext cx="560801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clientes não se influenciam. Quebra se dois forem a mesma rede.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83863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3637597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Treino parecido com o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3637597"/>
            <a:ext cx="560801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eu pontuo se parece com quem eu treinei. Quebra com base nova.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42231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295965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Ordenar, não explicar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8696" y="4295965"/>
            <a:ext cx="560801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'atraso alto anda junto com compra' não é 'atraso alto CAUSA compra'.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C8FF"/>
                </a:solidFill>
                <a:latin typeface="Arial"/>
              </a:rPr>
              <a:t>Premissa não é detalhe teórico: é a lista do que conferir quando o modelo começar a errar.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PROMPT 1 DE 3 · PRIMEIRO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O que descreve</a:t>
            </a:r>
          </a:p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um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8554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A parte que mais vale dinheiro no projeto.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PALAVRA QUE DESCREVE 80%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é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747012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Transformar o dado que existe em colunas que RESPONDEM à pergunta.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 mesma informação, escrita de outro jeito, vale muito diferente.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3448202" cy="21031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89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AGREGAR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99206"/>
            <a:ext cx="293613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Muitas linhas viram uma.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28.729 pedidos → um número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por cliente: quantos, quanto,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quando foi o último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1746" y="2651760"/>
            <a:ext cx="3448202" cy="2103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889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RELATIVIZAR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99206"/>
            <a:ext cx="293613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Comparar o cliente com ele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mesmo.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'20 dias sem comprar' vira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'2,9× o ciclo dele'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7692" y="2651760"/>
            <a:ext cx="3448202" cy="21031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889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SINALIZAR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99206"/>
            <a:ext cx="293613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Evento vira coluna.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'apareceu na lista de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compradores do lançamento'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vira 1 ou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83480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155501"/>
            <a:ext cx="2926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 que NÃO 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5155501"/>
            <a:ext cx="70710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escolher algoritmo, ajustar hiperparâmetro, procurar biblioteca nova.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TUDO SAI DA GOLD DE ONTEM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Nenhuma fonte 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20095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76347" y="2039112"/>
            <a:ext cx="9029547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7CC8FF"/>
                </a:solidFill>
                <a:latin typeface="Consolas"/>
              </a:rPr>
              <a:t>gold.fato_vendas       ─┐</a:t>
            </a:r>
          </a:p>
          <a:p>
            <a:pPr algn="l">
              <a:lnSpc>
                <a:spcPct val="150000"/>
              </a:lnSpc>
            </a:pPr>
            <a:r>
              <a:rPr sz="1900" b="1">
                <a:solidFill>
                  <a:srgbClr val="7CC8FF"/>
                </a:solidFill>
                <a:latin typeface="Consolas"/>
              </a:rPr>
              <a:t>silver.oportunidades   ─┼→   gold.features_cliente</a:t>
            </a:r>
          </a:p>
          <a:p>
            <a:pPr algn="l">
              <a:lnSpc>
                <a:spcPct val="150000"/>
              </a:lnSpc>
            </a:pPr>
            <a:r>
              <a:rPr sz="1900" b="1">
                <a:solidFill>
                  <a:srgbClr val="7CC8FF"/>
                </a:solidFill>
                <a:latin typeface="Consolas"/>
              </a:rPr>
              <a:t>silver.visitas         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949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7CC8FF"/>
                </a:solidFill>
                <a:latin typeface="Arial"/>
              </a:rPr>
              <a:t>Uma linha por cliente. Vinte colunas descrevendo o comportamento dele.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7CC8FF"/>
                </a:solidFill>
                <a:latin typeface="Arial"/>
              </a:rPr>
              <a:t>É isso que o modelo vai ler.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Recência, frequência,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48202" cy="23774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65960"/>
            <a:ext cx="286298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3B9DF5"/>
                </a:solidFill>
                <a:latin typeface="Arial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15768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Faz quanto tempo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que ele comprou?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566160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CC8FF"/>
                </a:solidFill>
                <a:latin typeface="Consolas"/>
              </a:rPr>
              <a:t>recencia_dias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1746" y="1691640"/>
            <a:ext cx="3448202" cy="23774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4354" y="1965960"/>
            <a:ext cx="286298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3B9DF5"/>
                </a:solidFill>
                <a:latin typeface="Arial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4354" y="2715768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Com que frequência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ele compra?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4354" y="3566160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CC8FF"/>
                </a:solidFill>
                <a:latin typeface="Consolas"/>
              </a:rPr>
              <a:t>frequencia_pedidos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7692" y="1691640"/>
            <a:ext cx="3448202" cy="23774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0300" y="1965960"/>
            <a:ext cx="286298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3B9DF5"/>
                </a:solidFill>
                <a:latin typeface="Arial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300" y="2715768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Quanto ele gasta?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0300" y="3566160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CC8FF"/>
                </a:solidFill>
                <a:latin typeface="Consolas"/>
              </a:rPr>
              <a:t>valor_total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68112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685536"/>
            <a:ext cx="100519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Três colunas. Se você só tiver isso, já é melhor que a intuição.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PROBLEMA DO BÁSICO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Dois clientes, a mesma recência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27167" cy="221284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2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spc="-20">
                <a:solidFill>
                  <a:srgbClr val="FFFFFF"/>
                </a:solidFill>
                <a:latin typeface="Arial"/>
              </a:rPr>
              <a:t>Perfumaria Aurora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04872"/>
            <a:ext cx="44956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9BAAC0"/>
                </a:solidFill>
                <a:latin typeface="Arial"/>
              </a:rPr>
              <a:t>Comprou há 20 dias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9BAAC0"/>
                </a:solidFill>
                <a:latin typeface="Arial"/>
              </a:rPr>
              <a:t>Compra a cada 7 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81528"/>
            <a:ext cx="44956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spc="-15">
                <a:solidFill>
                  <a:srgbClr val="FF6B5A"/>
                </a:solidFill>
                <a:latin typeface="Arial"/>
              </a:rPr>
              <a:t>Quase 3x atrasado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47288"/>
            <a:ext cx="44956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Liga hoje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227167" cy="221284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4487" y="1856232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spc="-20">
                <a:solidFill>
                  <a:srgbClr val="FFFFFF"/>
                </a:solidFill>
                <a:latin typeface="Arial"/>
              </a:rPr>
              <a:t>Boutique Essenza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04872"/>
            <a:ext cx="44956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9BAAC0"/>
                </a:solidFill>
                <a:latin typeface="Arial"/>
              </a:rPr>
              <a:t>Comprou há 20 dias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9BAAC0"/>
                </a:solidFill>
                <a:latin typeface="Arial"/>
              </a:rPr>
              <a:t>Compra a cada 90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3081528"/>
            <a:ext cx="44956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spc="-15">
                <a:solidFill>
                  <a:srgbClr val="3B9DF5"/>
                </a:solidFill>
                <a:latin typeface="Arial"/>
              </a:rPr>
              <a:t>Está no ritmo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3447288"/>
            <a:ext cx="44956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Não incomoda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93792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432044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Mesma recência. Situações opostas.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Ordenar por recência coloca os dois na mesma posição da fila.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A TABELA DE FEATURES TEM DENTRO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Uma linha por cliente. Só isso.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Três clientes reais da base, com as colunas que o modelo vai 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208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20208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COMPROU HÁ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7608" y="20208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COMPRA A 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0208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ATRASO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5128" y="2020824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PEDIDOS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5288" y="2020824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86584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544445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Casa de Fragrâncias Sublime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44445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10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544445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50 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2544445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0,2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2544445"/>
            <a:ext cx="10058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5288" y="2544445"/>
            <a:ext cx="11247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R$ 38 mil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08376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166237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Bella Diva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166237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29 dias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3166237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30 dias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3166237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0,95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3166237"/>
            <a:ext cx="10058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288" y="3166237"/>
            <a:ext cx="11247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R$ 52 mil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30168"/>
            <a:ext cx="10820095" cy="53035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788028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Comercial Lumiar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788028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545 dias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7608" y="3788028"/>
            <a:ext cx="1554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43 dias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788028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10,0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3788028"/>
            <a:ext cx="10058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3788028"/>
            <a:ext cx="11247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R$ 61 mil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306824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4522215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São 20 colunas assim. Nenhuma delas é opinião —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todas saem de somar e dividir o que já aconteceu.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CONHECIMENTO DE NEGÓCIO VIRANDO COLUNA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Atraso relativo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7CC8FF"/>
                </a:solidFill>
                <a:latin typeface="Consolas"/>
              </a:rPr>
              <a:t>atraso_relativo  =  recencia_dias / intervalo_medio_dias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06040"/>
            <a:ext cx="3448202" cy="15727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437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Consolas"/>
              </a:rPr>
              <a:t>~1,0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392932"/>
            <a:ext cx="293613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Está no ritmo dele</a:t>
            </a:r>
          </a:p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ROTINA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1746" y="2606040"/>
            <a:ext cx="3448202" cy="15727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8437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Consolas"/>
              </a:rPr>
              <a:t>2,0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392932"/>
            <a:ext cx="293613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Duas vezes atrasado</a:t>
            </a:r>
          </a:p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ATENÇÃO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7692" y="2606040"/>
            <a:ext cx="3448202" cy="15727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8437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6B5A"/>
                </a:solidFill>
                <a:latin typeface="Consolas"/>
              </a:rPr>
              <a:t>&gt; 3,0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392932"/>
            <a:ext cx="293613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Provavelmente foi pro concorrente</a:t>
            </a:r>
          </a:p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URGENTE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0468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7CC8FF"/>
                </a:solidFill>
                <a:latin typeface="Arial"/>
              </a:rPr>
              <a:t>Não vem de biblioteca nenhuma. Vem de entender como a empresa vende.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7CC8FF"/>
                </a:solidFill>
                <a:latin typeface="Arial"/>
              </a:rPr>
              <a:t>É essa feature que vai ordenar a fila dos 200.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O CLAUDE CODE VAI CONSTRUIR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Quatro grupos, uma tabela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26715" cy="15727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46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RFM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56206"/>
            <a:ext cx="2014651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recência, frequência, valor total, ticket médio, margem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0259" y="1508760"/>
            <a:ext cx="2526715" cy="15727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6291" y="1746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Ritmo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6291" y="2156206"/>
            <a:ext cx="2014651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intervalo médio, desvio do intervalo, atraso relativo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4719" y="1508760"/>
            <a:ext cx="2526715" cy="15727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1746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156206"/>
            <a:ext cx="2014651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oportunidades, taxa de ganho, visitas, conversão de visita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179" y="1508760"/>
            <a:ext cx="2526715" cy="15727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211" y="1746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211" y="2156206"/>
            <a:ext cx="2014651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SKUs, categorias, concentração em marca, comprou lançamento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19272"/>
            <a:ext cx="10820095" cy="13589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10088575" cy="135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SELECT razao_social, recencia_dias, intervalo_medio_dias,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       ROUND(atraso_relativo, 1) AS atraso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FROM   lakehouse_rotaperfume.gold.features_cliente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ORDER  BY atraso_relativo DESC LIMIT 10;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PROMPT 2 DE 3 · SEGUNDO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O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014215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E o erro que mata projeto em produção.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COMO SE SABE SE O MODELO É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Esconda parte dos clientes.</a:t>
            </a:r>
          </a:p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Depois confira.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93391"/>
            <a:ext cx="10820095" cy="21031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77337" y="2249424"/>
            <a:ext cx="872855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2.815 clientes que já compraram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│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├──  2.111  TREINO   o modelo vê. É olhando para eles que aprende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│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└──    704  TESTE    o modelo NÃO vê. Guardados no cofre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25112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4515421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Por que esconder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4515421"/>
            <a:ext cx="65224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Nota tirada no treino é prova com o gabarito na mão.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056631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5246941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O que se mede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5246941"/>
            <a:ext cx="65224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Dos 704 escondidos, o modelo acertou quem ia comprar?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88152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996431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Todo número que a gente levar para a tela hoje sai dos 704.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ESPECIFICAÇÃO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Antes de codar, escreva 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129844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37944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spc="-18">
                <a:solidFill>
                  <a:srgbClr val="FFFFFF"/>
                </a:solidFill>
                <a:latin typeface="Arial"/>
              </a:rPr>
              <a:t>Dado o comportamento de um cliente até hoje, qual a probabilidade</a:t>
            </a:r>
          </a:p>
          <a:p>
            <a:pPr algn="l">
              <a:lnSpc>
                <a:spcPct val="130000"/>
              </a:lnSpc>
            </a:pPr>
            <a:r>
              <a:rPr sz="2100" b="1" spc="-18">
                <a:solidFill>
                  <a:srgbClr val="FFFFFF"/>
                </a:solidFill>
                <a:latin typeface="Arial"/>
              </a:rPr>
              <a:t>de ele fazer um pedido nos próximos 7 dias?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81528"/>
            <a:ext cx="2526715" cy="14173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319272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Unidade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713480"/>
            <a:ext cx="201465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Um cliente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0259" y="3081528"/>
            <a:ext cx="2526715" cy="14173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6291" y="3319272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Janela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6291" y="3713480"/>
            <a:ext cx="201465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7 dias — a semana da ligação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3081528"/>
            <a:ext cx="2526715" cy="14173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3319272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Rótulo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3713480"/>
            <a:ext cx="201465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Comprou (1) ou não (0)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179" y="3081528"/>
            <a:ext cx="2526715" cy="14173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211" y="3319272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B9DF5"/>
                </a:solidFill>
                <a:latin typeface="Arial"/>
              </a:rPr>
              <a:t>Uso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211" y="3713480"/>
            <a:ext cx="201465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Ordenar a fila dos 200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PARTE QUE TODO MUNDO ACHA QUE É 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algoritmo tem três linhas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126873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88575" cy="1268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>
                <a:solidFill>
                  <a:srgbClr val="7CC8FF"/>
                </a:solidFill>
                <a:latin typeface="Consolas"/>
              </a:rPr>
              <a:t>modelo = HistGradientBoostingClassifier(random_state=42)</a:t>
            </a:r>
          </a:p>
          <a:p>
            <a:pPr algn="l">
              <a:lnSpc>
                <a:spcPct val="142000"/>
              </a:lnSpc>
            </a:pPr>
            <a:r>
              <a:rPr sz="1500" b="0">
                <a:solidFill>
                  <a:srgbClr val="7CC8FF"/>
                </a:solidFill>
                <a:latin typeface="Consolas"/>
              </a:rPr>
              <a:t>modelo.fit(X_treino, y_treino)</a:t>
            </a:r>
          </a:p>
          <a:p>
            <a:pPr algn="l">
              <a:lnSpc>
                <a:spcPct val="142000"/>
              </a:lnSpc>
            </a:pPr>
            <a:r>
              <a:rPr sz="1500" b="0">
                <a:solidFill>
                  <a:srgbClr val="7CC8FF"/>
                </a:solidFill>
                <a:latin typeface="Consolas"/>
              </a:rPr>
              <a:t>score  = modelo.predict_proba(X_cliente)[:, 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3088957"/>
            <a:ext cx="4937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Por que árvore, e não regressão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7336" y="3088957"/>
            <a:ext cx="50593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Ela acha sozinha que atraso perto de 1,5 é ouro e acima de 3 é cliente perdido.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48456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857053"/>
            <a:ext cx="4937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predict_proba, nunca 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3857053"/>
            <a:ext cx="50593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predict devolve 0 ou 1. A fila precisa de nota, não de sim ou não.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16552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625149"/>
            <a:ext cx="4937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random_state=42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4625149"/>
            <a:ext cx="50593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Sem semente fixa, dois treinos dão listas diferentes. E aí ninguém confia.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7492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5290311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Estas três linhas são iguais em qualquer empresa do mundo.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 que muda é o X — e o X foi o prompt 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DOIS CLIENTES REAIS, DOIS EXTREMOS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Quem comprou ontem</a:t>
            </a:r>
          </a:p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não compra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993391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1993391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COMPROU HÁ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2007" y="199339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COMPRA A 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9448" y="1993391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NOTA DO MODELO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59151"/>
            <a:ext cx="10820095" cy="7132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91942"/>
            <a:ext cx="3566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Bella Diva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591942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BAAC0"/>
                </a:solidFill>
                <a:latin typeface="Consolas"/>
              </a:rPr>
              <a:t>29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7" y="2591942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BAAC0"/>
                </a:solidFill>
                <a:latin typeface="Consolas"/>
              </a:rPr>
              <a:t>30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2591942"/>
            <a:ext cx="213055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BAAC0"/>
                </a:solidFill>
                <a:latin typeface="Consolas"/>
              </a:rPr>
              <a:t>0,97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63823"/>
            <a:ext cx="10820095" cy="7132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396614"/>
            <a:ext cx="3566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Comercial Sublime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396614"/>
            <a:ext cx="1920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BAAC0"/>
                </a:solidFill>
                <a:latin typeface="Consolas"/>
              </a:rPr>
              <a:t>1 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3396614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BAAC0"/>
                </a:solidFill>
                <a:latin typeface="Consolas"/>
              </a:rPr>
              <a:t>51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3396614"/>
            <a:ext cx="213055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BAAC0"/>
                </a:solidFill>
                <a:latin typeface="Consolas"/>
              </a:rPr>
              <a:t>0,00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05072"/>
            <a:ext cx="10820095" cy="10058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249927"/>
            <a:ext cx="10051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 que comprou ONTEM vale zero. O que está há um mês, no ritmo dele,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vale 0,97. É por isso que "ligue para quem sumiu" não funciona.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9379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7CC8FF"/>
                </a:solidFill>
                <a:latin typeface="Arial"/>
              </a:rPr>
              <a:t>Distribuição funciona por ciclo de reposição: o varejista acabou de receber a mercadoria — ele não compra de novo agora.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PALAVRA QUE VAI APARECER A NOITE INTEIRA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é 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120700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01368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Sorteie dois clientes: um que comprou e um que não.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Com que frequência o modelo dá a nota maior para quem comprou?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09544"/>
            <a:ext cx="19780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spc="-25">
                <a:solidFill>
                  <a:srgbClr val="FF6B5A"/>
                </a:solidFill>
                <a:latin typeface="Arial"/>
              </a:rPr>
              <a:t>0,35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13048"/>
            <a:ext cx="19780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quem sumiu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78808"/>
            <a:ext cx="19780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a fila está INVERTIDA: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seguir o contrário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seria melhor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0259" y="2971800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4579" y="3209544"/>
            <a:ext cx="19780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spc="-25">
                <a:solidFill>
                  <a:srgbClr val="FFFFFF"/>
                </a:solidFill>
                <a:latin typeface="Arial"/>
              </a:rPr>
              <a:t>0,50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579" y="3813048"/>
            <a:ext cx="19780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 moeda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579" y="4178808"/>
            <a:ext cx="19780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acerta a ordem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metade das vezes.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não sabe nada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9" y="2971800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9039" y="3209544"/>
            <a:ext cx="19780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spc="-25">
                <a:solidFill>
                  <a:srgbClr val="FFFFFF"/>
                </a:solidFill>
                <a:latin typeface="Arial"/>
              </a:rPr>
              <a:t>0,64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3813048"/>
            <a:ext cx="19780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os maiores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4178808"/>
            <a:ext cx="19780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acerta 64 de cada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100 pares. melhor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que nada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179" y="2971800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499" y="3209544"/>
            <a:ext cx="19780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spc="-25">
                <a:solidFill>
                  <a:srgbClr val="3B9DF5"/>
                </a:solidFill>
                <a:latin typeface="Arial"/>
              </a:rPr>
              <a:t>0,88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499" y="3813048"/>
            <a:ext cx="19780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o 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499" y="4178808"/>
            <a:ext cx="19780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quem comprou vem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na frente em 88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de cada 100 pares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9496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610352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AUC compara FILAS. Lift conta LIGAÇÕES.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 primeira é para você conferir; a segunda é para a reunião.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ERRO QUE MAIS MATA MODELO NA VIDA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Prever a semana que vem</a:t>
            </a:r>
          </a:p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com informação da semana que vem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93391"/>
            <a:ext cx="10820095" cy="11704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76397" y="2249424"/>
            <a:ext cx="8629497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|---- features até 31/07 ----|CORTE|---- comprou até 07/08? ----|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                              01/08/2026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64991"/>
            <a:ext cx="5291175" cy="14813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602735"/>
            <a:ext cx="47791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6B5A"/>
                </a:solidFill>
                <a:latin typeface="Arial"/>
              </a:rPr>
              <a:t>Errado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027931"/>
            <a:ext cx="477911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Features com todo o histórico</a:t>
            </a:r>
          </a:p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AUC 0,98 — e quebra em produção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719" y="3364991"/>
            <a:ext cx="5291175" cy="14813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3602735"/>
            <a:ext cx="47791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B9DF5"/>
                </a:solidFill>
                <a:latin typeface="Arial"/>
              </a:rPr>
              <a:t>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4027931"/>
            <a:ext cx="477911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Features cortadas em 31/07</a:t>
            </a:r>
          </a:p>
          <a:p>
            <a:pPr algn="l">
              <a:lnSpc>
                <a:spcPct val="128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AUC menor — e funciona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102352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319776"/>
            <a:ext cx="100519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AUC alto demais é sinal de vazamento, não de competência.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POR QUE O MODELO ENTRA NOS MESMOS TESTES DE ONTEM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Um dado errado quebra.</a:t>
            </a:r>
          </a:p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Um modelo ruim funciona.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93391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192845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Dado nulo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0056" y="2192845"/>
            <a:ext cx="615665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Explode, fica vermelho, alguém é avisado no mesmo 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942653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Modelo ruim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0056" y="2942653"/>
            <a:ext cx="615665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Devolve nota para todo mundo, na faixa certa, sem erro nenhum.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93008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692461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6B5A"/>
                </a:solidFill>
                <a:latin typeface="Arial"/>
              </a:rPr>
              <a:t>O 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3692461"/>
            <a:ext cx="615665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Pipeline verde, dashboard atualizado, e a lista errada por seis meses.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79392"/>
            <a:ext cx="10820095" cy="1133475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07992"/>
            <a:ext cx="10088575" cy="1133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assert auc &gt; melhor_baseline + 0.05, "o modelo não ganha da regra simples"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assert auc &lt; 0.99,                   "bom demais é vazamento"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assert lift_top200 &gt;= 2.5,           "a fila não se paga"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6188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CC8FF"/>
                </a:solidFill>
                <a:latin typeface="Arial"/>
              </a:rPr>
              <a:t>O teste que quase ninguém escreve é o primeiro: o modelo ganha do que a gente já fazia de graça?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AINDA NO PROMPT 2 · TERCEIRO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MLflow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014215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Por que não basta salvar um .pkl numa pasta.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ANTES DO PORQUÊ, O 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é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747012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Uma biblioteca aberta — criada pela Databricks — que registra tudo o que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acontece num treino, e um servidor que guarda isso para sempre.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2526715" cy="19659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89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99206"/>
            <a:ext cx="201465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O diário.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Cada treino vira um run,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com o que entrou e o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que saiu.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0259" y="2651760"/>
            <a:ext cx="2526715" cy="19659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6291" y="2889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6291" y="3299206"/>
            <a:ext cx="201465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O formato do pacote.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O modelo + o ambiente +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o schema de entrada,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num diretório só.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2651760"/>
            <a:ext cx="2526715" cy="19659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2889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3299206"/>
            <a:ext cx="201465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O versionamento.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v1, v2, v3 e os apelidos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@prod e @challenger.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179" y="2651760"/>
            <a:ext cx="2526715" cy="19659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211" y="2889504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211" y="3299206"/>
            <a:ext cx="201465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A comparação.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Dois modelos lado a lado,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na mesma tela, com as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mesmas métricas.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18888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990909"/>
            <a:ext cx="2926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No Databricks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5656" y="4990909"/>
            <a:ext cx="70710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já vem instalado, e o Registry É o Unity Catalog — o mesmo do dado.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QUANDO VOCÊ NÃO ESTIVER MAIS NO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“Esse modelo ainda está bom?”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5087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PERGUNTA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5976" y="1508760"/>
            <a:ext cx="4510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SEM MLFLOW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9280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083117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Qual versão está em produção?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083117"/>
            <a:ext cx="45107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Ninguém sabe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2432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814637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Com que dado foi treinada?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814637"/>
            <a:ext cx="45107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Perdido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5584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546157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Está melhor ou pior que a anterior?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3546157"/>
            <a:ext cx="45107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Impossível comparar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8736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277677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Quem treinou e quando?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277677"/>
            <a:ext cx="45107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cara saiu da empresa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86400"/>
            <a:ext cx="10820095" cy="93268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710935"/>
            <a:ext cx="1005199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 MLflow não faz a empresa vender mais. O MODELO faz.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 MLflow garante que ele continue existindo depois que você sair.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TRÊS COISAS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o MLflow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48202" cy="129844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46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56206"/>
            <a:ext cx="293613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Registra cada treino: parâmetros, métricas, artefatos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508760"/>
            <a:ext cx="3448202" cy="129844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746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Model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156206"/>
            <a:ext cx="293613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Versiona e controla o estágio: staging, produção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508760"/>
            <a:ext cx="3448202" cy="129844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746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Comparação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156206"/>
            <a:ext cx="293613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Dois modelos lado a lado, na mesma tela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26664"/>
            <a:ext cx="10820095" cy="175564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55264"/>
            <a:ext cx="10088575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7CC8FF"/>
                </a:solidFill>
                <a:latin typeface="Consolas"/>
              </a:rPr>
              <a:t>with mlflow.start_run(run_name="propensao_v1"):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7CC8FF"/>
                </a:solidFill>
                <a:latin typeface="Consolas"/>
              </a:rPr>
              <a:t>    mlflow.log_params(params)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7CC8FF"/>
                </a:solidFill>
                <a:latin typeface="Consolas"/>
              </a:rPr>
              <a:t>    mlflow.log_metric("auc", auc)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7CC8FF"/>
                </a:solidFill>
                <a:latin typeface="Consolas"/>
              </a:rPr>
              <a:t>    mlflow.log_metric("lift_top200", lift)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7CC8FF"/>
                </a:solidFill>
                <a:latin typeface="Consolas"/>
              </a:rPr>
              <a:t>    mlflow.sklearn.log_model(modelo, "modelo",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7CC8FF"/>
                </a:solidFill>
                <a:latin typeface="Consolas"/>
              </a:rPr>
              <a:t>        registered_model_name="propensao_compra")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5332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CC8FF"/>
                </a:solidFill>
                <a:latin typeface="Arial"/>
              </a:rPr>
              <a:t>Repare no lift_top200. Essa é a métrica que responde a pergunta do diretor — e é ela que a gente versiona.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POR QUE ISSO IMPORTA NESTE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Três motivos concretos,</a:t>
            </a:r>
          </a:p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não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93391"/>
            <a:ext cx="10820095" cy="7132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238565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 job retreina sozinho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5816" y="2238565"/>
            <a:ext cx="57908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Toda semana nasce um modelo novo. Sem registry, ninguém sabe qual gerou a fila de hoje.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39"/>
            <a:ext cx="10820095" cy="71323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3079813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A fila guarda a versão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85816" y="3079813"/>
            <a:ext cx="57908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score_propensao grava o número da versão. Dá para auditar a lista de três semanas atrás.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75887"/>
            <a:ext cx="10820095" cy="71323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921061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Rollback é uma linha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5816" y="3921061"/>
            <a:ext cx="57908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set_registered_model_alias(modelo, 'prod', 1). Nenhum deploy, nenhum código alterado.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45152"/>
            <a:ext cx="10820095" cy="92608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73752"/>
            <a:ext cx="10088575" cy="926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# quem consome nunca precisa saber o número da versão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mlflow.sklearn.load_model("models:/...propensao_compra@prod")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3504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CC8FF"/>
                </a:solidFill>
                <a:latin typeface="Arial"/>
              </a:rPr>
              <a:t>Sem isso, "o modelo está pior esse mês" é uma conversa sem prova de nenhum dos dois lados.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PROMPT 3 DE 3 · QUARTO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Os 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014215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Do score à ligação.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ONDE OS PROJETOS DE ML MORREM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último metro é o mais difícil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416987" cy="9601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018665"/>
            <a:ext cx="21243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787" y="1952244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835" y="1645920"/>
            <a:ext cx="2416987" cy="9601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3139" y="2018665"/>
            <a:ext cx="21243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3823" y="1952244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7871" y="1645920"/>
            <a:ext cx="2416987" cy="9601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4175" y="1911350"/>
            <a:ext cx="21243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Score na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tabela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4859" y="1952244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6B5A"/>
                </a:solidFill>
                <a:latin typeface="Arial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8907" y="1645920"/>
            <a:ext cx="2416987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211" y="1911350"/>
            <a:ext cx="21243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Alguém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ligar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10820095" cy="16002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200400"/>
            <a:ext cx="99056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“Já vi empresa com modelo excelente rodando há dois anos, AUC de 0,89,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e o vendedor continuando a ligar pela intuição. Porque o score estava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numa tabela que ele nunca abriu.”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7CC8FF"/>
                </a:solidFill>
                <a:latin typeface="Arial"/>
              </a:rPr>
              <a:t>O último metro é o mais difícil. E é o que o agente resolve.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O PIPELINE ENTREGOU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 lista de segunda-feira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Três linhas da fila_semanal, exatamente como saíram da tabela.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20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4487" y="2020824"/>
            <a:ext cx="822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NOTA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020824"/>
            <a:ext cx="6428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POR QUE ESTÁ NA LISTA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86584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85148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Essência Nova 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2585148"/>
            <a:ext cx="8229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0,90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585148"/>
            <a:ext cx="64282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Comprou lançamento recente. Alta chance de repetir.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8152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80092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Perfumaria Aurora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7" y="3280092"/>
            <a:ext cx="8229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0,88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3280092"/>
            <a:ext cx="64282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4 pedidos nos últimos 90 dias. Ciclo curto — não esfrie.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76472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75036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Bella Vita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7" y="3975036"/>
            <a:ext cx="8229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0,87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3975036"/>
            <a:ext cx="64282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Mais da metade das visitas viram pedido (67%). Vale a ida.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89704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705096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 vendedor não recebe um número. Recebe um nome, uma ordem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 uma frase que ele entende antes de discar.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PERGUNTA QUE TODO MUNDO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E onde eu vejo esses 200?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46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B9DF5"/>
                </a:solidFill>
                <a:latin typeface="Arial"/>
              </a:rPr>
              <a:t>1 · No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7170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A aba 'Fila da semana'.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O vendedor escolhe o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nome dele no filtro e vê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a lista em ordem.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É a tela dele.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508760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746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2 · Numa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17170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SELECT * FROM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fila_semanal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WHERE vendedor = '...'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É uma tabela como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qualquer outra.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508760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74650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3 · Perguntando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17170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'Quem eu ligo essa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semana?'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O Genie responde em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português — e mostra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o SQL que gerou.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261612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As três leem a MESMA tabela. Nenhuma delas tem número inventado: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 que muda é só a porta de entrada.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ÚLTIMA CAMADA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Ele não inventa. Ele consulta.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508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FERRAMENTA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8696" y="1508760"/>
            <a:ext cx="5608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QUE FAZ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92808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092261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priorizar_carteira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8696" y="2092261"/>
            <a:ext cx="56080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Cruza carteira + score + features e ordena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42616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842069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contexto_cliente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8696" y="2842069"/>
            <a:ext cx="56080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Histórico, ticket médio, marcas preferidas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92424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591877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sugerir_produtos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3591877"/>
            <a:ext cx="56080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que ele compra e parou de comprar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2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341685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checar_disponibilidade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696" y="4341685"/>
            <a:ext cx="56080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Estoque real, com flag de ruptura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04688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720079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Regra do sistema: use sempre as ferramentas, nunca invente número.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Agente sem dado organizado por trás é chute com sotaque.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O VENDEDOR ABRE NA SEGUNDA DE MANHÃ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 resposta para o diretor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37033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66A85"/>
                </a:solidFill>
                <a:latin typeface="Arial"/>
              </a:rPr>
              <a:t>Vendedor: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783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FFFFF"/>
                </a:solidFill>
                <a:latin typeface="Arial"/>
              </a:rPr>
              <a:t>Quem eu ligo essa semana?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219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Arial"/>
              </a:rPr>
              <a:t>Agente: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219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FFFFF"/>
                </a:solidFill>
                <a:latin typeface="Arial"/>
              </a:rPr>
              <a:t>Seus 6 desta semana, em ordem: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79192"/>
            <a:ext cx="9539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C8FF"/>
                </a:solidFill>
                <a:latin typeface="Arial"/>
              </a:rPr>
              <a:t>1. Perfumaria Aurora — score 0,91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95399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BAAC0"/>
                </a:solidFill>
                <a:latin typeface="Arial"/>
              </a:rPr>
              <a:t>Comprava a cada 8 dias, está há 26 sem pedido. Risco de perder.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BAAC0"/>
                </a:solidFill>
                <a:latin typeface="Arial"/>
              </a:rPr>
              <a:t>Ofereça: Layali Oud EDP — em estoque.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48456"/>
            <a:ext cx="9539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C8FF"/>
                </a:solidFill>
                <a:latin typeface="Arial"/>
              </a:rPr>
              <a:t>2. Drogaria Bella Vita — score 0,87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22776"/>
            <a:ext cx="95399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BAAC0"/>
                </a:solidFill>
                <a:latin typeface="Arial"/>
              </a:rPr>
              <a:t>Comprou o lançamento no mês passado. Alta chance de repetir.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539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C8FF"/>
                </a:solidFill>
                <a:latin typeface="Arial"/>
              </a:rPr>
              <a:t>3. Boutique Essenza — score 0,84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54296"/>
            <a:ext cx="95399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BAAC0"/>
                </a:solidFill>
                <a:latin typeface="Arial"/>
              </a:rPr>
              <a:t>R$ 62 mil no ano. Cliente grande, manter próximo.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7CC8FF"/>
                </a:solidFill>
                <a:latin typeface="Arial"/>
              </a:rPr>
              <a:t>Os 200 de maior score da base inteira — e a fatia de cada vendedor varia de 2 a 10.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LISTA NÃO REPETE A MESMA DESCULPA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Seis motivos, 200 contatos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MOTIVO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8807" y="1508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CONTATOS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3288" y="1508760"/>
            <a:ext cx="5696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O VENDEDOR FAZ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20"/>
            <a:ext cx="10820095" cy="4572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99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Comprou lançamento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807" y="199993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999932"/>
            <a:ext cx="5696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Oferece o resto da linha nova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23160"/>
            <a:ext cx="10820095" cy="4572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54857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Ciclo curto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254857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2548572"/>
            <a:ext cx="5696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Mantém a cadência, não deixa esfriar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71800"/>
            <a:ext cx="10820095" cy="4572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0972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Visita converte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7" y="309721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097212"/>
            <a:ext cx="5696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Marca visita em vez de ligar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10820095" cy="4572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6458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Cliente grande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7" y="364585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3645852"/>
            <a:ext cx="5696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Relacionamento, não empurra produto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69080"/>
            <a:ext cx="10820095" cy="4572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1944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Manutenção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7" y="41944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4194492"/>
            <a:ext cx="5696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BAAC0"/>
                </a:solidFill>
                <a:latin typeface="Consolas"/>
              </a:rPr>
              <a:t>Contato rápido de rotina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617720"/>
            <a:ext cx="10820095" cy="4572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7431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Atrasado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7" y="474313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6B5A"/>
                </a:solidFill>
                <a:latin typeface="Consola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4743132"/>
            <a:ext cx="5696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6B5A"/>
                </a:solidFill>
                <a:latin typeface="Consolas"/>
              </a:rPr>
              <a:t>Liga hoje — risco de perder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CC8FF"/>
                </a:solidFill>
                <a:latin typeface="Arial"/>
              </a:rPr>
              <a:t>Se os 200 saíssem com o mesmo motivo, a lista viraria enfeite. A ordem das regras é que garante isso.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RESPOSTA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Quais 200?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5736" y="1508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016" y="1508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DEPOIS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20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02082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Critério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6" y="202082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Intuição do vendedor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9016" y="202082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Score de propensão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32888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67919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Cobertura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6791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Os 20 que ele lembra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6791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Os 3.000 avaliados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91256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3375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Ordem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33375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Aleatória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33375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Por probabilidade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49624"/>
            <a:ext cx="10820095" cy="768096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995928"/>
            <a:ext cx="36576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Contexto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3995928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“Faz tempo que não falo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com ele”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3995928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Atraso relativo, histórico,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sugestão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727448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87375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Resultado medido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5736" y="487375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20 vendas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487375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86 vendas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742432"/>
            <a:ext cx="10820095" cy="62179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5941568"/>
            <a:ext cx="1005199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Mesmo time. Mesmas 200 ligações. Mais de quatro vezes o resultado.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DE ONDE A GENTE VEIO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arco de três noites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32461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66947" y="1810512"/>
            <a:ext cx="8038947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CSV sujo numa pasta                    segunda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↓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Bronze · Silver · Gold                   terça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↓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Features · Modelo · MLflow              quarta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↓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"Ligue para esses 200"                  quarta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79008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-15">
                <a:solidFill>
                  <a:srgbClr val="7CC8FF"/>
                </a:solidFill>
                <a:latin typeface="Arial"/>
              </a:rPr>
              <a:t>E vocês construíram junto. Não assistiram.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9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2331720"/>
            <a:ext cx="981151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Dashboard descreve o passado.</a:t>
            </a:r>
          </a:p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Modelo prevê o futuro.</a:t>
            </a:r>
          </a:p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Agente diz o que fazer na segunda de manhã.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