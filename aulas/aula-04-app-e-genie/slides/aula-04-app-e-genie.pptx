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Abra com a URL do app FECHADA. A sala precisa sentir a falta antes de ver a solução.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R$ 105.890.448,42 no item cru contra R$ 102.303.828,05 na gold.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segunda linha é o momento da noite 3: a intuição comercial não estava imprecisa, estava invertida.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Rode esta query no fecho da noite — está no QUERIES.md.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as duas audiências moram no mesmo space, as instruções brigam: o que serve para o vendedor vira ruído para o diretor.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service principal muda a cada app criado. Leia com `databricks apps get`, nunca copie de outro ambiente.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 o melhor momento da noite. Não corra: faça os quatro passos devagar, com a sala olhando a tela.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9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0574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200">
                <a:solidFill>
                  <a:srgbClr val="3B9DF5"/>
                </a:solidFill>
                <a:latin typeface="Arial"/>
              </a:rPr>
              <a:t>IMERSÃO AO VIVO · NOITE 4 DE 4 · 27/08 · 19H30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395728"/>
            <a:ext cx="103327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7800" b="1" spc="-60">
                <a:solidFill>
                  <a:srgbClr val="FFFFFF"/>
                </a:solidFill>
                <a:latin typeface="Arial"/>
              </a:rPr>
              <a:t>E quem não</a:t>
            </a:r>
          </a:p>
          <a:p>
            <a:pPr algn="l">
              <a:lnSpc>
                <a:spcPct val="92000"/>
              </a:lnSpc>
            </a:pPr>
            <a:r>
              <a:rPr sz="7800" b="1" spc="-60">
                <a:solidFill>
                  <a:srgbClr val="FFFFFF"/>
                </a:solidFill>
                <a:latin typeface="Arial"/>
              </a:rPr>
              <a:t>escreve SQL?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4709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15">
                <a:solidFill>
                  <a:srgbClr val="7CC8FF"/>
                </a:solidFill>
                <a:latin typeface="Arial"/>
              </a:rPr>
              <a:t>Apps, agentes e o caminho de volta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9893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66A85"/>
                </a:solidFill>
                <a:latin typeface="Arial"/>
              </a:rPr>
              <a:t>Rota do Perfume · Databricks Apps + Genie + Claude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ONTEM À NOITE, DEPOIS DA AULA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O diretor ligou de novo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20095" cy="320040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74520"/>
            <a:ext cx="98142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“A lista ficou ótima. Os 200 nomes, com o motivo escrito. Perfeito.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468880"/>
            <a:ext cx="98142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>
                <a:solidFill>
                  <a:srgbClr val="9BAAC0"/>
                </a:solidFill>
                <a:latin typeface="Arial"/>
              </a:rPr>
              <a:t>Só que ela está numa tela que só você abre. Eu pedi para o meu</a:t>
            </a:r>
          </a:p>
          <a:p>
            <a:pPr algn="l">
              <a:lnSpc>
                <a:spcPct val="132000"/>
              </a:lnSpc>
            </a:pPr>
            <a:r>
              <a:rPr sz="1600" b="0">
                <a:solidFill>
                  <a:srgbClr val="9BAAC0"/>
                </a:solidFill>
                <a:latin typeface="Arial"/>
              </a:rPr>
              <a:t>gerente ver e ele me mandou um print. Print, Luciano.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794760"/>
            <a:ext cx="98142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spc="-20">
                <a:solidFill>
                  <a:srgbClr val="7CC8FF"/>
                </a:solidFill>
                <a:latin typeface="Arial"/>
              </a:rPr>
              <a:t>Me manda um link. E eu quero marcar quem já foi contatado.”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577840"/>
            <a:ext cx="10820095" cy="566928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5749543"/>
            <a:ext cx="100519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Essa é a aula de hoje. Duas frases, dois prompts.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TRÊS NOITES DE TRABALHO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Quem, hoje, consegue usar isso?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" y="15087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40">
                <a:solidFill>
                  <a:srgbClr val="3B9DF5"/>
                </a:solidFill>
                <a:latin typeface="Arial"/>
              </a:rPr>
              <a:t>O QUE FICOU DE PÉ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17336" y="1508760"/>
            <a:ext cx="5059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40">
                <a:solidFill>
                  <a:srgbClr val="3B9DF5"/>
                </a:solidFill>
                <a:latin typeface="Arial"/>
              </a:rPr>
              <a:t>QUEM CONSEGUE USAR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92808"/>
            <a:ext cx="10820095" cy="658368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2110549"/>
            <a:ext cx="493775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Noite 1 · o dado no catálogo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17336" y="2110549"/>
            <a:ext cx="505937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Quem escreve 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79192"/>
            <a:ext cx="10820095" cy="658368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2896933"/>
            <a:ext cx="493775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Noite 2 · o pipeline que roda sozinho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7336" y="2896933"/>
            <a:ext cx="505937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Quem escreve 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65576"/>
            <a:ext cx="10820095" cy="658368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83317"/>
            <a:ext cx="493775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Noite 2 · o dashboard e o Genie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7336" y="3683317"/>
            <a:ext cx="505937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Quem abre o dashboard — e é a única porta aberta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251960"/>
            <a:ext cx="10820095" cy="658368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FF6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" y="4469701"/>
            <a:ext cx="493775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6B5A"/>
                </a:solidFill>
                <a:latin typeface="Arial"/>
              </a:rPr>
              <a:t>Noite 3 · o modelo e a fila dos 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7336" y="4469701"/>
            <a:ext cx="505937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Quem escreve 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440680"/>
            <a:ext cx="10820095" cy="91440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FF6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5656072"/>
            <a:ext cx="100519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A empresa tem 3.000 clientes, 42 vendedores e um diretor.</a:t>
            </a:r>
          </a:p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Nenhum deles escreve SQL.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9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2331720"/>
            <a:ext cx="981151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3400" b="1" spc="-20">
                <a:solidFill>
                  <a:srgbClr val="FFFFFF"/>
                </a:solidFill>
                <a:latin typeface="Arial"/>
              </a:rPr>
              <a:t>Um dado que só o time de dados</a:t>
            </a:r>
          </a:p>
          <a:p>
            <a:pPr algn="ctr">
              <a:lnSpc>
                <a:spcPct val="135000"/>
              </a:lnSpc>
            </a:pPr>
            <a:r>
              <a:rPr sz="3400" b="1" spc="-20">
                <a:solidFill>
                  <a:srgbClr val="FFFFFF"/>
                </a:solidFill>
                <a:latin typeface="Arial"/>
              </a:rPr>
              <a:t>consegue abrir é um dado que</a:t>
            </a:r>
          </a:p>
          <a:p>
            <a:pPr algn="ctr">
              <a:lnSpc>
                <a:spcPct val="135000"/>
              </a:lnSpc>
            </a:pPr>
            <a:r>
              <a:rPr sz="3400" b="1" spc="-20">
                <a:solidFill>
                  <a:srgbClr val="FFFFFF"/>
                </a:solidFill>
                <a:latin typeface="Arial"/>
              </a:rPr>
              <a:t>não existe para a empresa.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A PROMESSA DE HOJE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O projeto ganha uma URL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BAAC0"/>
                </a:solidFill>
                <a:latin typeface="Arial"/>
              </a:rPr>
              <a:t>E, no último prompt, ganha um caminho de volta — que é a parte que quase todo projeto de dados esquece.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12264"/>
            <a:ext cx="3448202" cy="228600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350008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1 · Perguntar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759710"/>
            <a:ext cx="293613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Um Genie feito para a direção: a fila, o que ela vale, o que aconteceu depois. Fala em ligações, nunca em AUC.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1746" y="2112264"/>
            <a:ext cx="3448202" cy="228600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7778" y="2350008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2 · 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7778" y="2759710"/>
            <a:ext cx="293613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Um Databricks App com os 200 na tela, filtráveis por vendedor, e o Genie embutido numa aba.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7692" y="2112264"/>
            <a:ext cx="3448202" cy="228600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3724" y="2350008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3B9DF5"/>
                </a:solidFill>
                <a:latin typeface="Arial"/>
              </a:rPr>
              <a:t>3 · Devolver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3724" y="2759710"/>
            <a:ext cx="293613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Quatro botões. O vendedor marca como foi a ligação, e isso vira uma linha na gold.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394960"/>
            <a:ext cx="10820095" cy="658368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5616448"/>
            <a:ext cx="1005199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Nenhuma tabela de análise nova. Tudo que a noite mostra já estava pronto ontem.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O FORMATO DE SEMPRE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Três prompts, três deploys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10820095" cy="130302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48687" y="1810512"/>
            <a:ext cx="9357207" cy="1303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7CC8FF"/>
                </a:solidFill>
                <a:latin typeface="Consolas"/>
              </a:rPr>
              <a:t>prompt 1   + genie_direcao      o Genie da direção · gold.retorno_ligacao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7CC8FF"/>
                </a:solidFill>
                <a:latin typeface="Consolas"/>
              </a:rPr>
              <a:t>prompt 2   + app                a fila dos 200 na tela, com o Genie dentro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7CC8FF"/>
                </a:solidFill>
                <a:latin typeface="Consolas"/>
              </a:rPr>
              <a:t>prompt 3   + POST /api/retorno  o resultado da ligação volta para a gold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086100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3276409"/>
            <a:ext cx="43891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bundle deploy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68696" y="3276409"/>
            <a:ext cx="560801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~20s · o Genie e a tabela entram no bundle da terça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817620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4007929"/>
            <a:ext cx="43891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B9DF5"/>
                </a:solidFill>
                <a:latin typeface="Arial"/>
              </a:rPr>
              <a:t>apps deploy (o primeiro)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68696" y="4007929"/>
            <a:ext cx="560801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3m44s · o app tem compute próprio, e ele nasce agora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549140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739449"/>
            <a:ext cx="43891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apps deploy (o segundo)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8696" y="4739449"/>
            <a:ext cx="560801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1m04s · daí em diante é rápido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715000"/>
            <a:ext cx="10820095" cy="64008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5931408"/>
            <a:ext cx="100519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O job vai de 15 para 16 tarefas. O app é o único artefato da imersão com ciclo de deploy próprio.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9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33172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200">
                <a:solidFill>
                  <a:srgbClr val="3B9DF5"/>
                </a:solidFill>
                <a:latin typeface="Arial"/>
              </a:rPr>
              <a:t>ANTES DE ABRIR QUALQUER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788920"/>
            <a:ext cx="103327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1" spc="-45">
                <a:solidFill>
                  <a:srgbClr val="FFFFFF"/>
                </a:solidFill>
                <a:latin typeface="Arial"/>
              </a:rPr>
              <a:t>O que a gente</a:t>
            </a:r>
          </a:p>
          <a:p>
            <a:pPr algn="l">
              <a:lnSpc>
                <a:spcPct val="95000"/>
              </a:lnSpc>
            </a:pPr>
            <a:r>
              <a:rPr sz="6000" b="1" spc="-45">
                <a:solidFill>
                  <a:srgbClr val="FFFFFF"/>
                </a:solidFill>
                <a:latin typeface="Arial"/>
              </a:rPr>
              <a:t>construiu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4855464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9BAAC0"/>
                </a:solidFill>
                <a:latin typeface="Arial"/>
              </a:rPr>
              <a:t>Três noites contadas na língua de quem paga a conta — sem uma palavra de arquitetura.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NOITE 1 · SEGUNDA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“Qual foi a receita?”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BAAC0"/>
                </a:solidFill>
                <a:latin typeface="Arial"/>
              </a:rPr>
              <a:t>A pergunta mais simples que existe. E ela quebrou.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12264"/>
            <a:ext cx="3448202" cy="205740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350008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O que existia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759710"/>
            <a:ext cx="2936138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Dez arquivos exportados do ERP e do CRM. 28.729 pedidos, 3.040 clientes, 197.724 itens.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1746" y="2112264"/>
            <a:ext cx="3448202" cy="205740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7778" y="2350008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O que aconteceu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7778" y="2759710"/>
            <a:ext cx="2936138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A soma da receita deu errado. Data em dois formatos, cliente duplicado, devolução somando como venda.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7692" y="2112264"/>
            <a:ext cx="3448202" cy="205740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3724" y="2350008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3B9DF5"/>
                </a:solidFill>
                <a:latin typeface="Arial"/>
              </a:rPr>
              <a:t>O que o negócio aprendeu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3724" y="2759710"/>
            <a:ext cx="2936138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O número que a diretoria vê depende de decisões que ninguém documentou.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166360"/>
            <a:ext cx="10820095" cy="64008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5374640"/>
            <a:ext cx="100519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Fim da noite 1: o dado estava no lugar. Confiável, ainda não.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NOITE 2 · TERÇA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“Como eu não repito isso todo mês?”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BAAC0"/>
                </a:solidFill>
                <a:latin typeface="Arial"/>
              </a:rPr>
              <a:t>Seis prompts, seis deploys. O trabalho manual virou pipeline.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066543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O QUE ESTAVA ERRADO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41848" y="2066543"/>
            <a:ext cx="1463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QUANTO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79208" y="2066543"/>
            <a:ext cx="4053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O QUE ISSO CUSTAVA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32303"/>
            <a:ext cx="10820095" cy="512064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581021"/>
            <a:ext cx="44805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Datas em dd/mm/aaaa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1848" y="2581021"/>
            <a:ext cx="14630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3.443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9208" y="2581021"/>
            <a:ext cx="40535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relatório de mês errado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35808"/>
            <a:ext cx="10820095" cy="512064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184525"/>
            <a:ext cx="44805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Clientes duplicados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41848" y="3184525"/>
            <a:ext cx="14630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9208" y="3184525"/>
            <a:ext cx="40535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carteira contada duas vezes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39312"/>
            <a:ext cx="10820095" cy="512064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788028"/>
            <a:ext cx="44805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Cancelados com valor zero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41848" y="3788028"/>
            <a:ext cx="14630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957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9208" y="3788028"/>
            <a:ext cx="40535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pedido que nunca existiu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242816"/>
            <a:ext cx="10820095" cy="512064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4391533"/>
            <a:ext cx="44805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Devoluções negativas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41848" y="4391533"/>
            <a:ext cx="14630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2.327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9208" y="4391533"/>
            <a:ext cx="40535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receita inflada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212080"/>
            <a:ext cx="10820095" cy="713232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FF6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" y="5432552"/>
            <a:ext cx="1005199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900" b="1">
                <a:solidFill>
                  <a:srgbClr val="FFFFFF"/>
                </a:solidFill>
                <a:latin typeface="Arial"/>
              </a:rPr>
              <a:t>Receita que aparecia e não existia:  R$ 3.586.620,37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NOITE 2 · TERÇA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E a diretoria ganhou duas portas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448202" cy="224028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88366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O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93366"/>
            <a:ext cx="293613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Receita por mês, margem por categoria, ranking de marcas. Atualiza sozinho todo dia, porque o pipeline roda sozinho.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1746" y="1645920"/>
            <a:ext cx="3448202" cy="224028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7778" y="188366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O Genie comercial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7778" y="2293366"/>
            <a:ext cx="293613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Pergunta em português sobre a gold. Sabe que o pico do setor é o mês ANTERIOR à data comemorativa — porque alguém escreveu isso.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7692" y="1645920"/>
            <a:ext cx="3448202" cy="224028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3724" y="188366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3B9DF5"/>
                </a:solidFill>
                <a:latin typeface="Arial"/>
              </a:rPr>
              <a:t>Os testes que quebram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3724" y="2293366"/>
            <a:ext cx="293613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Nove conferências. Se o número não fechar, o job PARA. Melhor o dashboard com o dado de ontem que com o dado errado de hoje.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440680"/>
            <a:ext cx="10820095" cy="64008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5648959"/>
            <a:ext cx="100519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Fim da noite 2: o número certo, todo dia, sem ninguém tocar.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NOITE 3 · QUARTA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“Quais 200 eu ligo?”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BAAC0"/>
                </a:solidFill>
                <a:latin typeface="Arial"/>
              </a:rPr>
              <a:t>3.000 clientes na base, 200 ligações boas por semana.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066543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A ESTRATÉGIA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53528" y="2066543"/>
            <a:ext cx="3779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DOS 200, QUANTOS COMPRAM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32303"/>
            <a:ext cx="10820095" cy="54864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599309"/>
            <a:ext cx="6492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Ligar aleatório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53528" y="2599309"/>
            <a:ext cx="3779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72383"/>
            <a:ext cx="10820095" cy="54864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239388"/>
            <a:ext cx="6492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Ligar para quem sumiu há mais tempo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53528" y="3239388"/>
            <a:ext cx="3779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12463"/>
            <a:ext cx="10820095" cy="54864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879468"/>
            <a:ext cx="6492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Ligar para os maiores clientes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3528" y="3879468"/>
            <a:ext cx="3779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44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352544"/>
            <a:ext cx="10820095" cy="54864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519548"/>
            <a:ext cx="6492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Ligar para os 200 de maior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8" y="4519548"/>
            <a:ext cx="3779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B9DF5"/>
                </a:solidFill>
                <a:latin typeface="Consolas"/>
              </a:rPr>
              <a:t>86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349240"/>
            <a:ext cx="10820095" cy="713232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5585967"/>
            <a:ext cx="1005199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4,25× mais pedidos com a mesma equipe, no mesmo horário, com o mesmo telefone.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NOITE 3 · QUARTA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E a lista tem preço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448202" cy="214884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88366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200 contatos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93366"/>
            <a:ext cx="2936138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Os 200 maiores scores da base inteira, divididos pela carteira de 35 vendedores. Não é cota igual: é capacidade por pessoa.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1746" y="1645920"/>
            <a:ext cx="3448202" cy="214884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7778" y="188366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3B9DF5"/>
                </a:solidFill>
                <a:latin typeface="Arial"/>
              </a:rPr>
              <a:t>R$ 582.799,50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7778" y="2293366"/>
            <a:ext cx="2936138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A soma de score × ticket médio de cada cliente da fila. É estimativa, e é o número que vai para a reunião de segunda.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7692" y="1645920"/>
            <a:ext cx="3448202" cy="214884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3724" y="188366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Um motivo por linha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3724" y="2293366"/>
            <a:ext cx="2936138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“Compra a cada 8 dias e está há 26 sem pedido.” Score não é decisão — 0,84 não é uma ação.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349240"/>
            <a:ext cx="10820095" cy="64008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5557519"/>
            <a:ext cx="100519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Fim da noite 3: o pipeline parou de contar o passado e passou a dizer o que fazer.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AS TRÊS NOITES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Em quatro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6002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ETAPA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7448" y="16002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NÚMERO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22007" y="1600200"/>
            <a:ext cx="45107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O QUE 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10820095" cy="566928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42109"/>
            <a:ext cx="3566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noite 1 · o dado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2142109"/>
            <a:ext cx="1920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28.729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2007" y="2142109"/>
            <a:ext cx="45107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pedidos que chegaram do ERP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624328"/>
            <a:ext cx="10820095" cy="566928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800477"/>
            <a:ext cx="3566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noite 2 · o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800477"/>
            <a:ext cx="1920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191.080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7" y="2800477"/>
            <a:ext cx="45107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linhas em gold.fato_vendas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82696"/>
            <a:ext cx="10820095" cy="566928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458845"/>
            <a:ext cx="3566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noite 3 · a decisão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458845"/>
            <a:ext cx="1920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3458845"/>
            <a:ext cx="45107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contatos na fila desta semana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41063"/>
            <a:ext cx="10820095" cy="566928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FF6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117213"/>
            <a:ext cx="3566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noite 4 · o retorno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4117213"/>
            <a:ext cx="1920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6B5A"/>
                </a:solidFill>
                <a:latin typeface="Consolas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7" y="4117213"/>
            <a:ext cx="45107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6B5A"/>
                </a:solidFill>
                <a:latin typeface="Consolas"/>
              </a:rPr>
              <a:t>ligações que o time registrou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486400"/>
            <a:ext cx="10820095" cy="64008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FF6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5694679"/>
            <a:ext cx="100519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A última linha é a de hoje. Ela vale zero até alguém clicar num botão.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O QUE AS TRÊS NOITES NÃO RESOLVERAM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O caminho de volta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10820095" cy="164592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38347" y="1993392"/>
            <a:ext cx="8267547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7CC8FF"/>
                </a:solidFill>
                <a:latin typeface="Consolas"/>
              </a:rPr>
              <a:t>   pipeline  →  score  →  fila  →  ligação  →  ???</a:t>
            </a:r>
          </a:p>
          <a:p>
            <a:pPr algn="l">
              <a:lnSpc>
                <a:spcPct val="150000"/>
              </a:lnSpc>
            </a:pPr>
            <a:r>
              <a:rPr sz="1500" b="1">
                <a:solidFill>
                  <a:srgbClr val="7CC8FF"/>
                </a:solidFill>
                <a:latin typeface="Consolas"/>
              </a:rPr>
              <a:t>                  ↑                              │</a:t>
            </a:r>
          </a:p>
          <a:p>
            <a:pPr algn="l">
              <a:lnSpc>
                <a:spcPct val="150000"/>
              </a:lnSpc>
            </a:pPr>
            <a:r>
              <a:rPr sz="1500" b="1">
                <a:solidFill>
                  <a:srgbClr val="7CC8FF"/>
                </a:solidFill>
                <a:latin typeface="Consolas"/>
              </a:rPr>
              <a:t>                  └──────────────────────────────┘</a:t>
            </a:r>
          </a:p>
          <a:p>
            <a:pPr algn="l">
              <a:lnSpc>
                <a:spcPct val="150000"/>
              </a:lnSpc>
            </a:pPr>
            <a:r>
              <a:rPr sz="1500" b="1">
                <a:solidFill>
                  <a:srgbClr val="7CC8FF"/>
                </a:solidFill>
                <a:latin typeface="Consolas"/>
              </a:rPr>
              <a:t>                     é este pedaço que falta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57600"/>
            <a:ext cx="10820095" cy="96012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FF6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3863339"/>
            <a:ext cx="1005199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O modelo diz que 86 dos 200 vão comprar.</a:t>
            </a:r>
          </a:p>
          <a:p>
            <a:pPr algn="ctr">
              <a:lnSpc>
                <a:spcPct val="128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Ninguém aqui sabe se ele acertou.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9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33172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200">
                <a:solidFill>
                  <a:srgbClr val="3B9DF5"/>
                </a:solidFill>
                <a:latin typeface="Arial"/>
              </a:rPr>
              <a:t>A DECISÃO DE DESENHO DA NOITE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788920"/>
            <a:ext cx="103327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1" spc="-45">
                <a:solidFill>
                  <a:srgbClr val="FFFFFF"/>
                </a:solidFill>
                <a:latin typeface="Arial"/>
              </a:rPr>
              <a:t>Três portas,</a:t>
            </a:r>
          </a:p>
          <a:p>
            <a:pPr algn="l">
              <a:lnSpc>
                <a:spcPct val="95000"/>
              </a:lnSpc>
            </a:pPr>
            <a:r>
              <a:rPr sz="6000" b="1" spc="-45">
                <a:solidFill>
                  <a:srgbClr val="FFFFFF"/>
                </a:solidFill>
                <a:latin typeface="Arial"/>
              </a:rPr>
              <a:t>uma tabela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4855464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9BAAC0"/>
                </a:solidFill>
                <a:latin typeface="Arial"/>
              </a:rPr>
              <a:t>Dashboard, Genie e app leem exatamente o mesmo gold.fila_semanal. Não é redundância — é audiência.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A PERGUNTA QUE A SALA FAZ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Por que três, se o dado é o mesmo?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554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PORTA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81528" y="155448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PARA QUEM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87768" y="1554480"/>
            <a:ext cx="4144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O QUE SÓ ELA FAZ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14677"/>
            <a:ext cx="1920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1528" y="2114677"/>
            <a:ext cx="39319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quem acompanha número recorrente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87768" y="2114677"/>
            <a:ext cx="414497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agenda e alerta, sem código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615184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809621"/>
            <a:ext cx="1920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Genie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1528" y="2809621"/>
            <a:ext cx="39319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quem tem pergunta não prevista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7768" y="2809621"/>
            <a:ext cx="414497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responde o que não estava na tela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310128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504565"/>
            <a:ext cx="1920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3504565"/>
            <a:ext cx="39319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B9DF5"/>
                </a:solidFill>
                <a:latin typeface="Consolas"/>
              </a:rPr>
              <a:t>quem trabalha a lista todo 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7768" y="3504565"/>
            <a:ext cx="414497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B9DF5"/>
                </a:solidFill>
                <a:latin typeface="Consolas"/>
              </a:rPr>
              <a:t>interação e escrita de volta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74920"/>
            <a:ext cx="10820095" cy="96012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5280659"/>
            <a:ext cx="1005199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Genie responde. App registra.</a:t>
            </a:r>
          </a:p>
          <a:p>
            <a:pPr algn="ctr">
              <a:lnSpc>
                <a:spcPct val="128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A diferença não é a tecnologia — é a direção do dado.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A PEÇA NOVA DE HOJE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Databricks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BAAC0"/>
                </a:solidFill>
                <a:latin typeface="Arial"/>
              </a:rPr>
              <a:t>Uma aplicação web que roda DENTRO do workspace, com identidade própria e acesso governado pelo Unity Catalog.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12264"/>
            <a:ext cx="3448202" cy="228600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350008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Não é servidor seu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759710"/>
            <a:ext cx="293613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Sem VM, sem Docker, sem domínio para comprar. O deploy é um comando e sai uma URL do workspace.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1746" y="2112264"/>
            <a:ext cx="3448202" cy="228600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7778" y="2350008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Login é o do Databricks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7778" y="2759710"/>
            <a:ext cx="293613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Quem não tem acesso ao workspace não abre. O app sabe QUEM está olhando — e é assim que o retorno grava quem clicou.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7692" y="2112264"/>
            <a:ext cx="3448202" cy="228600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FF6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3724" y="2350008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6B5A"/>
                </a:solidFill>
                <a:latin typeface="Arial"/>
              </a:rPr>
              <a:t>Tem um usuário próprio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3724" y="2759710"/>
            <a:ext cx="293613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Um service principal criado junto com o app. E ele nasce sem permissão nenhuma no catálogo.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394960"/>
            <a:ext cx="10820095" cy="658368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5620512"/>
            <a:ext cx="1005199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O último cartão é o erro nº 1 de quem sobe o primeiro app. Voltamos nele no slide 29.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A OUTRA PEÇA, QUE JÁ É VELHA CONHECIDA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Por que um SEGUNDO Genie?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" y="15544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40">
                <a:solidFill>
                  <a:srgbClr val="3B9DF5"/>
                </a:solidFill>
                <a:latin typeface="Arial"/>
              </a:rPr>
              <a:t>O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51576" y="1554480"/>
            <a:ext cx="54251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40">
                <a:solidFill>
                  <a:srgbClr val="3B9DF5"/>
                </a:solidFill>
                <a:latin typeface="Arial"/>
              </a:rPr>
              <a:t>O RECORTE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38528"/>
            <a:ext cx="10820095" cy="82296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2238565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Rota do Perfume · Comercial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51576" y="2238565"/>
            <a:ext cx="54251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12 fontes · da noite 2 · para o vendedor perguntar qualquer coisa da operação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89504"/>
            <a:ext cx="10820095" cy="82296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3189541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B9DF5"/>
                </a:solidFill>
                <a:latin typeface="Arial"/>
              </a:rPr>
              <a:t>Rota do Perfume · Direção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1576" y="3189541"/>
            <a:ext cx="54251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7 fontes · nasce hoje · para responder UMA decisão: quem ligar e quanto vale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096512"/>
            <a:ext cx="10820095" cy="100584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4341368"/>
            <a:ext cx="1005199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Genie não é um por empresa. É um por audiência.</a:t>
            </a:r>
          </a:p>
          <a:p>
            <a:pPr algn="ctr">
              <a:lnSpc>
                <a:spcPct val="128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O que muda entre eles não é o dado — é o recorte e a instrução.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9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33172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200">
                <a:solidFill>
                  <a:srgbClr val="3B9DF5"/>
                </a:solidFill>
                <a:latin typeface="Arial"/>
              </a:rPr>
              <a:t>PROMPT 1 DE 3 · DEPLOY Nº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788920"/>
            <a:ext cx="103327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1" spc="-45">
                <a:solidFill>
                  <a:srgbClr val="FFFFFF"/>
                </a:solidFill>
                <a:latin typeface="Arial"/>
              </a:rPr>
              <a:t>O Genie</a:t>
            </a:r>
          </a:p>
          <a:p>
            <a:pPr algn="l">
              <a:lnSpc>
                <a:spcPct val="95000"/>
              </a:lnSpc>
            </a:pPr>
            <a:r>
              <a:rPr sz="6000" b="1" spc="-45">
                <a:solidFill>
                  <a:srgbClr val="FFFFFF"/>
                </a:solidFill>
                <a:latin typeface="Arial"/>
              </a:rPr>
              <a:t>da direção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4855464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9BAAC0"/>
                </a:solidFill>
                <a:latin typeface="Arial"/>
              </a:rPr>
              <a:t>O space curado como código, mais a tabela que vai receber a resposta do time — e que nasce vazia.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O QUE FAZ UM GENIE RESPONDER MELHOR QUE O OUTRO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A instrução é o produto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BAAC0"/>
                </a:solidFill>
                <a:latin typeface="Arial"/>
              </a:rPr>
              <a:t>O modelo é o mesmo. O dado é o mesmo. O que muda são vinte linhas escritas por alguém que entende o negócio.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66543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2256853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“A fila é global, não é cota”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85816" y="2256853"/>
            <a:ext cx="579089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quem tem carteira quente recebe mais contatos, e isso está certo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98063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988373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“Receita esperada é ESTIMATIVA”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85816" y="2988373"/>
            <a:ext cx="579089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SUM(score × ticket_medio) nunca é receita realizada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529583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719893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B9DF5"/>
                </a:solidFill>
                <a:latin typeface="Arial"/>
              </a:rPr>
              <a:t>“NUNCA cite AUC”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85816" y="3719893"/>
            <a:ext cx="579089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AUC é métrica de quem treina. A métrica da direção é lift_top200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261103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" y="4451413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“Se for zero, diga que é zero”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85816" y="4451413"/>
            <a:ext cx="579089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retorno_ligacao começa vazia — não invente, e não use a fila no lugar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669280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5863336"/>
            <a:ext cx="1005199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E tudo isso mora no Git: com histórico, revisão e rollback.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A OUTRA ENTREGA DO PROMPT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A tabela que nasce vazia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10820095" cy="1863851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10088575" cy="18638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>
                <a:solidFill>
                  <a:srgbClr val="7CC8FF"/>
                </a:solidFill>
                <a:latin typeface="Consolas"/>
              </a:rPr>
              <a:t>CREATE TABLE IF NOT EXISTS gold.retorno_ligacao (</a:t>
            </a:r>
          </a:p>
          <a:p>
            <a:pPr algn="l">
              <a:lnSpc>
                <a:spcPct val="142000"/>
              </a:lnSpc>
            </a:pPr>
            <a:r>
              <a:rPr sz="1300" b="0">
                <a:solidFill>
                  <a:srgbClr val="7CC8FF"/>
                </a:solidFill>
                <a:latin typeface="Consolas"/>
              </a:rPr>
              <a:t>  cliente_id      INT,      vendedor    STRING,</a:t>
            </a:r>
          </a:p>
          <a:p>
            <a:pPr algn="l">
              <a:lnSpc>
                <a:spcPct val="142000"/>
              </a:lnSpc>
            </a:pPr>
            <a:r>
              <a:rPr sz="1300" b="0">
                <a:solidFill>
                  <a:srgbClr val="7CC8FF"/>
                </a:solidFill>
                <a:latin typeface="Consolas"/>
              </a:rPr>
              <a:t>  status          STRING,   comentario  STRING,</a:t>
            </a:r>
          </a:p>
          <a:p>
            <a:pPr algn="l">
              <a:lnSpc>
                <a:spcPct val="142000"/>
              </a:lnSpc>
            </a:pPr>
            <a:r>
              <a:rPr sz="1300" b="0">
                <a:solidFill>
                  <a:srgbClr val="7CC8FF"/>
                </a:solidFill>
                <a:latin typeface="Consolas"/>
              </a:rPr>
              <a:t>  registrado_em   TIMESTAMP,</a:t>
            </a:r>
          </a:p>
          <a:p>
            <a:pPr algn="l">
              <a:lnSpc>
                <a:spcPct val="142000"/>
              </a:lnSpc>
            </a:pPr>
            <a:r>
              <a:rPr sz="1300" b="0">
                <a:solidFill>
                  <a:srgbClr val="7CC8FF"/>
                </a:solidFill>
                <a:latin typeface="Consolas"/>
              </a:rPr>
              <a:t>  registrado_por  STRING,   _referencia DATE</a:t>
            </a:r>
          </a:p>
          <a:p>
            <a:pPr algn="l">
              <a:lnSpc>
                <a:spcPct val="142000"/>
              </a:lnSpc>
            </a:pPr>
            <a:r>
              <a:rPr sz="1300" b="0">
                <a:solidFill>
                  <a:srgbClr val="7CC8FF"/>
                </a:solidFill>
                <a:latin typeface="Consolas"/>
              </a:rPr>
              <a:t>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46932"/>
            <a:ext cx="5291175" cy="169164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3884675"/>
            <a:ext cx="477911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3B9DF5"/>
                </a:solidFill>
                <a:latin typeface="Arial"/>
              </a:rPr>
              <a:t>IF NOT EXISTS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4294378"/>
            <a:ext cx="4779111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Toda tabela da gold é recriada a cada execução. Esta não pode ser: o dado dela não vem do pipeline, vem do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4719" y="3646932"/>
            <a:ext cx="5291175" cy="169164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0751" y="3884675"/>
            <a:ext cx="477911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status é um conjunto fechado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0751" y="4294378"/>
            <a:ext cx="4779111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vendeu · vai_pensar · sem_interesse · nao_atendeu. Sem isso, em três semanas a coluna tem “Vendeu”, “vendido” e “VENDEU”.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760720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5954775"/>
            <a:ext cx="1005199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É a única tabela do projeto que o pipeline cria e nunca recria.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AGORA 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Prompt 1 · rodando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BAAC0"/>
                </a:solidFill>
                <a:latin typeface="Arial"/>
              </a:rPr>
              <a:t>Enquanto ele trabalha, você fala — e isto leva 20 segundos, então fale rápido.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12264"/>
            <a:ext cx="10820095" cy="149352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77337" y="2368296"/>
            <a:ext cx="8728557" cy="1493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7CC8FF"/>
                </a:solidFill>
                <a:latin typeface="Consolas"/>
              </a:rPr>
              <a:t>resources/direcao.geniespace.json      as 7 fontes e as instruções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7CC8FF"/>
                </a:solidFill>
                <a:latin typeface="Consolas"/>
              </a:rPr>
              <a:t>resources/genie-direcao.genie_space.yml  o recurso no bundle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7CC8FF"/>
                </a:solidFill>
                <a:latin typeface="Consolas"/>
              </a:rPr>
              <a:t>src/gold/11-retorno-ligacao.sql        a tabela do caminho de volta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7CC8FF"/>
                </a:solidFill>
                <a:latin typeface="Consolas"/>
              </a:rPr>
              <a:t>resources/pipeline.job.yml             +1 tarefa  → 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925823"/>
            <a:ext cx="10820095" cy="96012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FF6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4164075"/>
            <a:ext cx="1005199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NÃO use --auto-approve.</a:t>
            </a:r>
          </a:p>
          <a:p>
            <a:pPr algn="ctr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Se o deploy pedir para apagar o dashboard ou o Genie comercial, pare.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A CONFERÊNCIA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Três perguntas, na frente da sala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554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A PERGUNTA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0488" y="1554480"/>
            <a:ext cx="5242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O QUE TEM QUE APARECER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114677"/>
            <a:ext cx="5029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Quanto vale a fila desta semana?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0488" y="2114677"/>
            <a:ext cx="524225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R$ 582.799,50 — e a palavra estimativa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15184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809621"/>
            <a:ext cx="5029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Quantas ligações já foram registradas?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2809621"/>
            <a:ext cx="524225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zero, e a frase de que ninguém registrou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10128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504565"/>
            <a:ext cx="5029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O modelo é bom?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3504565"/>
            <a:ext cx="524225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B9DF5"/>
                </a:solidFill>
                <a:latin typeface="Consolas"/>
              </a:rPr>
              <a:t>4,25× ou 86 de 200. Nunca AUC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166360"/>
            <a:ext cx="10820095" cy="96012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5388356"/>
            <a:ext cx="1005199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Use “Show generated code” em toda resposta.</a:t>
            </a:r>
          </a:p>
          <a:p>
            <a:pPr algn="ctr">
              <a:lnSpc>
                <a:spcPct val="128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É o hábito que separa quem USA Genie de quem CONFIA em Genie.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DEPLOY Nº 1 · PRONTO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O que existe agora que não existia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3448202" cy="219456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92938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Um segundo Genie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39086"/>
            <a:ext cx="2936138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Sete fontes, instrução própria, no Git. O comercial continua de pé, intacto.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1746" y="1691640"/>
            <a:ext cx="3448202" cy="219456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7778" y="192938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Uma tabela vazia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7778" y="2339086"/>
            <a:ext cx="2936138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gold.retorno_ligacao, com COMMENT em toda coluna — a auditoria da noite 2 vale para ela também.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7692" y="1691640"/>
            <a:ext cx="3448202" cy="219456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3724" y="192938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3B9DF5"/>
                </a:solidFill>
                <a:latin typeface="Arial"/>
              </a:rPr>
              <a:t>16 tarefas no job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3724" y="2339086"/>
            <a:ext cx="2936138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A noite 4 acrescentou uma, e ela não calcula nada: só garante que a tabela existe.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394960"/>
            <a:ext cx="10820095" cy="64008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5603240"/>
            <a:ext cx="100519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E o diretor ainda não tem onde clicar. É o próximo prompt.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9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33172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200">
                <a:solidFill>
                  <a:srgbClr val="3B9DF5"/>
                </a:solidFill>
                <a:latin typeface="Arial"/>
              </a:rPr>
              <a:t>PROMPT 2 DE 3 · DEPLOY Nº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78892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1" spc="-45">
                <a:solidFill>
                  <a:srgbClr val="FFFFFF"/>
                </a:solidFill>
                <a:latin typeface="Arial"/>
              </a:rPr>
              <a:t>Uma URL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4014215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9BAAC0"/>
                </a:solidFill>
                <a:latin typeface="Arial"/>
              </a:rPr>
              <a:t>A fila dos 200 na tela, filtrável por vendedor, com o Genie do prompt anterior embutido numa aba.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ANTES DE ESCREVER QUALQUER COISA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O que o diretor tem hoje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10820095" cy="1394968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10088575" cy="1394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>
                <a:solidFill>
                  <a:srgbClr val="7CC8FF"/>
                </a:solidFill>
                <a:latin typeface="Consolas"/>
              </a:rPr>
              <a:t>SELECT vendedor, ordem, razao_social, ROUND(score,2) AS nota,</a:t>
            </a:r>
          </a:p>
          <a:p>
            <a:pPr algn="l">
              <a:lnSpc>
                <a:spcPct val="142000"/>
              </a:lnSpc>
            </a:pPr>
            <a:r>
              <a:rPr sz="1300" b="0">
                <a:solidFill>
                  <a:srgbClr val="7CC8FF"/>
                </a:solidFill>
                <a:latin typeface="Consolas"/>
              </a:rPr>
              <a:t>       motivo, sugestao</a:t>
            </a:r>
          </a:p>
          <a:p>
            <a:pPr algn="l">
              <a:lnSpc>
                <a:spcPct val="142000"/>
              </a:lnSpc>
            </a:pPr>
            <a:r>
              <a:rPr sz="1300" b="0">
                <a:solidFill>
                  <a:srgbClr val="7CC8FF"/>
                </a:solidFill>
                <a:latin typeface="Consolas"/>
              </a:rPr>
              <a:t>FROM   lakehouse_rotaperfume.gold.fila_semanal</a:t>
            </a:r>
          </a:p>
          <a:p>
            <a:pPr algn="l">
              <a:lnSpc>
                <a:spcPct val="142000"/>
              </a:lnSpc>
            </a:pPr>
            <a:r>
              <a:rPr sz="1300" b="0">
                <a:solidFill>
                  <a:srgbClr val="7CC8FF"/>
                </a:solidFill>
                <a:latin typeface="Consolas"/>
              </a:rPr>
              <a:t>ORDER  BY score DESC;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69488"/>
            <a:ext cx="10820095" cy="137160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3595623"/>
            <a:ext cx="1005199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50" b="0">
                <a:solidFill>
                  <a:srgbClr val="9BAAC0"/>
                </a:solidFill>
                <a:latin typeface="Arial"/>
              </a:rPr>
              <a:t>Está certíssimo. Agora imagine mandar isso para o diretor toda segunda de manhã.</a:t>
            </a:r>
          </a:p>
          <a:p>
            <a:pPr algn="l">
              <a:lnSpc>
                <a:spcPct val="128000"/>
              </a:lnSpc>
            </a:pPr>
            <a:r>
              <a:rPr sz="1550" b="0">
                <a:solidFill>
                  <a:srgbClr val="9BAAC0"/>
                </a:solidFill>
                <a:latin typeface="Arial"/>
              </a:rPr>
              <a:t>Ele vai pedir para filtrar por vendedor. Depois, para marcar quem já foi contatado.</a:t>
            </a:r>
          </a:p>
          <a:p>
            <a:pPr algn="l">
              <a:lnSpc>
                <a:spcPct val="128000"/>
              </a:lnSpc>
            </a:pPr>
            <a:r>
              <a:rPr sz="1550" b="0">
                <a:solidFill>
                  <a:srgbClr val="9BAAC0"/>
                </a:solidFill>
                <a:latin typeface="Arial"/>
              </a:rPr>
              <a:t>Na terceira semana, ele volta a ligar pela intuição.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O QUE O PROMPT VAI MONTAR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Três telas, quatro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10820095" cy="1988819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77337" y="1810512"/>
            <a:ext cx="8728557" cy="1988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7CC8FF"/>
                </a:solidFill>
                <a:latin typeface="Consolas"/>
              </a:rPr>
              <a:t>config/queries/kpis_semana.sql     os quatro números do topo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7CC8FF"/>
                </a:solidFill>
                <a:latin typeface="Consolas"/>
              </a:rPr>
              <a:t>config/queries/vendedores.sql      o filtro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7CC8FF"/>
                </a:solidFill>
                <a:latin typeface="Consolas"/>
              </a:rPr>
              <a:t>config/queries/fila.sql            os 200, com o retorno de cada um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7CC8FF"/>
                </a:solidFill>
                <a:latin typeface="Consolas"/>
              </a:rPr>
              <a:t>config/queries/acompanhamento.sql  o desfecho por vendedor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7CC8FF"/>
                </a:solidFill>
                <a:latin typeface="Consolas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7CC8FF"/>
                </a:solidFill>
                <a:latin typeface="Consolas"/>
              </a:rPr>
              <a:t>client/src/pages/  A semana  ·  Acompanhamento  ·  Perguntar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909060"/>
            <a:ext cx="10820095" cy="100584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4178300"/>
            <a:ext cx="1005199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Nenhuma query dentro do React. SQL em arquivo .sql, interface em arquivo de interface —</a:t>
            </a:r>
          </a:p>
          <a:p>
            <a:pPr algn="l">
              <a:lnSpc>
                <a:spcPct val="12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e o nome do arquivo é a chave que a tela pede.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A TELA PRINCIPAL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Os quatro números do diretor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BAAC0"/>
                </a:solidFill>
                <a:latin typeface="Arial"/>
              </a:rPr>
              <a:t>Medidos hoje, no workspace. É o que ele vê ao abrir o link.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12264"/>
            <a:ext cx="2526715" cy="219456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350008"/>
            <a:ext cx="201465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200</a:t>
            </a:r>
          </a:p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contatos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178048"/>
            <a:ext cx="2014651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em 35 vendedores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0259" y="2112264"/>
            <a:ext cx="2526715" cy="219456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6291" y="2350008"/>
            <a:ext cx="201465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R$ 582.799,50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6291" y="2837180"/>
            <a:ext cx="2014651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receita esperada — soma de score × ticket médio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4719" y="2112264"/>
            <a:ext cx="2526715" cy="219456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0751" y="2350008"/>
            <a:ext cx="201465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3B9DF5"/>
                </a:solidFill>
                <a:latin typeface="Arial"/>
              </a:rPr>
              <a:t>43%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0751" y="2837180"/>
            <a:ext cx="2014651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conversão prevista, contra 10,1% ligando às cegas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79179" y="2112264"/>
            <a:ext cx="2526715" cy="219456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FF6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211" y="2350008"/>
            <a:ext cx="201465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6B5A"/>
                </a:solidFill>
                <a:latin typeface="Arial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211" y="2837180"/>
            <a:ext cx="2014651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9BAAC0"/>
                </a:solidFill>
                <a:latin typeface="Arial"/>
              </a:rPr>
              <a:t>ligações registradas. Por enquanto.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349240"/>
            <a:ext cx="10820095" cy="658368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5570727"/>
            <a:ext cx="1005199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O terceiro cartão é o projeto inteiro numa linha — e agora está numa página que o diretor abre sozinho.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O ERRO Nº 1 DE QUEM SOBE O PRIMEIRO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O app é um usuário do Unity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10820095" cy="226060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10088575" cy="226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7CC8FF"/>
                </a:solidFill>
                <a:latin typeface="Consolas"/>
              </a:rPr>
              <a:t># no databricks.yml, isto dá acesso ao COMPUTE:</a:t>
            </a:r>
          </a:p>
          <a:p>
            <a:pPr algn="l">
              <a:lnSpc>
                <a:spcPct val="142000"/>
              </a:lnSpc>
            </a:pPr>
            <a:r>
              <a:rPr sz="1250" b="0">
                <a:solidFill>
                  <a:srgbClr val="7CC8FF"/>
                </a:solidFill>
                <a:latin typeface="Consolas"/>
              </a:rPr>
              <a:t>  - name: sql-warehouse</a:t>
            </a:r>
          </a:p>
          <a:p>
            <a:pPr algn="l">
              <a:lnSpc>
                <a:spcPct val="142000"/>
              </a:lnSpc>
            </a:pPr>
            <a:r>
              <a:rPr sz="1250" b="0">
                <a:solidFill>
                  <a:srgbClr val="7CC8FF"/>
                </a:solidFill>
                <a:latin typeface="Consolas"/>
              </a:rPr>
              <a:t>    sql_warehouse: { id: ..., permission: CAN_USE }</a:t>
            </a:r>
          </a:p>
          <a:p>
            <a:pPr algn="l">
              <a:lnSpc>
                <a:spcPct val="142000"/>
              </a:lnSpc>
            </a:pPr>
            <a:r>
              <a:rPr sz="1250" b="0">
                <a:solidFill>
                  <a:srgbClr val="7CC8FF"/>
                </a:solidFill>
                <a:latin typeface="Consolas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1250" b="0">
                <a:solidFill>
                  <a:srgbClr val="7CC8FF"/>
                </a:solidFill>
                <a:latin typeface="Consolas"/>
              </a:rPr>
              <a:t># e isto, ao DADO — sem os três, a tela carrega VAZIA:</a:t>
            </a:r>
          </a:p>
          <a:p>
            <a:pPr algn="l">
              <a:lnSpc>
                <a:spcPct val="142000"/>
              </a:lnSpc>
            </a:pPr>
            <a:r>
              <a:rPr sz="1250" b="0">
                <a:solidFill>
                  <a:srgbClr val="7CC8FF"/>
                </a:solidFill>
                <a:latin typeface="Consolas"/>
              </a:rPr>
              <a:t>GRANT USE CATALOG ON CATALOG lakehouse_rotaperfume TO `&lt;sp&gt;`;</a:t>
            </a:r>
          </a:p>
          <a:p>
            <a:pPr algn="l">
              <a:lnSpc>
                <a:spcPct val="142000"/>
              </a:lnSpc>
            </a:pPr>
            <a:r>
              <a:rPr sz="1250" b="0">
                <a:solidFill>
                  <a:srgbClr val="7CC8FF"/>
                </a:solidFill>
                <a:latin typeface="Consolas"/>
              </a:rPr>
              <a:t>GRANT USE SCHEMA  ON SCHEMA  lakehouse_rotaperfume.gold TO `&lt;sp&gt;`;</a:t>
            </a:r>
          </a:p>
          <a:p>
            <a:pPr algn="l">
              <a:lnSpc>
                <a:spcPct val="142000"/>
              </a:lnSpc>
            </a:pPr>
            <a:r>
              <a:rPr sz="1250" b="0">
                <a:solidFill>
                  <a:srgbClr val="7CC8FF"/>
                </a:solidFill>
                <a:latin typeface="Consolas"/>
              </a:rPr>
              <a:t>GRANT SELECT      ON SCHEMA  lakehouse_rotaperfume.gold TO `&lt;sp&gt;`;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089400"/>
            <a:ext cx="10820095" cy="73152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FF6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4343400"/>
            <a:ext cx="1005199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A tela do erro é a pior possível: ela carrega, não quebra, e mostra vazio.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A RECOMPENSA DA NOITE 2, TRÊS DIAS DEPOIS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Os tipos vêm do catálogo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10820095" cy="1863851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10088575" cy="18638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>
                <a:solidFill>
                  <a:srgbClr val="7CC8FF"/>
                </a:solidFill>
                <a:latin typeface="Consolas"/>
              </a:rPr>
              <a:t>// gerado por `npm run typegen`, lendo o Unity Catalog:</a:t>
            </a:r>
          </a:p>
          <a:p>
            <a:pPr algn="l">
              <a:lnSpc>
                <a:spcPct val="142000"/>
              </a:lnSpc>
            </a:pPr>
            <a:r>
              <a:rPr sz="1300" b="0">
                <a:solidFill>
                  <a:srgbClr val="7CC8FF"/>
                </a:solidFill>
                <a:latin typeface="Consolas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1300" b="0">
                <a:solidFill>
                  <a:srgbClr val="7CC8FF"/>
                </a:solidFill>
                <a:latin typeface="Consolas"/>
              </a:rPr>
              <a:t>/** Probabilidade de o cliente fazer pedido nos próximos 7 dias. */</a:t>
            </a:r>
          </a:p>
          <a:p>
            <a:pPr algn="l">
              <a:lnSpc>
                <a:spcPct val="142000"/>
              </a:lnSpc>
            </a:pPr>
            <a:r>
              <a:rPr sz="1300" b="0">
                <a:solidFill>
                  <a:srgbClr val="7CC8FF"/>
                </a:solidFill>
                <a:latin typeface="Consolas"/>
              </a:rPr>
              <a:t>score: number;</a:t>
            </a:r>
          </a:p>
          <a:p>
            <a:pPr algn="l">
              <a:lnSpc>
                <a:spcPct val="142000"/>
              </a:lnSpc>
            </a:pPr>
            <a:r>
              <a:rPr sz="1300" b="0">
                <a:solidFill>
                  <a:srgbClr val="7CC8FF"/>
                </a:solidFill>
                <a:latin typeface="Consolas"/>
              </a:rPr>
              <a:t>/** Por que este cliente está na lista, escrito para o vendedor ler. */</a:t>
            </a:r>
          </a:p>
          <a:p>
            <a:pPr algn="l">
              <a:lnSpc>
                <a:spcPct val="142000"/>
              </a:lnSpc>
            </a:pPr>
            <a:r>
              <a:rPr sz="1300" b="0">
                <a:solidFill>
                  <a:srgbClr val="7CC8FF"/>
                </a:solidFill>
                <a:latin typeface="Consolas"/>
              </a:rPr>
              <a:t>motivo: string;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738372"/>
            <a:ext cx="10820095" cy="105156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4022344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O COMMENT que a auditoria exigiu na terça virou documentação dentro do editor.</a:t>
            </a:r>
          </a:p>
          <a:p>
            <a:pPr algn="ctr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Metadado não é documentação para humano ler: é interface.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AGORA 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Prompt 2 · rodando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BAAC0"/>
                </a:solidFill>
                <a:latin typeface="Arial"/>
              </a:rPr>
              <a:t>Este é o deploy mais longo da imersão inteira. Não é travamento — é o compute do app nascendo.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066543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ETAPA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7448" y="2066543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TEMPO MEDIDO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4888" y="2066543"/>
            <a:ext cx="4327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O QUE ACONTECE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32303"/>
            <a:ext cx="10820095" cy="54864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599309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databricks apps init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2599309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~60s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4888" y="2599309"/>
            <a:ext cx="43278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clona o template e instala dependência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72383"/>
            <a:ext cx="10820095" cy="54864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39388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typegen + 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23938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~6s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4888" y="3239388"/>
            <a:ext cx="43278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descreve as queries no warehouse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2463"/>
            <a:ext cx="10820095" cy="54864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879468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apps deploy (1º)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8" y="387946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B9DF5"/>
                </a:solidFill>
                <a:latin typeface="Consolas"/>
              </a:rPr>
              <a:t>3m44s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3879468"/>
            <a:ext cx="43278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B9DF5"/>
                </a:solidFill>
                <a:latin typeface="Consolas"/>
              </a:rPr>
              <a:t>provisiona compute, instala, faz build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352544"/>
            <a:ext cx="10820095" cy="54864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4519548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apps deploy (2º)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448" y="451954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1m04s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4888" y="4519548"/>
            <a:ext cx="43278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daí em diante é rápido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486400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" y="5680455"/>
            <a:ext cx="1005199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Tenha os slides 29 e 30 prontos para preencher esses quatro minutos.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DEPLOY Nº 2 · PRONTO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Confira contra o banco, lado a 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" y="15544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40">
                <a:solidFill>
                  <a:srgbClr val="3B9DF5"/>
                </a:solidFill>
                <a:latin typeface="Arial"/>
              </a:rPr>
              <a:t>O QUE A TELA 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34456" y="1554480"/>
            <a:ext cx="5242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40">
                <a:solidFill>
                  <a:srgbClr val="3B9DF5"/>
                </a:solidFill>
                <a:latin typeface="Arial"/>
              </a:rPr>
              <a:t>A QUERY QUE PROVA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38528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2128837"/>
            <a:ext cx="4754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Contatos · 200 · 35 vendedores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4456" y="2128837"/>
            <a:ext cx="524225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COUNT(*) e COUNT(DISTINCT vendedor) em fila_semanal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70048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2860357"/>
            <a:ext cx="4754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Receita esperada · R$ 582.799,50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4456" y="2860357"/>
            <a:ext cx="524225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SUM(score * ticket_medio)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01568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591877"/>
            <a:ext cx="4754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B9DF5"/>
                </a:solidFill>
                <a:latin typeface="Arial"/>
              </a:rPr>
              <a:t>Conversão prevista · 43%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4456" y="3591877"/>
            <a:ext cx="524225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acertos_top200 / 200, da última versão de modelo_metricas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133087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" y="4323397"/>
            <a:ext cx="4754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Filtro · Débora Souza ·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34456" y="4323397"/>
            <a:ext cx="524225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o maior número de contatos da fila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669280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5863336"/>
            <a:ext cx="1005199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Abra o app e o SQL Editor lado a lado. Todo número da tela tem uma query atrás.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E A TERCEIRA ABA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O mesmo Genie, agora dentro do produto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3448202" cy="219456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92938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Uma definição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39086"/>
            <a:ext cx="2936138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O space do prompt 1 é o mesmo objeto. O app não tem uma cópia — ele aponta para o recurso.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1746" y="1691640"/>
            <a:ext cx="3448202" cy="219456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7778" y="192938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Duas portas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7778" y="2339086"/>
            <a:ext cx="2936138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Quem prefere a interface do Databricks abre o space. Quem vive no app pergunta na aba, sem trocar de tela.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7692" y="1691640"/>
            <a:ext cx="3448202" cy="219456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3724" y="192938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3B9DF5"/>
                </a:solidFill>
                <a:latin typeface="Arial"/>
              </a:rPr>
              <a:t>O SQL sempre à vista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3724" y="2339086"/>
            <a:ext cx="2936138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Toda resposta traz a query que a produziu. Resposta de IA sem o caminho não vai para reunião.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394960"/>
            <a:ext cx="10820095" cy="64008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5603240"/>
            <a:ext cx="100519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O diretor já tem link e já pergunta. Falta ele conseguir RESPONDER.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9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33172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200">
                <a:solidFill>
                  <a:srgbClr val="3B9DF5"/>
                </a:solidFill>
                <a:latin typeface="Arial"/>
              </a:rPr>
              <a:t>PROMPT 3 DE 3 · DEPLOY Nº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788920"/>
            <a:ext cx="103327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1" spc="-45">
                <a:solidFill>
                  <a:srgbClr val="FFFFFF"/>
                </a:solidFill>
                <a:latin typeface="Arial"/>
              </a:rPr>
              <a:t>O caminho</a:t>
            </a:r>
          </a:p>
          <a:p>
            <a:pPr algn="l">
              <a:lnSpc>
                <a:spcPct val="95000"/>
              </a:lnSpc>
            </a:pPr>
            <a:r>
              <a:rPr sz="6000" b="1" spc="-45">
                <a:solidFill>
                  <a:srgbClr val="FFFFFF"/>
                </a:solidFill>
                <a:latin typeface="Arial"/>
              </a:rPr>
              <a:t>de volta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4855464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9BAAC0"/>
                </a:solidFill>
                <a:latin typeface="Arial"/>
              </a:rPr>
              <a:t>Quatro botões. O que o vendedor responde hoje é o rótulo de treino da semana que vem.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O QUE O PROJETO AINDA NÃO SABE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O dado sai e não volta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10820095" cy="136017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38347" y="1993392"/>
            <a:ext cx="8267547" cy="13601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7CC8FF"/>
                </a:solidFill>
                <a:latin typeface="Consolas"/>
              </a:rPr>
              <a:t>   pipeline  →  score  →  fila  →  ligação  →  ???</a:t>
            </a:r>
          </a:p>
          <a:p>
            <a:pPr algn="l">
              <a:lnSpc>
                <a:spcPct val="150000"/>
              </a:lnSpc>
            </a:pPr>
            <a:r>
              <a:rPr sz="1500" b="1">
                <a:solidFill>
                  <a:srgbClr val="7CC8FF"/>
                </a:solidFill>
                <a:latin typeface="Consolas"/>
              </a:rPr>
              <a:t>                  ↑                              │</a:t>
            </a:r>
          </a:p>
          <a:p>
            <a:pPr algn="l">
              <a:lnSpc>
                <a:spcPct val="150000"/>
              </a:lnSpc>
            </a:pPr>
            <a:r>
              <a:rPr sz="1500" b="1">
                <a:solidFill>
                  <a:srgbClr val="7CC8FF"/>
                </a:solidFill>
                <a:latin typeface="Consolas"/>
              </a:rPr>
              <a:t>                  └──────────────────────────────┘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26130"/>
            <a:ext cx="10820095" cy="109728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3616706"/>
            <a:ext cx="1005199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É o pedaço mais barato do projeto inteiro — uma tabela e um botão.</a:t>
            </a:r>
          </a:p>
          <a:p>
            <a:pPr algn="ctr">
              <a:lnSpc>
                <a:spcPct val="128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E é o que separa um relatório de um produto de dados.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POR QUE ISSO IMPORTA PARA O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O retorno de hoje é o rótulo de amanhã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10820095" cy="658368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" y="1772221"/>
            <a:ext cx="43891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Como a noite 3 treinou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68696" y="1772221"/>
            <a:ext cx="56080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com comprou_em_7d, calculado do histórico de pedidos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40864"/>
            <a:ext cx="10820095" cy="658368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558605"/>
            <a:ext cx="43891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O que isso não enxerga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68696" y="2558605"/>
            <a:ext cx="56080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o cliente que não comprou PORQUE ninguém ligou para ele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27248"/>
            <a:ext cx="10820095" cy="658368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3344989"/>
            <a:ext cx="43891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B9DF5"/>
                </a:solidFill>
                <a:latin typeface="Arial"/>
              </a:rPr>
              <a:t>O que o retorno acrescenta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68696" y="3344989"/>
            <a:ext cx="56080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ligou e vendeu · ligou e não vendeu · nem ligou — três coisas diferentes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169664"/>
            <a:ext cx="10820095" cy="100584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4422648"/>
            <a:ext cx="1005199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650" b="1">
                <a:solidFill>
                  <a:srgbClr val="FFFFFF"/>
                </a:solidFill>
                <a:latin typeface="Arial"/>
              </a:rPr>
              <a:t>Sem o retorno, o modelo aprende sobre quem comprou.</a:t>
            </a:r>
          </a:p>
          <a:p>
            <a:pPr algn="ctr">
              <a:lnSpc>
                <a:spcPct val="128000"/>
              </a:lnSpc>
            </a:pPr>
            <a:r>
              <a:rPr sz="1650" b="1">
                <a:solidFill>
                  <a:srgbClr val="FFFFFF"/>
                </a:solidFill>
                <a:latin typeface="Arial"/>
              </a:rPr>
              <a:t>Com ele, aprende sobre quem foi abordado — que é a decisão real.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A DECISÃO DE ENGENHARIA DO PROMPT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Botão é interface. O enum é o contrato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10820095" cy="180975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10088575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7CC8FF"/>
                </a:solidFill>
                <a:latin typeface="Consolas"/>
              </a:rPr>
              <a:t>const RetornoSchema = z.object({</a:t>
            </a:r>
          </a:p>
          <a:p>
            <a:pPr algn="l">
              <a:lnSpc>
                <a:spcPct val="142000"/>
              </a:lnSpc>
            </a:pPr>
            <a:r>
              <a:rPr sz="1250" b="0">
                <a:solidFill>
                  <a:srgbClr val="7CC8FF"/>
                </a:solidFill>
                <a:latin typeface="Consolas"/>
              </a:rPr>
              <a:t>  cliente_id: z.number().int(),</a:t>
            </a:r>
          </a:p>
          <a:p>
            <a:pPr algn="l">
              <a:lnSpc>
                <a:spcPct val="142000"/>
              </a:lnSpc>
            </a:pPr>
            <a:r>
              <a:rPr sz="1250" b="0">
                <a:solidFill>
                  <a:srgbClr val="7CC8FF"/>
                </a:solidFill>
                <a:latin typeface="Consolas"/>
              </a:rPr>
              <a:t>  status:     z.enum(['vendeu', 'vai_pensar',</a:t>
            </a:r>
          </a:p>
          <a:p>
            <a:pPr algn="l">
              <a:lnSpc>
                <a:spcPct val="142000"/>
              </a:lnSpc>
            </a:pPr>
            <a:r>
              <a:rPr sz="1250" b="0">
                <a:solidFill>
                  <a:srgbClr val="7CC8FF"/>
                </a:solidFill>
                <a:latin typeface="Consolas"/>
              </a:rPr>
              <a:t>                      'sem_interesse', 'nao_atendeu']),</a:t>
            </a:r>
          </a:p>
          <a:p>
            <a:pPr algn="l">
              <a:lnSpc>
                <a:spcPct val="142000"/>
              </a:lnSpc>
            </a:pPr>
            <a:r>
              <a:rPr sz="1250" b="0">
                <a:solidFill>
                  <a:srgbClr val="7CC8FF"/>
                </a:solidFill>
                <a:latin typeface="Consolas"/>
              </a:rPr>
              <a:t>  comentario: z.string().max(500).default(''),</a:t>
            </a:r>
          </a:p>
          <a:p>
            <a:pPr algn="l">
              <a:lnSpc>
                <a:spcPct val="142000"/>
              </a:lnSpc>
            </a:pPr>
            <a:r>
              <a:rPr sz="1250" b="0">
                <a:solidFill>
                  <a:srgbClr val="7CC8FF"/>
                </a:solidFill>
                <a:latin typeface="Consolas"/>
              </a:rPr>
              <a:t>});   // corpo inválido → 400, sem tocar no warehouse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84270"/>
            <a:ext cx="10820095" cy="105156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FF6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396824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Se o front puder mandar status livre, em três semanas a coluna tem</a:t>
            </a:r>
          </a:p>
          <a:p>
            <a:pPr algn="ctr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“vendeu”, “Vendeu”, “vendido” e “VENDEU” — e nenhum relatório fecha.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A PERGUNTA PARA A SALA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Que permissão o app precisa para escrever?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" y="16459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40">
                <a:solidFill>
                  <a:srgbClr val="3B9DF5"/>
                </a:solidFill>
                <a:latin typeface="Arial"/>
              </a:rPr>
              <a:t>O GRANT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17336" y="1645920"/>
            <a:ext cx="5059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40">
                <a:solidFill>
                  <a:srgbClr val="3B9DF5"/>
                </a:solidFill>
                <a:latin typeface="Arial"/>
              </a:rPr>
              <a:t>O QUE ELE PERMITE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29968"/>
            <a:ext cx="10820095" cy="82296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FF6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2330005"/>
            <a:ext cx="49377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6B5A"/>
                </a:solidFill>
                <a:latin typeface="Arial"/>
              </a:rPr>
              <a:t>MODIFY no schema gold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17336" y="2330005"/>
            <a:ext cx="50593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o app pode alterar fato_vendas, os marts, a fila. Tudo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80944"/>
            <a:ext cx="10820095" cy="82296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3280981"/>
            <a:ext cx="49377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B9DF5"/>
                </a:solidFill>
                <a:latin typeface="Arial"/>
              </a:rPr>
              <a:t>MODIFY na tabela retorno_ligacao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7336" y="3280981"/>
            <a:ext cx="50593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o app só pode escrever onde ele é dono do dado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096512"/>
            <a:ext cx="10820095" cy="700659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325112"/>
            <a:ext cx="10088575" cy="7006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>
                <a:solidFill>
                  <a:srgbClr val="7CC8FF"/>
                </a:solidFill>
                <a:latin typeface="Consolas"/>
              </a:rPr>
              <a:t>GRANT MODIFY ON TABLE gold.retorno_ligacao TO `&lt;sp&gt;`;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089779"/>
            <a:ext cx="10820095" cy="658368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5307203"/>
            <a:ext cx="1005199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Em TABLE, não em SCHEMA. Permissão é desenho, não burocracia.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DEPLOY Nº 3 · PRONTO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Agora clique — e volte para o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5544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A SEQUÊNCIA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4728" y="1554480"/>
            <a:ext cx="5608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O QUE A SALA VÊ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10820095" cy="566928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96389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1 · Farmácia Serena, Goiânia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4728" y="2096389"/>
            <a:ext cx="5608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o primeiro da fila, chance de 97%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78608"/>
            <a:ext cx="10820095" cy="566928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754757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2 · comentário e “Vendeu”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24728" y="2754757"/>
            <a:ext cx="5608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o cartão vai de 0 para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36976"/>
            <a:ext cx="10820095" cy="566928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413125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3 · SELECT na retorno_ligacao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4728" y="3413125"/>
            <a:ext cx="5608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a linha está lá, com o SEU e-mail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895344"/>
            <a:ext cx="10820095" cy="566928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4071493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4 · a mesma pergunta ao Genie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24728" y="4071493"/>
            <a:ext cx="5608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B9DF5"/>
                </a:solidFill>
                <a:latin typeface="Consolas"/>
              </a:rPr>
              <a:t>responde 1 e 1 — e há 20 min respondia zero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394960"/>
            <a:ext cx="10820095" cy="658368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5604256"/>
            <a:ext cx="1005199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Nenhuma linha do Genie mudou. Mudou o dado embaixo dele.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O QUE EXISTE AGORA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O ciclo fechado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820095" cy="156972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75407" y="1947672"/>
            <a:ext cx="8930487" cy="156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7CC8FF"/>
                </a:solidFill>
                <a:latin typeface="Consolas"/>
              </a:rPr>
              <a:t>  CSV  →  bronze  →  silver  →  gold  →  modelo  →  fila  →  app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7CC8FF"/>
                </a:solidFill>
                <a:latin typeface="Consolas"/>
              </a:rPr>
              <a:t>                                  ↑                              │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7CC8FF"/>
                </a:solidFill>
                <a:latin typeface="Consolas"/>
              </a:rPr>
              <a:t>                                  │        retorno da ligação    │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7CC8FF"/>
                </a:solidFill>
                <a:latin typeface="Consolas"/>
              </a:rPr>
              <a:t>                                  └──────────────────────────────┘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489960"/>
            <a:ext cx="10820095" cy="109728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3788664"/>
            <a:ext cx="1005199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650" b="1">
                <a:solidFill>
                  <a:srgbClr val="FFFFFF"/>
                </a:solidFill>
                <a:latin typeface="Arial"/>
              </a:rPr>
              <a:t>Quatro noites. Um catálogo, um pipeline de 16 tarefas, um modelo, dois Genies e um app.</a:t>
            </a:r>
          </a:p>
          <a:p>
            <a:pPr algn="ctr">
              <a:lnSpc>
                <a:spcPct val="128000"/>
              </a:lnSpc>
            </a:pPr>
            <a:r>
              <a:rPr sz="1650" b="1">
                <a:solidFill>
                  <a:srgbClr val="FFFFFF"/>
                </a:solidFill>
                <a:latin typeface="Arial"/>
              </a:rPr>
              <a:t>E o dado dá a volta inteira.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UMA QUERY SÓ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A imersão inteira, em quatro linhas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6002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ETAPA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7448" y="16002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NÚMERO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22007" y="1600200"/>
            <a:ext cx="45107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20">
                <a:solidFill>
                  <a:srgbClr val="3B9DF5"/>
                </a:solidFill>
                <a:latin typeface="Arial"/>
              </a:rPr>
              <a:t>O QUE 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10820095" cy="566928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42109"/>
            <a:ext cx="3566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noite 1 · o dado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2142109"/>
            <a:ext cx="1920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28.729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2007" y="2142109"/>
            <a:ext cx="45107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pedidos que chegaram do ERP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624328"/>
            <a:ext cx="10820095" cy="566928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800477"/>
            <a:ext cx="3566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noite 2 · o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800477"/>
            <a:ext cx="1920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191.080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7" y="2800477"/>
            <a:ext cx="45107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linhas em gold.fato_vendas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82696"/>
            <a:ext cx="10820095" cy="566928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458845"/>
            <a:ext cx="3566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noite 3 · a decisão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458845"/>
            <a:ext cx="1920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3458845"/>
            <a:ext cx="45107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AAC0"/>
                </a:solidFill>
                <a:latin typeface="Consolas"/>
              </a:rPr>
              <a:t>contatos na fila desta semana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41063"/>
            <a:ext cx="10820095" cy="566928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117213"/>
            <a:ext cx="3566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noite 4 · o retorno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4117213"/>
            <a:ext cx="1920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B9DF5"/>
                </a:solidFill>
                <a:latin typeface="Consola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7" y="4117213"/>
            <a:ext cx="45107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B9DF5"/>
                </a:solidFill>
                <a:latin typeface="Consolas"/>
              </a:rPr>
              <a:t>ligações que o time registrou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486400"/>
            <a:ext cx="10820095" cy="64008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5694679"/>
            <a:ext cx="100519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A última linha só tem número porque alguém clicou num botão aqui, agora.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NÃO É UM CURSO QUE VOCÊ ASSISTIU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O que fica com você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448202" cy="228600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83794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Um repositório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47646"/>
            <a:ext cx="293613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Bundle versionado, 16 tarefas, testes que quebram o job, dois Genies e um app. Tudo em código, tudo no Git.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1746" y="1600200"/>
            <a:ext cx="3448202" cy="2286000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7778" y="183794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Um caso de negócio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7778" y="2247646"/>
            <a:ext cx="293613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“4,25× mais pedidos com a mesma equipe” é uma frase de entrevista. E você sabe explicar cada número dela.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7692" y="1600200"/>
            <a:ext cx="3448202" cy="228600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3724" y="183794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3B9DF5"/>
                </a:solidFill>
                <a:latin typeface="Arial"/>
              </a:rPr>
              <a:t>Um método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3724" y="2247646"/>
            <a:ext cx="293613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9BAAC0"/>
                </a:solidFill>
                <a:latin typeface="Arial"/>
              </a:rPr>
              <a:t>Prompt, deploy, conferência contra o banco. Repetido quinze vezes em quatro noites.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394960"/>
            <a:ext cx="10820095" cy="640080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5603240"/>
            <a:ext cx="100519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Rode o 99-limpar de cada noite e refaça sozinho. É aí que assenta.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80">
                <a:solidFill>
                  <a:srgbClr val="3B9DF5"/>
                </a:solidFill>
                <a:latin typeface="Arial"/>
              </a:rPr>
              <a:t>SE VOCÊ QUER CONTINUAR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 spc="-30">
                <a:solidFill>
                  <a:srgbClr val="FFFFFF"/>
                </a:solidFill>
                <a:latin typeface="Arial"/>
              </a:rPr>
              <a:t>Por onde seguir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20">
                <a:solidFill>
                  <a:srgbClr val="566A85"/>
                </a:solidFill>
                <a:latin typeface="Arial"/>
              </a:rPr>
              <a:t>JORNADA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" y="1744789"/>
            <a:ext cx="493775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Refazer as quatro noites sozinho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17336" y="1744789"/>
            <a:ext cx="505937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os scripts 99-limpar devolvem o ambiente ao estado anterior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86000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476309"/>
            <a:ext cx="493775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Trocar o dataset pelo seu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17336" y="2476309"/>
            <a:ext cx="505937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o formato é CSV; a sujeira do seu ERP é mais interessante que a nossa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17520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0D1522"/>
          </a:solidFill>
          <a:ln w="15875">
            <a:solidFill>
              <a:srgbClr val="1F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3207829"/>
            <a:ext cx="493775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Agendar o job e monitorar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17336" y="3207829"/>
            <a:ext cx="505937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o pipeline já é agendado — falta você olhar o que ele faz sem você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49039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3939349"/>
            <a:ext cx="493775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B9DF5"/>
                </a:solidFill>
                <a:latin typeface="Arial"/>
              </a:rPr>
              <a:t>Retreinar com o retorno 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7336" y="3939349"/>
            <a:ext cx="505937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BAAC0"/>
                </a:solidFill>
                <a:latin typeface="Arial"/>
              </a:rPr>
              <a:t>daqui a um mês, gold.retorno_ligacao tem dado suficiente para virar rótulo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669280"/>
            <a:ext cx="10820095" cy="603504"/>
          </a:xfrm>
          <a:prstGeom prst="roundRect">
            <a:avLst>
              <a:gd name="adj" fmla="val 8000"/>
            </a:avLst>
          </a:prstGeom>
          <a:solidFill>
            <a:srgbClr val="142337"/>
          </a:solidFill>
          <a:ln w="19050">
            <a:solidFill>
              <a:srgbClr val="3B9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5863336"/>
            <a:ext cx="1005199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O último item é o projeto ficando mais inteligente sozinho — porque o ciclo fechou.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9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2331720"/>
            <a:ext cx="981151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3400" b="1" spc="-20">
                <a:solidFill>
                  <a:srgbClr val="FFFFFF"/>
                </a:solidFill>
                <a:latin typeface="Arial"/>
              </a:rPr>
              <a:t>Segunda, uma query quebrou.</a:t>
            </a:r>
          </a:p>
          <a:p>
            <a:pPr algn="ctr">
              <a:lnSpc>
                <a:spcPct val="135000"/>
              </a:lnSpc>
            </a:pPr>
            <a:r>
              <a:rPr sz="3400" b="1" spc="-20">
                <a:solidFill>
                  <a:srgbClr val="FFFFFF"/>
                </a:solidFill>
                <a:latin typeface="Arial"/>
              </a:rPr>
              <a:t>Hoje, um clique virou uma linha na gold.</a:t>
            </a:r>
          </a:p>
          <a:p>
            <a:pPr algn="ctr">
              <a:lnSpc>
                <a:spcPct val="135000"/>
              </a:lnSpc>
            </a:pPr>
            <a:r>
              <a:rPr sz="3400" b="1" spc="-20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lnSpc>
                <a:spcPct val="135000"/>
              </a:lnSpc>
            </a:pPr>
            <a:r>
              <a:rPr sz="3400" b="1" spc="-20">
                <a:solidFill>
                  <a:srgbClr val="FFFFFF"/>
                </a:solidFill>
                <a:latin typeface="Arial"/>
              </a:rPr>
              <a:t>E vocês construíram junto. Não assistiram.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