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IMERSÃO · 24 A 27 DE AGOSTO · 19H30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Construa uma área de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e Vendas do zero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11480" y="3401568"/>
            <a:ext cx="2331720" cy="4572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+ 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34015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01 · Objetivo e a primeira análise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CONTRATO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sai daqui com 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rodando.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2286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é a aula mais estratégica das quatro. Mas eu não vou te deixar sair sem código: nos últimos 40 minutos a gente monta o ambiente e faz a primeira análise juntos.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negócio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2648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área comercial realmente vende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2888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34056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34056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os sistemas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34056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CRM e os outros que sempre aparecem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55464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o ambiente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855464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Free Edition, sem cartão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75704" y="3200400"/>
            <a:ext cx="1956816" cy="1572768"/>
          </a:xfrm>
          <a:prstGeom prst="roundRect">
            <a:avLst>
              <a:gd name="adj" fmla="val 290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76872" y="36393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Analisar em 4 ambientes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76872" y="416966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Web, SQL, Genie e Claude Code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noites, 4 camadas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 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Análise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negócio, os sistemas e a primeira análise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 25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Medallion, Delta, pipeline e testes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 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+ Agentes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 e o agente de 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4884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13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27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5877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1810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Colocar no ar e defender internamente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noite entrega alguma coisa que roda. E cada noite abre o problema que a seguinte resolve.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ser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Analista de dados na Rota do Perfume. Primeiro dia.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PRIMEIRA SEMANA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 diretoria já quer tudo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920240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COMERCIAL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926080" y="1920240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foi nossa receita esse mês?"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2633472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3347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 DE VENDAS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0" y="2633472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"Quais são os melhores clientes?"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3346704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46704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DIRETORIA DE PREÇOS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3346704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"Onde a gente está perdendo margem?"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4059936"/>
            <a:ext cx="8321040" cy="603504"/>
          </a:xfrm>
          <a:prstGeom prst="roundRect">
            <a:avLst>
              <a:gd name="adj" fmla="val 7576"/>
            </a:avLst>
          </a:prstGeom>
          <a:solidFill>
            <a:srgbClr val="142337"/>
          </a:solidFill>
          <a:ln w="19050">
            <a:solidFill>
              <a:srgbClr val="3B9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59936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26080" y="4059936"/>
            <a:ext cx="5577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"Preciso disso para ontem."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combinados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tenta fazer junto agora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 primeiro. O vídeo fica gravado e o repositório é seu.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192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no fim das aulas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41192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Formulário único liberado na última noite.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8568" y="2103120"/>
            <a:ext cx="2663952" cy="1828800"/>
          </a:xfrm>
          <a:prstGeom prst="roundRect">
            <a:avLst>
              <a:gd name="adj" fmla="val 2500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9736" y="226771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9736" y="254203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Sorteio de 1:1 comigo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9736" y="3072384"/>
            <a:ext cx="2261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de carreira, eu e você planejando.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uma área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vende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abrir qualquer ferramenta.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DA VENDA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da Rota do Perfume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84248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21992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21992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03320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41064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41064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22392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0136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0136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41464" y="2011680"/>
            <a:ext cx="2377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79208" y="2011680"/>
            <a:ext cx="1481328" cy="914400"/>
          </a:xfrm>
          <a:prstGeom prst="roundRect">
            <a:avLst>
              <a:gd name="adj" fmla="val 5000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201168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perfumaria a recompra é tudo: o cliente volta pelo lançamento e some quando falta o produto da moda.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NESSA HISTÓRIA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atores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uma carteira de clientes. Visita, tira pedido, sofre com meta.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34056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Perfumaria, farmácia, revendedora. Compra por marca e por giro.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 comercial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55464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 número, distribui carteira, decide onde apertar.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2148840"/>
            <a:ext cx="1956816" cy="1783080"/>
          </a:xfrm>
          <a:prstGeom prst="roundRect">
            <a:avLst>
              <a:gd name="adj" fmla="val 2564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235000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76872" y="2898648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analista que precisa transformar tudo isso em decisão.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IMPORTA DE VERDADE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área comercial quer</a:t>
            </a:r>
            <a:endParaRPr lang="en-US" sz="30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três perguntas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vai comprar?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está sumindo?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7472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2514600"/>
            <a:ext cx="2697480" cy="1417320"/>
          </a:xfrm>
          <a:prstGeom prst="roundRect">
            <a:avLst>
              <a:gd name="adj" fmla="val 3226"/>
            </a:avLst>
          </a:prstGeom>
          <a:solidFill>
            <a:srgbClr val="0D1522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96265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vamos vender?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09360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seu dashboard não responde nenhuma dessas, ele não vai ser aberto.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trava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0370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1031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Ruptura no perfume da moda: a venda não migra para outro, ela some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2432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5237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que comprava todo mês e sumiu — e ninguém percebeu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04495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9443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que não chegou na carteira certa, no mês certo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6557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649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 desligado e a carteira dele ficou órfã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8561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no kit presente, que já é a categoria de menor margem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 desses é um problema de dado. E cada um vira uma coluna no nosso projeto.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INSIGHT DO SETOR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distribuidora vende antes da data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11480" y="17190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varejo precisa estar abastecido quando o consumidor chega. Então o pico da Rota do Perfume é sempre o mês anterior.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8056" y="3264408"/>
            <a:ext cx="603504" cy="548640"/>
          </a:xfrm>
          <a:prstGeom prst="roundRect">
            <a:avLst>
              <a:gd name="adj" fmla="val 5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43000" y="3154680"/>
            <a:ext cx="603504" cy="658368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FEV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37944" y="3008376"/>
            <a:ext cx="603504" cy="804672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37944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32888" y="2487168"/>
            <a:ext cx="603504" cy="1325880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27832" y="2971800"/>
            <a:ext cx="603504" cy="841248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22776" y="2624328"/>
            <a:ext cx="603504" cy="1188720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2277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17720" y="3081528"/>
            <a:ext cx="603504" cy="731520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12664" y="3044952"/>
            <a:ext cx="603504" cy="768096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12664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007608" y="2944368"/>
            <a:ext cx="603504" cy="868680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02552" y="2395728"/>
            <a:ext cx="603504" cy="1417320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02552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397496" y="2624328"/>
            <a:ext cx="603504" cy="1188720"/>
          </a:xfrm>
          <a:prstGeom prst="roundRect">
            <a:avLst>
              <a:gd name="adj" fmla="val 454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92440" y="3154680"/>
            <a:ext cx="603504" cy="658368"/>
          </a:xfrm>
          <a:prstGeom prst="roundRect">
            <a:avLst>
              <a:gd name="adj" fmla="val 4545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0" y="3895344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DEZ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46304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6304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 · Dia das Mães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0332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· Namorados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0" y="4224528"/>
            <a:ext cx="2103120" cy="402336"/>
          </a:xfrm>
          <a:prstGeom prst="roundRect">
            <a:avLst>
              <a:gd name="adj" fmla="val 11364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4224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· Black Friday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Dezembro e janeiro são vale, não pico. Quem não entende o negócio lê o gráfico ao contrário.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gente escopa um</a:t>
            </a:r>
            <a:endParaRPr lang="en-US" sz="2900" dirty="0"/>
          </a:p>
          <a:p>
            <a:pPr indent="0" marL="0">
              <a:lnSpc>
                <a:spcPts val="35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na consultoria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são os atores e onde o processo trava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41192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Escolher o alvo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441192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todos os travamentos, qual atacar primeiro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68568" y="2468880"/>
            <a:ext cx="2663952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9736" y="2633472"/>
            <a:ext cx="2261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9736" y="2907792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o entregável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69736" y="3438144"/>
            <a:ext cx="22616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existir e como saber que funcionou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é a lógica do Design Sprint, adaptada. Na consultoria é um processo de dias, com o cliente na sala. Hoje eu comprimi para caber numa noite.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onde vem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de uma operação comercial.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— o que foi vendido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da transação. Ele sabe tudo o que já aconteceu no caixa.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cliente, vendedor, canal, status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do pedido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34056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SKU, quantidade, preço praticado, desconto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5464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Marca, nota olfativa, preço, custo, lançamento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Estoque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SKU e flag de ruptura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ERP é ótimo no passado e cego no futuro. Ele nunca vai te dizer quem vai comprar amanhã.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— para quem a gente vende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sistema do relacionamento. Ele sabe o contexto que o ERP não vê.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CNPJ, segmento, cidade — 12 capitais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2734056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vendedor atende qual cliente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54296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55464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resultado: pedido, sem pedido, não atendeu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75704" y="2468880"/>
            <a:ext cx="1956816" cy="1554480"/>
          </a:xfrm>
          <a:prstGeom prst="roundRect">
            <a:avLst>
              <a:gd name="adj" fmla="val 2941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67004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76872" y="3218688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foi conversado e prometido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Visita sem pedido é o dado mais subestimado de uma operação comercial.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eles quase nunca conversam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2103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o que foi vendido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6360" y="210312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0" y="2304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27249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para quem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2487168"/>
            <a:ext cx="914400" cy="603504"/>
          </a:xfrm>
          <a:prstGeom prst="roundRect">
            <a:avLst>
              <a:gd name="adj" fmla="val 5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487168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a empresa não sabe responder as três perguntas. O dado existe — só não está no mesmo lugar. Juntar os dois é o trabalho da quarta-feira.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TEM MAIS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que ninguém coloca no slide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12648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Carrinho, catálogo, comportamento de navegação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32888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34056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 do gerente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34056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 todo mundo usa e ninguém assume que existe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54296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do vendedor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55464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de verdade acontece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75704" y="2286000"/>
            <a:ext cx="1956816" cy="1691640"/>
          </a:xfrm>
          <a:prstGeom prst="roundRect">
            <a:avLst>
              <a:gd name="adj" fmla="val 270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248716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legado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976872" y="303580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Aquele que só uma pessoa sabe mexer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NOSSO PROJETO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tabelas da Rota do Perfume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2491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75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057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22592" y="215798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22592" y="245973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292608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3026664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estoque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22592" y="3328416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meses · 3.040 clientes · R$ 102 mi de receita · 198 mil itens vendidos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que 449 de vocês escolheram.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449 VOTOS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VOCÊS ESCOLHERAM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— 48% dos votos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411480" y="2057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212140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212140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0" y="20574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97480" y="262432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2624328"/>
            <a:ext cx="256032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560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0632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312724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97480" y="3127248"/>
            <a:ext cx="181356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0" y="30632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35661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3630168"/>
            <a:ext cx="5120640" cy="182880"/>
          </a:xfrm>
          <a:prstGeom prst="roundRect">
            <a:avLst>
              <a:gd name="adj" fmla="val 50000"/>
            </a:avLst>
          </a:prstGeom>
          <a:solidFill>
            <a:srgbClr val="1423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3630168"/>
            <a:ext cx="1066800" cy="182880"/>
          </a:xfrm>
          <a:prstGeom prst="roundRect">
            <a:avLst>
              <a:gd name="adj" fmla="val 50000"/>
            </a:avLst>
          </a:prstGeom>
          <a:solidFill>
            <a:srgbClr val="2740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5661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66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moda. Na RedRex, minha consultoria, a gente montou um time dedicado a Databricks por causa da demanda que chega. Em algum momento da carreira você vai esbarrar com ele.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CONCEITO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Lakehouse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74520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87452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154680" y="1874520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Organizado e rápido. Mas caro, e não aguenta dado bruto.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2660904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609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154680" y="2660904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 tudo. Mas vira pântano sem governança.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3447288"/>
            <a:ext cx="8321040" cy="676656"/>
          </a:xfrm>
          <a:prstGeom prst="roundRect">
            <a:avLst>
              <a:gd name="adj" fmla="val 675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47288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154680" y="3447288"/>
            <a:ext cx="5303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dois: dado bruto no barato, com transação e governança em cima.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 é o formato que faz isso funcionar: versionamento, transação e time travel em cima de arquivo.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CARTÃO, SEM PEGADINHA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roda no Free Edition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proposital: eu quero que você consiga repetir do seu lado, sem depender de empresa nenhuma.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dá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SQL, notebooks, catálogo, dashboards, jobs e agentes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serverless, sem cluster para configurar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cuidado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 cota de uso. Ligue o compute só na hora da aula.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estourar a cota, o ambiente desliga pelo resto do dia. Seus dados ficam — só o compute para.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seu dado mora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subir qualquer arquivo, entenda a hierarquia. É ela que você vai criar daqui a pouco.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286000"/>
            <a:ext cx="8321040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286000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METASTORE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94560" y="2286000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topo de tudo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23360" y="228600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governança é definida, um por região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" y="2852928"/>
            <a:ext cx="7936992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8529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578608" y="2852928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agrupamento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407408" y="2852928"/>
            <a:ext cx="4096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ambientes: dev, prod, ou por área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79576" y="3419856"/>
            <a:ext cx="7552944" cy="530352"/>
          </a:xfrm>
          <a:prstGeom prst="roundRect">
            <a:avLst>
              <a:gd name="adj" fmla="val 8621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3419856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62656" y="3419856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pasta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91456" y="3419856"/>
            <a:ext cx="3712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agrupa tabelas de um mesmo assunto: erp, crm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563624" y="3986784"/>
            <a:ext cx="7168896" cy="530352"/>
          </a:xfrm>
          <a:prstGeom prst="roundRect">
            <a:avLst>
              <a:gd name="adj" fmla="val 8621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73936" y="3986784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46704" y="3986784"/>
            <a:ext cx="1737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175504" y="3986784"/>
            <a:ext cx="33284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tabela em si, em formato Delta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rota_perfume.erp.pedidos   →   catálogo . schema . tabela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CONCEITO QUE CONFUNDE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vs External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é simples: quem manda no arquivo.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1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Databricks gerencia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751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cria, ele decide onde guardar. Se você apagar a tabela, o arquivo some junto.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6751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por padrão. É mais simples e é o que a gente vai fazer.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4023360" cy="2057400"/>
          </a:xfrm>
          <a:prstGeom prst="roundRect">
            <a:avLst>
              <a:gd name="adj" fmla="val 2667"/>
            </a:avLst>
          </a:prstGeom>
          <a:solidFill>
            <a:srgbClr val="0D1522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256032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65192" y="2871216"/>
            <a:ext cx="3511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aponta o caminho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65192" y="3218688"/>
            <a:ext cx="3511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arquivo fica onde você mandou. Apagar a tabela não apaga o dado.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65192" y="3877056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quando o dado já existe em outro lugar ou é compartilhado.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 POR BAIXO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uma query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778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288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marca, SUM(receita) FROM rota_perfume.gold.fato_vendas GROUP BY 1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Catalog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permissão de ler essa tabela?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2316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2491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Metastore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2491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estão os arquivos dessa tabela?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7375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só as colunas e partições necessárias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20840" y="2743200"/>
            <a:ext cx="137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0" y="2743200"/>
            <a:ext cx="2011680" cy="1325880"/>
          </a:xfrm>
          <a:prstGeom prst="roundRect">
            <a:avLst>
              <a:gd name="adj" fmla="val 3448"/>
            </a:avLst>
          </a:prstGeom>
          <a:solidFill>
            <a:srgbClr val="3B9DF5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2880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22592" y="312724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22592" y="343814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Volta para você — e fica no log de auditoria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consulta passa por governança antes de tocar no dado. É isso que separa um lakehouse de uma pasta com arquivos.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GENTE VAI CHEGAR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arquitetura da semana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965960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65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36192" y="1783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 análise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7830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pergunta e os 4 ambientes de resposta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41448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96312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679192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6791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36192" y="249631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 · Databricks + Delta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49631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medallion, pipeline e testes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154680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209544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3392424"/>
            <a:ext cx="777240" cy="292608"/>
          </a:xfrm>
          <a:prstGeom prst="roundRect">
            <a:avLst>
              <a:gd name="adj" fmla="val 1562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924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3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36192" y="320954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320954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 e score versionado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867912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922776"/>
            <a:ext cx="8321040" cy="658368"/>
          </a:xfrm>
          <a:prstGeom prst="roundRect">
            <a:avLst>
              <a:gd name="adj" fmla="val 6944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92277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IA em produção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80560" y="392277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 rodando sozinha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2148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montar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ambiente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D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databricks.com/learn/free-edition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primeira análise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dia de trabalho. Ninguém te deu documentação.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faz no primeiro dia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57200" y="215798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0574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Olhar o que existe: quantas tabelas, quantas linhas, qual período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7860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47802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volume: quantos clientes, quantos pedidos, qual ticket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992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986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Achar o eixo do negócio: faturamento no tempo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192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Procurar o extremo: quem compra mais, quem compra menos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398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Desconfiar: sempre tem sujeira, e é melhor achar agora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 no que eu vou fazer: eu não venho com a query pronta. Venho com a pergunta. A query é consequência.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VAMOS RESPONDER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pergunta só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783080"/>
            <a:ext cx="8321040" cy="777240"/>
          </a:xfrm>
          <a:prstGeom prst="roundRect">
            <a:avLst>
              <a:gd name="adj" fmla="val 7059"/>
            </a:avLst>
          </a:prstGeom>
          <a:solidFill>
            <a:srgbClr val="142337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7830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foi nossa receita e quem são os melhores clientes?"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quatro ambientes diferentes para responder ela.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0662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0662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Databricks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0D1522"/>
          </a:solidFill>
          <a:ln w="16510">
            <a:solidFill>
              <a:srgbClr val="1F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3B9DF5"/>
          </a:solidFill>
          <a:ln w="16510">
            <a:solidFill>
              <a:srgbClr val="3B9D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04304" y="32918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04304" y="3529584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sobre qual é o melhor. É sobre saber qual usar em cada situação.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 um CSV, pergunta em português, tem resposta. Sem escrever uma linha de código.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Rápido para explorar uma hipótese e entender um dado novo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 pouco dado, não se repete sozinho e não é governado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Investigação pontual, nunca para operar a empresa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Ótimo para explorar. Ruim para operar.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no Databricks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pergunta, agora na base inteira. Preciso, reproduzível e auditável.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Escala, precisão e o resultado é sempre o mesmo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precisa saber SQL e conhecer o modelo de dados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que o número for para alguém tomar decisão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por isso que SQL não morreu — e não vai morrer tão cedo.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 em português, mas sobre o dado governado do Databricks.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pessoa da empresa consulta sem saber 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2032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dado estiver bagunçado, ele erra com confiança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modelo já está limpo, modelado e documentado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é o ponto da semana: Genie só funciona bem em cima de dado bem construído.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874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não responde pergunta. Ele constrói.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ganha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o código, roda no seu ambiente e versiona no Git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0024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1192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perde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41192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contexto e de alguém que saiba revisar o resultado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68568" y="2514600"/>
            <a:ext cx="2663952" cy="1600200"/>
          </a:xfrm>
          <a:prstGeom prst="roundRect">
            <a:avLst>
              <a:gd name="adj" fmla="val 2857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9736" y="2715768"/>
            <a:ext cx="2261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usar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9736" y="3264408"/>
            <a:ext cx="22616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o trabalho é construir, não consultar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entre pedir uma análise e ter alguém trabalhando pra você.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CONCLUSÃO DE HOJE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separa demo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produção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1343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21284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Genie foi o mais confortável de todos — pergunta em português, resposta na hora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3405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63347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ele só acertou porque o dado estava razoável e eu sabia o que perguntar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05409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dado bagunçado, IA erra com confiança — e ninguém percebe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57530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4747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 a gente arruma esse dado de verdade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9592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895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aí o Genie deixa de ser demo e vira ferramenta que a empresa inteira usa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4315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 não é o que a IA substitui. É o que faz a IA funcionar.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para o código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114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e dataset no link da descrição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COMPLETA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dado bruto à decisão comercial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1572768" cy="2331720"/>
          </a:xfrm>
          <a:prstGeom prst="roundRect">
            <a:avLst>
              <a:gd name="adj" fmla="val 3488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01952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2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12848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6928" y="2688336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688336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3163824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163824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3639312"/>
            <a:ext cx="1078992" cy="365760"/>
          </a:xfrm>
          <a:prstGeom prst="can">
            <a:avLst/>
          </a:prstGeom>
          <a:solidFill>
            <a:srgbClr val="142337"/>
          </a:solidFill>
          <a:ln w="11430">
            <a:solidFill>
              <a:srgbClr val="3B9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63931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9280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5000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000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25856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INGESTÃO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5856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pipeline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58444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4164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95020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LAKEHOUSE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5020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+ medallion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7608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1783080"/>
            <a:ext cx="1463040" cy="2331720"/>
          </a:xfrm>
          <a:prstGeom prst="roundRect">
            <a:avLst>
              <a:gd name="adj" fmla="val 3750"/>
            </a:avLst>
          </a:prstGeom>
          <a:solidFill>
            <a:srgbClr val="0D1522"/>
          </a:solidFill>
          <a:ln w="15240">
            <a:solidFill>
              <a:srgbClr val="1F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33288" y="1938528"/>
            <a:ext cx="1060704" cy="237744"/>
          </a:xfrm>
          <a:prstGeom prst="roundRect">
            <a:avLst>
              <a:gd name="adj" fmla="val 15385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193852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41848" y="265176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41848" y="2999232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propensão de compra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67728" y="2761488"/>
            <a:ext cx="237744" cy="256032"/>
          </a:xfrm>
          <a:prstGeom prst="rightArrow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9480" y="1783080"/>
            <a:ext cx="1554480" cy="2331720"/>
          </a:xfrm>
          <a:prstGeom prst="roundRect">
            <a:avLst>
              <a:gd name="adj" fmla="val 3529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0" y="1938528"/>
            <a:ext cx="1097280" cy="237744"/>
          </a:xfrm>
          <a:prstGeom prst="roundRect">
            <a:avLst>
              <a:gd name="adj" fmla="val 15385"/>
            </a:avLst>
          </a:prstGeom>
          <a:solidFill>
            <a:srgbClr val="CDE8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19385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360920" y="254203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3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IA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6092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D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ligar hoje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noites, quatro camadas. No fim, o vendedor abre o celular e já sabe para quem ligar.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AS TABELAS SE LIGAM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modelo da Rota do Perfume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411480" y="173736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73736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949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 *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3949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cnpj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3949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segmento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949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cidade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11480" y="306324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063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39496" y="33924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 *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39496" y="3584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9496" y="37764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regiao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06040" y="173736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173736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carteira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3405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73405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73405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data_inicio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606040" y="297180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6FA8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2971800"/>
            <a:ext cx="1783080" cy="292608"/>
          </a:xfrm>
          <a:prstGeom prst="rect">
            <a:avLst/>
          </a:prstGeom>
          <a:solidFill>
            <a:srgbClr val="6FA8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06040" y="29718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E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oportunidades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734056" y="3300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34056" y="34930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etapa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734056" y="368503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734056" y="38770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motivo_perda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846320" y="1737360"/>
            <a:ext cx="1783080" cy="1344168"/>
          </a:xfrm>
          <a:prstGeom prst="roundRect">
            <a:avLst>
              <a:gd name="adj" fmla="val 3401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173736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7433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 *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7433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cliente_id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97433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vendedor_id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7433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974336" y="28346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46320" y="3246120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46320" y="324612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pagamentos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74336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74336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74336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040880" y="173736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040880" y="173736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173736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itens_pedido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168896" y="206654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pedido_id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168896" y="22585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7168896" y="245059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quantidade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168896" y="26426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40880" y="3246120"/>
            <a:ext cx="1783080" cy="1152144"/>
          </a:xfrm>
          <a:prstGeom prst="roundRect">
            <a:avLst>
              <a:gd name="adj" fmla="val 3968"/>
            </a:avLst>
          </a:prstGeom>
          <a:solidFill>
            <a:srgbClr val="0D1522"/>
          </a:solidFill>
          <a:ln w="15240">
            <a:solidFill>
              <a:srgbClr val="3B9D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040880" y="3246120"/>
            <a:ext cx="1783080" cy="292608"/>
          </a:xfrm>
          <a:prstGeom prst="rect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324612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68896" y="35753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B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sku *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168896" y="37673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categoria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168896" y="3959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168896" y="41513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194560" y="201168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194560" y="329184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89120" y="2011680"/>
            <a:ext cx="45720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389120" y="3200400"/>
            <a:ext cx="457200" cy="36576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629400" y="201168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29400" y="3520440"/>
            <a:ext cx="411480" cy="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27848" y="2788920"/>
            <a:ext cx="0" cy="457200"/>
          </a:xfrm>
          <a:prstGeom prst="line">
            <a:avLst/>
          </a:prstGeom>
          <a:noFill/>
          <a:ln w="13970">
            <a:solidFill>
              <a:srgbClr val="3D5A7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FA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CRM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28016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ERP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286000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da noite 2 é ligar esses dois lados. Hoje eles vivem em sistemas separados.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FUNIL COMERCIAL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a venda vaza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170078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5.979 oportunidades em 24 meses. É isso que o CRM guarda e quase ninguém analisa.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rot="10800000">
            <a:off x="2788920" y="2176272"/>
            <a:ext cx="356616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37960" y="21762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rot="10800000">
            <a:off x="2994660" y="2670048"/>
            <a:ext cx="315468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4660" y="26700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32220" y="26700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10800000">
            <a:off x="3200400" y="3163824"/>
            <a:ext cx="274320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31638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enviada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316382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1.064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3406140" y="3657600"/>
            <a:ext cx="2331720" cy="457200"/>
          </a:xfrm>
          <a:prstGeom prst="trapezoid">
            <a:avLst/>
          </a:prstGeom>
          <a:solidFill>
            <a:srgbClr val="142337"/>
          </a:solidFill>
          <a:ln w="13970">
            <a:solidFill>
              <a:srgbClr val="1F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61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0740" y="3657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AA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34440" y="44805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1.511 ganhas · R$ 37,2 mi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09160" y="448056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0D1522"/>
          </a:solidFill>
          <a:ln w="16510">
            <a:solidFill>
              <a:srgbClr val="8A6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B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790 perdidas · R$ 19,1 mi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11480" y="41330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Motivo de perda nº 1: prazo de entrega. Está gravado no CRM desde sempre.</a:t>
            </a:r>
            <a:endParaRPr lang="en-US" sz="11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DOS 4 AMBIENTES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 usar em cada situação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411480" y="184708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9748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0624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Reproduz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23760" y="184708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311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9748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2311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980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Databricks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69748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71500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3760" y="2798064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11480" y="3364992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3649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69748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1500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336499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8321040" cy="548640"/>
          </a:xfrm>
          <a:prstGeom prst="roundRect">
            <a:avLst>
              <a:gd name="adj" fmla="val 8333"/>
            </a:avLst>
          </a:prstGeom>
          <a:solidFill>
            <a:srgbClr val="142337"/>
          </a:solidFill>
          <a:ln w="19050">
            <a:solidFill>
              <a:srgbClr val="3B9D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69748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0624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71500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3931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 substitui o outro. O erro é usar o confortável quando a situação pede o preciso.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TEM AGORA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da noite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negócio mapeado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Rota do Perfume vende e onde ela trava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34056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34056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sistemas identificados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734056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ERP, CRM e as tabelas de cada um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55464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 rodando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855464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Free Edition com o dado no catálogo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75704" y="2194560"/>
            <a:ext cx="1956816" cy="1737360"/>
          </a:xfrm>
          <a:prstGeom prst="roundRect">
            <a:avLst>
              <a:gd name="adj" fmla="val 2632"/>
            </a:avLst>
          </a:prstGeom>
          <a:solidFill>
            <a:srgbClr val="0D1522"/>
          </a:solidFill>
          <a:ln w="12700">
            <a:solidFill>
              <a:srgbClr val="1F3A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76872" y="23591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76872" y="263347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ambientes testados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76872" y="3163824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Web, SQL, Genie e Claude Code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AMANHÃ · TERÇA 25/08 · 19H30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de dados: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passa a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rodar sozinho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980944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8803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Limpeza de verdade: CNPJ duplicado, data em dois formatos, cancelado sem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30098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medallion: bronze, silver e gold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22192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7216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Lake, governança e linhagem no catálogo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42816"/>
            <a:ext cx="91440" cy="91440"/>
          </a:xfrm>
          <a:prstGeom prst="ellips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41422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F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agendado, carga incremental e testes de qualidade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0C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00000">
            <a:off x="7635240" y="-658368"/>
            <a:ext cx="1554480" cy="1325880"/>
          </a:xfrm>
          <a:prstGeom prst="triangle">
            <a:avLst/>
          </a:prstGeom>
          <a:solidFill>
            <a:srgbClr val="3B9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 rot="2700000">
            <a:off x="7882128" y="1188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AMANHÃ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9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 POR HOJE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Terça, 19h30.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Mesmo lugar.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3520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BAA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no grupo do WhatsApp — é lá que eu mando o repositório, a base de dados e respondo dúvida.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66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JORNADA DE DADOS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Imersão Agosto — Aula 01</dc:title>
  <dc:subject>PptxGenJS Presentation</dc:subject>
  <dc:creator>Jornada de Dados</dc:creator>
  <cp:lastModifiedBy>Jornada de Dados</cp:lastModifiedBy>
  <cp:revision>1</cp:revision>
  <dcterms:created xsi:type="dcterms:W3CDTF">2026-08-24T15:09:45Z</dcterms:created>
  <dcterms:modified xsi:type="dcterms:W3CDTF">2026-08-24T15:09:45Z</dcterms:modified>
</cp:coreProperties>
</file>